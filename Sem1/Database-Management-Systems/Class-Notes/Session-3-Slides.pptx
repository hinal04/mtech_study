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484100" cy="7023100"/>
  <p:notesSz cx="12484100" cy="7023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479273" cy="701954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1688"/>
            <a:ext cx="12480036" cy="265785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4382515"/>
            <a:ext cx="12479655" cy="2637790"/>
          </a:xfrm>
          <a:custGeom>
            <a:avLst/>
            <a:gdLst/>
            <a:ahLst/>
            <a:cxnLst/>
            <a:rect l="l" t="t" r="r" b="b"/>
            <a:pathLst>
              <a:path w="12479655" h="2637790">
                <a:moveTo>
                  <a:pt x="12479274" y="0"/>
                </a:moveTo>
                <a:lnTo>
                  <a:pt x="0" y="0"/>
                </a:lnTo>
                <a:lnTo>
                  <a:pt x="0" y="2637409"/>
                </a:lnTo>
                <a:lnTo>
                  <a:pt x="12479274" y="2637409"/>
                </a:lnTo>
                <a:lnTo>
                  <a:pt x="12479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4382515"/>
            <a:ext cx="12479655" cy="2637790"/>
          </a:xfrm>
          <a:custGeom>
            <a:avLst/>
            <a:gdLst/>
            <a:ahLst/>
            <a:cxnLst/>
            <a:rect l="l" t="t" r="r" b="b"/>
            <a:pathLst>
              <a:path w="12479655" h="2637790">
                <a:moveTo>
                  <a:pt x="0" y="2637409"/>
                </a:moveTo>
                <a:lnTo>
                  <a:pt x="12479274" y="2637409"/>
                </a:lnTo>
                <a:lnTo>
                  <a:pt x="12479274" y="0"/>
                </a:lnTo>
                <a:lnTo>
                  <a:pt x="0" y="0"/>
                </a:lnTo>
                <a:lnTo>
                  <a:pt x="0" y="2637409"/>
                </a:lnTo>
                <a:close/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7480" y="37"/>
            <a:ext cx="2994152" cy="70849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3934459" y="6935425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6935425"/>
            <a:ext cx="3934460" cy="78105"/>
          </a:xfrm>
          <a:custGeom>
            <a:avLst/>
            <a:gdLst/>
            <a:ahLst/>
            <a:cxnLst/>
            <a:rect l="l" t="t" r="r" b="b"/>
            <a:pathLst>
              <a:path w="3934460" h="78104">
                <a:moveTo>
                  <a:pt x="3934400" y="0"/>
                </a:moveTo>
                <a:lnTo>
                  <a:pt x="0" y="0"/>
                </a:lnTo>
                <a:lnTo>
                  <a:pt x="0" y="77999"/>
                </a:lnTo>
                <a:lnTo>
                  <a:pt x="3934400" y="77999"/>
                </a:lnTo>
                <a:lnTo>
                  <a:pt x="39344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886192" y="6935425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40239" y="802639"/>
            <a:ext cx="1675765" cy="46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49072" y="4698567"/>
            <a:ext cx="7835265" cy="1169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24205" y="1615313"/>
            <a:ext cx="5430583" cy="4635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429311" y="1615313"/>
            <a:ext cx="5430583" cy="4635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479273" cy="701954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431958"/>
            <a:ext cx="11855450" cy="2807970"/>
          </a:xfrm>
          <a:custGeom>
            <a:avLst/>
            <a:gdLst/>
            <a:ahLst/>
            <a:cxnLst/>
            <a:rect l="l" t="t" r="r" b="b"/>
            <a:pathLst>
              <a:path w="11855450" h="2807970">
                <a:moveTo>
                  <a:pt x="11855323" y="0"/>
                </a:moveTo>
                <a:lnTo>
                  <a:pt x="0" y="0"/>
                </a:lnTo>
                <a:lnTo>
                  <a:pt x="0" y="2807969"/>
                </a:lnTo>
                <a:lnTo>
                  <a:pt x="11855323" y="2807969"/>
                </a:lnTo>
                <a:lnTo>
                  <a:pt x="11855323" y="0"/>
                </a:lnTo>
                <a:close/>
              </a:path>
            </a:pathLst>
          </a:custGeom>
          <a:solidFill>
            <a:srgbClr val="0F1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951732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903591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1" y="0"/>
                </a:moveTo>
                <a:lnTo>
                  <a:pt x="0" y="0"/>
                </a:lnTo>
                <a:lnTo>
                  <a:pt x="0" y="77999"/>
                </a:lnTo>
                <a:lnTo>
                  <a:pt x="3951731" y="77999"/>
                </a:lnTo>
                <a:lnTo>
                  <a:pt x="39517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95" y="3431920"/>
            <a:ext cx="2807843" cy="20264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23768" y="132599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10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" y="1325997"/>
            <a:ext cx="3223895" cy="47625"/>
          </a:xfrm>
          <a:custGeom>
            <a:avLst/>
            <a:gdLst/>
            <a:ahLst/>
            <a:cxnLst/>
            <a:rect l="l" t="t" r="r" b="b"/>
            <a:pathLst>
              <a:path w="3223895" h="47625">
                <a:moveTo>
                  <a:pt x="3223768" y="0"/>
                </a:moveTo>
                <a:lnTo>
                  <a:pt x="0" y="0"/>
                </a:lnTo>
                <a:lnTo>
                  <a:pt x="0" y="47125"/>
                </a:lnTo>
                <a:lnTo>
                  <a:pt x="3223768" y="47125"/>
                </a:lnTo>
                <a:lnTo>
                  <a:pt x="3223768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389115" y="132599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1" y="0"/>
                </a:moveTo>
                <a:lnTo>
                  <a:pt x="0" y="0"/>
                </a:lnTo>
                <a:lnTo>
                  <a:pt x="0" y="47125"/>
                </a:lnTo>
                <a:lnTo>
                  <a:pt x="3178301" y="47125"/>
                </a:lnTo>
                <a:lnTo>
                  <a:pt x="317830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135623" y="670792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911855" y="6707927"/>
            <a:ext cx="3223895" cy="47625"/>
          </a:xfrm>
          <a:custGeom>
            <a:avLst/>
            <a:gdLst/>
            <a:ahLst/>
            <a:cxnLst/>
            <a:rect l="l" t="t" r="r" b="b"/>
            <a:pathLst>
              <a:path w="3223895" h="47625">
                <a:moveTo>
                  <a:pt x="3223768" y="0"/>
                </a:moveTo>
                <a:lnTo>
                  <a:pt x="0" y="0"/>
                </a:lnTo>
                <a:lnTo>
                  <a:pt x="0" y="47125"/>
                </a:lnTo>
                <a:lnTo>
                  <a:pt x="3223768" y="47125"/>
                </a:lnTo>
                <a:lnTo>
                  <a:pt x="3223768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00971" y="670792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47480" y="37"/>
            <a:ext cx="2994152" cy="70849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561" y="151637"/>
            <a:ext cx="8353425" cy="1031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3131" y="1566798"/>
            <a:ext cx="11018520" cy="4204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904226" y="6794877"/>
            <a:ext cx="4478020" cy="182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24205" y="6531483"/>
            <a:ext cx="2871343" cy="351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988552" y="6531483"/>
            <a:ext cx="2871343" cy="351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edium.com/%40matheesha27/transaction-states-acid-properties-in-a-dbms-94197273a14a" TargetMode="Externa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08217" y="4233493"/>
            <a:ext cx="579056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4400" spc="-180" b="1">
                <a:solidFill>
                  <a:srgbClr val="FFFFFF"/>
                </a:solidFill>
                <a:latin typeface="Times New Roman"/>
                <a:cs typeface="Times New Roman"/>
              </a:rPr>
              <a:t>Modern</a:t>
            </a:r>
            <a:r>
              <a:rPr dirty="0" sz="4400" spc="-3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spc="-185" b="1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r>
              <a:rPr dirty="0" sz="4400" spc="-3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spc="-155" b="1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88263" y="5405424"/>
            <a:ext cx="1663064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900" spc="-140" b="1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2900" spc="-2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8872" y="5536488"/>
            <a:ext cx="1835150" cy="508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1895"/>
              </a:lnSpc>
              <a:spcBef>
                <a:spcPts val="105"/>
              </a:spcBef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Prof.</a:t>
            </a:r>
            <a:r>
              <a:rPr dirty="0" sz="175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Ashish</a:t>
            </a:r>
            <a:r>
              <a:rPr dirty="0" sz="175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Narang</a:t>
            </a:r>
            <a:endParaRPr sz="1750">
              <a:latin typeface="Times New Roman"/>
              <a:cs typeface="Times New Roman"/>
            </a:endParaRPr>
          </a:p>
          <a:p>
            <a:pPr algn="r" marR="5080">
              <a:lnSpc>
                <a:spcPts val="1895"/>
              </a:lnSpc>
            </a:pP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CSIS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14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2900" spc="-2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14" b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93345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735"/>
              </a:spcBef>
            </a:pP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&lt;SSZG507,</a:t>
            </a:r>
            <a:r>
              <a:rPr dirty="0" sz="4000" spc="-31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Modern</a:t>
            </a:r>
            <a:r>
              <a:rPr dirty="0" sz="4000" spc="-32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Database</a:t>
            </a:r>
            <a:r>
              <a:rPr dirty="0" sz="4000" spc="-30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140" b="1">
                <a:solidFill>
                  <a:srgbClr val="C0504D"/>
                </a:solidFill>
                <a:latin typeface="Times New Roman"/>
                <a:cs typeface="Times New Roman"/>
              </a:rPr>
              <a:t>Systems&gt; </a:t>
            </a:r>
            <a:r>
              <a:rPr dirty="0" sz="4000" spc="-200" b="1">
                <a:solidFill>
                  <a:srgbClr val="C0504D"/>
                </a:solidFill>
                <a:latin typeface="Times New Roman"/>
                <a:cs typeface="Times New Roman"/>
              </a:rPr>
              <a:t>Lecture</a:t>
            </a:r>
            <a:r>
              <a:rPr dirty="0" sz="4000" spc="-34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165" b="1">
                <a:solidFill>
                  <a:srgbClr val="C0504D"/>
                </a:solidFill>
                <a:latin typeface="Times New Roman"/>
                <a:cs typeface="Times New Roman"/>
              </a:rPr>
              <a:t>No.</a:t>
            </a:r>
            <a:r>
              <a:rPr dirty="0" sz="4000" spc="-33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50" b="1">
                <a:solidFill>
                  <a:srgbClr val="C0504D"/>
                </a:solidFill>
                <a:latin typeface="Times New Roman"/>
                <a:cs typeface="Times New Roman"/>
              </a:rPr>
              <a:t>3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164083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>
                <a:solidFill>
                  <a:srgbClr val="C0504D"/>
                </a:solidFill>
              </a:rPr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809" y="1375917"/>
            <a:ext cx="5852160" cy="496443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Need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Centralized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Architecture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Types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Challenges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Partitioning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Fragmentation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Allocation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0">
                <a:latin typeface="Times New Roman"/>
                <a:cs typeface="Times New Roman"/>
              </a:rPr>
              <a:t> Replication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Comparison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Replication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Strategies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Need</a:t>
            </a:r>
            <a:r>
              <a:rPr dirty="0" spc="-260"/>
              <a:t> </a:t>
            </a:r>
            <a:r>
              <a:rPr dirty="0" spc="-120"/>
              <a:t>for</a:t>
            </a:r>
            <a:r>
              <a:rPr dirty="0" spc="-240"/>
              <a:t> </a:t>
            </a:r>
            <a:r>
              <a:rPr dirty="0" spc="-155"/>
              <a:t>Distributed</a:t>
            </a:r>
            <a:r>
              <a:rPr dirty="0" spc="-204"/>
              <a:t> </a:t>
            </a:r>
            <a:r>
              <a:rPr dirty="0" spc="-120"/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169" y="1238859"/>
            <a:ext cx="10770235" cy="55130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Modern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multiple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geographical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locations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computing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sites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5600" marR="149860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distributed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computing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system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consists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interconnected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nodes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cooperate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perform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tasks.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Instead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keeping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single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location,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computation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 </a:t>
            </a:r>
            <a:r>
              <a:rPr dirty="0" sz="2000" spc="-10">
                <a:latin typeface="Times New Roman"/>
                <a:cs typeface="Times New Roman"/>
              </a:rPr>
              <a:t>distributed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nodes.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Distributed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management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provide:</a:t>
            </a:r>
            <a:endParaRPr sz="2000">
              <a:latin typeface="Times New Roman"/>
              <a:cs typeface="Times New Roman"/>
            </a:endParaRPr>
          </a:p>
          <a:p>
            <a:pPr lvl="1" marL="1182370" indent="-36385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182370" algn="l"/>
              </a:tabLst>
            </a:pPr>
            <a:r>
              <a:rPr dirty="0" sz="2000" b="1">
                <a:latin typeface="Times New Roman"/>
                <a:cs typeface="Times New Roman"/>
              </a:rPr>
              <a:t>Improved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availability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reliability</a:t>
            </a:r>
            <a:endParaRPr sz="2000">
              <a:latin typeface="Times New Roman"/>
              <a:cs typeface="Times New Roman"/>
            </a:endParaRPr>
          </a:p>
          <a:p>
            <a:pPr lvl="1" marL="1182370" indent="-36385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182370" algn="l"/>
              </a:tabLst>
            </a:pPr>
            <a:r>
              <a:rPr dirty="0" sz="2000" b="1">
                <a:latin typeface="Times New Roman"/>
                <a:cs typeface="Times New Roman"/>
              </a:rPr>
              <a:t>Better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performance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through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10" b="1">
                <a:latin typeface="Times New Roman"/>
                <a:cs typeface="Times New Roman"/>
              </a:rPr>
              <a:t> localization</a:t>
            </a:r>
            <a:endParaRPr sz="2000">
              <a:latin typeface="Times New Roman"/>
              <a:cs typeface="Times New Roman"/>
            </a:endParaRPr>
          </a:p>
          <a:p>
            <a:pPr lvl="1" marL="1182370" indent="-36385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182370" algn="l"/>
              </a:tabLst>
            </a:pPr>
            <a:r>
              <a:rPr dirty="0" sz="2000" b="1">
                <a:latin typeface="Times New Roman"/>
                <a:cs typeface="Times New Roman"/>
              </a:rPr>
              <a:t>Support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geographically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distributed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 lvl="1" marL="1182370" indent="-36385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1182370" algn="l"/>
              </a:tabLst>
            </a:pPr>
            <a:r>
              <a:rPr dirty="0" sz="2000" b="1">
                <a:latin typeface="Times New Roman"/>
                <a:cs typeface="Times New Roman"/>
              </a:rPr>
              <a:t>Easier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expansion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scalability</a:t>
            </a:r>
            <a:endParaRPr sz="2000">
              <a:latin typeface="Times New Roman"/>
              <a:cs typeface="Times New Roman"/>
            </a:endParaRPr>
          </a:p>
          <a:p>
            <a:pPr marL="12700" marR="187325">
              <a:lnSpc>
                <a:spcPct val="15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These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requirements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motivate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move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centralized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database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system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Distributed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Database </a:t>
            </a:r>
            <a:r>
              <a:rPr dirty="0" sz="2000" b="1">
                <a:latin typeface="Times New Roman"/>
                <a:cs typeface="Times New Roman"/>
              </a:rPr>
              <a:t>System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(DDBS)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What</a:t>
            </a:r>
            <a:r>
              <a:rPr dirty="0" spc="-265"/>
              <a:t> </a:t>
            </a:r>
            <a:r>
              <a:rPr dirty="0" spc="-90"/>
              <a:t>is</a:t>
            </a:r>
            <a:r>
              <a:rPr dirty="0" spc="-254"/>
              <a:t> </a:t>
            </a:r>
            <a:r>
              <a:rPr dirty="0"/>
              <a:t>a</a:t>
            </a:r>
            <a:r>
              <a:rPr dirty="0" spc="-275"/>
              <a:t> </a:t>
            </a:r>
            <a:r>
              <a:rPr dirty="0" spc="-155"/>
              <a:t>Distributed</a:t>
            </a:r>
            <a:r>
              <a:rPr dirty="0" spc="-225"/>
              <a:t> </a:t>
            </a:r>
            <a:r>
              <a:rPr dirty="0" spc="-125"/>
              <a:t>Database?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51561" y="1385442"/>
            <a:ext cx="11612245" cy="455866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 b="1">
                <a:latin typeface="Times New Roman"/>
                <a:cs typeface="Times New Roman"/>
              </a:rPr>
              <a:t>Distributed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Database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(DDB)</a:t>
            </a:r>
            <a:endParaRPr sz="2400">
              <a:latin typeface="Times New Roman"/>
              <a:cs typeface="Times New Roman"/>
            </a:endParaRPr>
          </a:p>
          <a:p>
            <a:pPr marL="730250" marR="233045" indent="-36449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collection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multiple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logically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interrelated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databases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over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computer network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30250" indent="-36449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 be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physically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different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sites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nodes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but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logically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related.</a:t>
            </a:r>
            <a:endParaRPr sz="2400">
              <a:latin typeface="Times New Roman"/>
              <a:cs typeface="Times New Roman"/>
            </a:endParaRPr>
          </a:p>
          <a:p>
            <a:pPr marL="730250" indent="-36449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site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perform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local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processing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 also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participate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global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transactions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586740" indent="717550">
              <a:lnSpc>
                <a:spcPct val="117100"/>
              </a:lnSpc>
              <a:spcBef>
                <a:spcPts val="10"/>
              </a:spcBef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users,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ideally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appear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single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integrated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database</a:t>
            </a:r>
            <a:r>
              <a:rPr dirty="0" sz="2400" spc="-10">
                <a:latin typeface="Times New Roman"/>
                <a:cs typeface="Times New Roman"/>
              </a:rPr>
              <a:t>. </a:t>
            </a:r>
            <a:r>
              <a:rPr dirty="0" sz="2400" b="1">
                <a:latin typeface="Times New Roman"/>
                <a:cs typeface="Times New Roman"/>
              </a:rPr>
              <a:t>Distributed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Database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Management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System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(DDBMS)</a:t>
            </a:r>
            <a:endParaRPr sz="2400">
              <a:latin typeface="Times New Roman"/>
              <a:cs typeface="Times New Roman"/>
            </a:endParaRPr>
          </a:p>
          <a:p>
            <a:pPr marL="730250" marR="340360" indent="-36449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distributed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coordinates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across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different sites.</a:t>
            </a:r>
            <a:endParaRPr sz="2400">
              <a:latin typeface="Times New Roman"/>
              <a:cs typeface="Times New Roman"/>
            </a:endParaRPr>
          </a:p>
          <a:p>
            <a:pPr marL="730250" marR="83185" indent="-36449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730250" algn="l"/>
              </a:tabLst>
            </a:pP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mechanisms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access,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communication,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transaction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management,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and </a:t>
            </a:r>
            <a:r>
              <a:rPr dirty="0" sz="2400" b="1">
                <a:latin typeface="Times New Roman"/>
                <a:cs typeface="Times New Roman"/>
              </a:rPr>
              <a:t>coordination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among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participating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sites.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355600" marR="5080" indent="-342900">
              <a:lnSpc>
                <a:spcPts val="3600"/>
              </a:lnSpc>
              <a:spcBef>
                <a:spcPts val="819"/>
              </a:spcBef>
            </a:pPr>
            <a:r>
              <a:rPr dirty="0" spc="-160"/>
              <a:t>Characteristics</a:t>
            </a:r>
            <a:r>
              <a:rPr dirty="0" spc="-210"/>
              <a:t> </a:t>
            </a:r>
            <a:r>
              <a:rPr dirty="0" spc="-90"/>
              <a:t>of</a:t>
            </a:r>
            <a:r>
              <a:rPr dirty="0" spc="-250"/>
              <a:t> </a:t>
            </a:r>
            <a:r>
              <a:rPr dirty="0"/>
              <a:t>a</a:t>
            </a:r>
            <a:r>
              <a:rPr dirty="0" spc="-260"/>
              <a:t> </a:t>
            </a:r>
            <a:r>
              <a:rPr dirty="0" spc="-155"/>
              <a:t>Distributed</a:t>
            </a:r>
            <a:r>
              <a:rPr dirty="0" spc="-215"/>
              <a:t> </a:t>
            </a:r>
            <a:r>
              <a:rPr dirty="0" spc="-114"/>
              <a:t>Database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702434"/>
            <a:ext cx="10680065" cy="4719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Distributed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typically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following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characteristics: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2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Distribution</a:t>
            </a:r>
            <a:r>
              <a:rPr dirty="0" sz="2200" spc="28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2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2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physically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stored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across</a:t>
            </a:r>
            <a:r>
              <a:rPr dirty="0" sz="2200" spc="2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multiple</a:t>
            </a:r>
            <a:r>
              <a:rPr dirty="0" sz="2200" spc="2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sites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connected</a:t>
            </a:r>
            <a:r>
              <a:rPr dirty="0" sz="2200" spc="2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through</a:t>
            </a:r>
            <a:r>
              <a:rPr dirty="0" sz="2200" spc="295">
                <a:latin typeface="Times New Roman"/>
                <a:cs typeface="Times New Roman"/>
              </a:rPr>
              <a:t> </a:t>
            </a:r>
            <a:r>
              <a:rPr dirty="0" sz="2200" spc="-5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network.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Logical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Integration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Distributed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forms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logically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related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integrated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database.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Local</a:t>
            </a:r>
            <a:r>
              <a:rPr dirty="0" sz="2200" spc="4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Autonomy</a:t>
            </a:r>
            <a:r>
              <a:rPr dirty="0" sz="2200" spc="484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Individual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sites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may</a:t>
            </a:r>
            <a:r>
              <a:rPr dirty="0" sz="2200" spc="5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have</a:t>
            </a:r>
            <a:r>
              <a:rPr dirty="0" sz="2200" spc="48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some</a:t>
            </a:r>
            <a:r>
              <a:rPr dirty="0" sz="2200" spc="48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control</a:t>
            </a:r>
            <a:r>
              <a:rPr dirty="0" sz="2200" spc="4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over</a:t>
            </a:r>
            <a:r>
              <a:rPr dirty="0" sz="2200" spc="4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their</a:t>
            </a:r>
            <a:r>
              <a:rPr dirty="0" sz="2200" spc="5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local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49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operations.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1643380" algn="l"/>
                <a:tab pos="3821429" algn="l"/>
                <a:tab pos="4210050" algn="l"/>
                <a:tab pos="5001260" algn="l"/>
                <a:tab pos="6753859" algn="l"/>
                <a:tab pos="7406005" algn="l"/>
                <a:tab pos="8709660" algn="l"/>
                <a:tab pos="9422765" algn="l"/>
                <a:tab pos="1054290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Network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10" b="1">
                <a:latin typeface="Times New Roman"/>
                <a:cs typeface="Times New Roman"/>
              </a:rPr>
              <a:t>Communication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–	</a:t>
            </a:r>
            <a:r>
              <a:rPr dirty="0" sz="2200" spc="-10">
                <a:latin typeface="Times New Roman"/>
                <a:cs typeface="Times New Roman"/>
              </a:rPr>
              <a:t>Sites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communicate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exchange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data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through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50">
                <a:latin typeface="Times New Roman"/>
                <a:cs typeface="Times New Roman"/>
              </a:rPr>
              <a:t>a </a:t>
            </a:r>
            <a:r>
              <a:rPr dirty="0" sz="2200">
                <a:latin typeface="Times New Roman"/>
                <a:cs typeface="Times New Roman"/>
              </a:rPr>
              <a:t>communication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network.</a:t>
            </a:r>
            <a:endParaRPr sz="220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200" b="1">
                <a:latin typeface="Times New Roman"/>
                <a:cs typeface="Times New Roman"/>
              </a:rPr>
              <a:t>Distributed</a:t>
            </a:r>
            <a:r>
              <a:rPr dirty="0" sz="2200" spc="3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Processing</a:t>
            </a:r>
            <a:r>
              <a:rPr dirty="0" sz="2200" spc="34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Queries</a:t>
            </a:r>
            <a:r>
              <a:rPr dirty="0" sz="2200" spc="3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transactions</a:t>
            </a:r>
            <a:r>
              <a:rPr dirty="0" sz="2200" spc="3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may</a:t>
            </a:r>
            <a:r>
              <a:rPr dirty="0" sz="2200" spc="3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involve</a:t>
            </a:r>
            <a:r>
              <a:rPr dirty="0" sz="2200" spc="3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3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stored</a:t>
            </a:r>
            <a:r>
              <a:rPr dirty="0" sz="2200" spc="3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at</a:t>
            </a:r>
            <a:r>
              <a:rPr dirty="0" sz="2200" spc="3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multiple sites.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Distribution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Transparency</a:t>
            </a:r>
            <a:r>
              <a:rPr dirty="0" sz="2200" spc="-1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Users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should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ideally access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without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needing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know</a:t>
            </a:r>
            <a:r>
              <a:rPr dirty="0" sz="2200" spc="-25">
                <a:latin typeface="Times New Roman"/>
                <a:cs typeface="Times New Roman"/>
              </a:rPr>
              <a:t> its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physical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location.</a:t>
            </a:r>
            <a:endParaRPr sz="2200">
              <a:latin typeface="Times New Roman"/>
              <a:cs typeface="Times New Roman"/>
            </a:endParaRPr>
          </a:p>
          <a:p>
            <a:pPr marL="355600" marR="635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200" b="1">
                <a:latin typeface="Times New Roman"/>
                <a:cs typeface="Times New Roman"/>
              </a:rPr>
              <a:t>Reliability</a:t>
            </a:r>
            <a:r>
              <a:rPr dirty="0" sz="2200" spc="1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&amp;</a:t>
            </a:r>
            <a:r>
              <a:rPr dirty="0" sz="2200" spc="1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Availability</a:t>
            </a:r>
            <a:r>
              <a:rPr dirty="0" sz="2200" spc="16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–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Distribution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allow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continued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operation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even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when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some </a:t>
            </a:r>
            <a:r>
              <a:rPr dirty="0" sz="2200">
                <a:latin typeface="Times New Roman"/>
                <a:cs typeface="Times New Roman"/>
              </a:rPr>
              <a:t>sites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communication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links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fail.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Advantages</a:t>
            </a:r>
            <a:r>
              <a:rPr dirty="0" spc="-200"/>
              <a:t> </a:t>
            </a:r>
            <a:r>
              <a:rPr dirty="0" spc="-90"/>
              <a:t>of</a:t>
            </a:r>
            <a:r>
              <a:rPr dirty="0" spc="-250"/>
              <a:t> </a:t>
            </a:r>
            <a:r>
              <a:rPr dirty="0" spc="-155"/>
              <a:t>Distributed</a:t>
            </a:r>
            <a:r>
              <a:rPr dirty="0" spc="-185"/>
              <a:t> </a:t>
            </a:r>
            <a:r>
              <a:rPr dirty="0" spc="-120"/>
              <a:t>Databases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436369"/>
            <a:ext cx="11163300" cy="5390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Distributed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offer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several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advantages: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Improved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Reliability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Availability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Failure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site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does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necessarily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make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entire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inaccessible.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Improved</a:t>
            </a:r>
            <a:r>
              <a:rPr dirty="0" sz="2200" spc="-11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Performance</a:t>
            </a:r>
            <a:endParaRPr sz="2200">
              <a:latin typeface="Times New Roman"/>
              <a:cs typeface="Times New Roman"/>
            </a:endParaRPr>
          </a:p>
          <a:p>
            <a:pPr marL="355600" marR="22479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close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where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most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frequently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used,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reducing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communication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>
                <a:latin typeface="Times New Roman"/>
                <a:cs typeface="Times New Roman"/>
              </a:rPr>
              <a:t>access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Local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Control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Individual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sites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retain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degree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control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over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their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locally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Modular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Growth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New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sites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computing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resources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added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organizational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requirements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grow.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Reduced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Communication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Overhead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Frequently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accessed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processed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locally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instead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repeatedly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accessing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remote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central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database.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Support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Distributed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Organizations</a:t>
            </a:r>
            <a:endParaRPr sz="2200">
              <a:latin typeface="Times New Roman"/>
              <a:cs typeface="Times New Roman"/>
            </a:endParaRPr>
          </a:p>
          <a:p>
            <a:pPr marL="355600" marR="508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structure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naturally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reflect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organizations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operating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across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multiple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geographical locations.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Centralized</a:t>
            </a:r>
            <a:r>
              <a:rPr dirty="0" spc="-204"/>
              <a:t> </a:t>
            </a:r>
            <a:r>
              <a:rPr dirty="0" spc="-85"/>
              <a:t>vs</a:t>
            </a:r>
            <a:r>
              <a:rPr dirty="0" spc="-250"/>
              <a:t> </a:t>
            </a:r>
            <a:r>
              <a:rPr dirty="0" spc="-155"/>
              <a:t>Distributed</a:t>
            </a:r>
            <a:r>
              <a:rPr dirty="0" spc="-190"/>
              <a:t> </a:t>
            </a:r>
            <a:r>
              <a:rPr dirty="0" spc="-145"/>
              <a:t>Database</a:t>
            </a:r>
            <a:r>
              <a:rPr dirty="0" spc="-220"/>
              <a:t> </a:t>
            </a:r>
            <a:r>
              <a:rPr dirty="0" spc="-95"/>
              <a:t>Systems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36105" y="1650872"/>
          <a:ext cx="11602720" cy="4042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7880"/>
                <a:gridCol w="5615939"/>
              </a:tblGrid>
              <a:tr h="522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Centralized</a:t>
                      </a:r>
                      <a:r>
                        <a:rPr dirty="0" sz="2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24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Distributed</a:t>
                      </a:r>
                      <a:r>
                        <a:rPr dirty="0" sz="2400" spc="-8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24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primarily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dirty="0" sz="20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site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20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sites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Centralized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control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20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occur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sites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Simpler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administration</a:t>
                      </a:r>
                      <a:r>
                        <a:rPr dirty="0" sz="20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coordination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coordination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among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distributed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sites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site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become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dirty="0" sz="20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point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failure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Failure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site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allow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sites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continue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Scaling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increasing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resources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Supports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growth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adding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sites/resources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02005">
                <a:tc>
                  <a:txBody>
                    <a:bodyPr/>
                    <a:lstStyle/>
                    <a:p>
                      <a:pPr marL="91440" marR="63563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Remote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depend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heavily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site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be located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closer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users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06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distribution-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complexity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consistency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complexity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Distributed</a:t>
            </a:r>
            <a:r>
              <a:rPr dirty="0" spc="-165"/>
              <a:t> </a:t>
            </a:r>
            <a:r>
              <a:rPr dirty="0" spc="-145"/>
              <a:t>Database</a:t>
            </a:r>
            <a:r>
              <a:rPr dirty="0" spc="-195"/>
              <a:t> </a:t>
            </a:r>
            <a:r>
              <a:rPr dirty="0" spc="-165"/>
              <a:t>Architecture:</a:t>
            </a:r>
            <a:r>
              <a:rPr dirty="0" spc="-160"/>
              <a:t> </a:t>
            </a:r>
            <a:r>
              <a:rPr dirty="0" spc="-140"/>
              <a:t>Basic</a:t>
            </a:r>
            <a:r>
              <a:rPr dirty="0" spc="-204"/>
              <a:t> </a:t>
            </a:r>
            <a:r>
              <a:rPr dirty="0" spc="-30"/>
              <a:t>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423771"/>
            <a:ext cx="6382385" cy="505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437515" algn="l"/>
                <a:tab pos="1818005" algn="l"/>
                <a:tab pos="2987675" algn="l"/>
                <a:tab pos="3973195" algn="l"/>
                <a:tab pos="5015865" algn="l"/>
                <a:tab pos="5467350" algn="l"/>
              </a:tabLst>
            </a:pPr>
            <a:r>
              <a:rPr dirty="0" sz="2000" spc="-50">
                <a:latin typeface="Times New Roman"/>
                <a:cs typeface="Times New Roman"/>
              </a:rPr>
              <a:t>A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Distributed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Database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System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consists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of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Times New Roman"/>
                <a:cs typeface="Times New Roman"/>
              </a:rPr>
              <a:t>multiple </a:t>
            </a:r>
            <a:r>
              <a:rPr dirty="0" sz="2000" b="1">
                <a:latin typeface="Times New Roman"/>
                <a:cs typeface="Times New Roman"/>
              </a:rPr>
              <a:t>interconnected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sites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-10">
                <a:latin typeface="Times New Roman"/>
                <a:cs typeface="Times New Roman"/>
              </a:rPr>
              <a:t> contain: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Local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Database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assigned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Local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DBMS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local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transactions.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buFont typeface="Arial"/>
              <a:buChar char="•"/>
              <a:tabLst>
                <a:tab pos="355600" algn="l"/>
                <a:tab pos="2345690" algn="l"/>
                <a:tab pos="3533140" algn="l"/>
                <a:tab pos="3902075" algn="l"/>
                <a:tab pos="508762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Communication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spc="-10" b="1">
                <a:latin typeface="Times New Roman"/>
                <a:cs typeface="Times New Roman"/>
              </a:rPr>
              <a:t>Network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–	</a:t>
            </a:r>
            <a:r>
              <a:rPr dirty="0" sz="2000" spc="-10">
                <a:latin typeface="Times New Roman"/>
                <a:cs typeface="Times New Roman"/>
              </a:rPr>
              <a:t>Connects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participating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sites.</a:t>
            </a:r>
            <a:endParaRPr sz="2000">
              <a:latin typeface="Times New Roman"/>
              <a:cs typeface="Times New Roman"/>
            </a:endParaRPr>
          </a:p>
          <a:p>
            <a:pPr marL="355600" marR="8890" indent="-342900">
              <a:lnSpc>
                <a:spcPct val="15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Distributed</a:t>
            </a:r>
            <a:r>
              <a:rPr dirty="0" sz="2000" spc="30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DBMS</a:t>
            </a:r>
            <a:r>
              <a:rPr dirty="0" sz="2000" spc="60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Functions</a:t>
            </a:r>
            <a:r>
              <a:rPr dirty="0" sz="2000" spc="50" b="1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5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Coordinate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50">
                <a:latin typeface="Times New Roman"/>
                <a:cs typeface="Times New Roman"/>
              </a:rPr>
              <a:t> 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Local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Transactions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Global</a:t>
            </a:r>
            <a:r>
              <a:rPr dirty="0" sz="2000" spc="3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Transactions</a:t>
            </a:r>
            <a:r>
              <a:rPr dirty="0" sz="2000" spc="29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than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3189" y="1589125"/>
            <a:ext cx="4709414" cy="44085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Types</a:t>
            </a:r>
            <a:r>
              <a:rPr dirty="0" spc="-235"/>
              <a:t> </a:t>
            </a:r>
            <a:r>
              <a:rPr dirty="0" spc="-90"/>
              <a:t>of</a:t>
            </a:r>
            <a:r>
              <a:rPr dirty="0" spc="-265"/>
              <a:t> </a:t>
            </a:r>
            <a:r>
              <a:rPr dirty="0" spc="-155"/>
              <a:t>Distributed</a:t>
            </a:r>
            <a:r>
              <a:rPr dirty="0" spc="-195"/>
              <a:t> </a:t>
            </a:r>
            <a:r>
              <a:rPr dirty="0" spc="-145"/>
              <a:t>Database</a:t>
            </a:r>
            <a:r>
              <a:rPr dirty="0" spc="-229"/>
              <a:t> </a:t>
            </a:r>
            <a:r>
              <a:rPr dirty="0" spc="-11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467" y="1482597"/>
            <a:ext cx="6581775" cy="469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843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Distributed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database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classified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similarity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DBMSs,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models,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degree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site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autonomy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800" b="1">
                <a:latin typeface="Times New Roman"/>
                <a:cs typeface="Times New Roman"/>
              </a:rPr>
              <a:t>Homogeneous</a:t>
            </a:r>
            <a:r>
              <a:rPr dirty="0" sz="1800" spc="-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Distributed</a:t>
            </a:r>
            <a:r>
              <a:rPr dirty="0" sz="1800" spc="-8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DBMS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All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sites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same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DBMS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software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Sites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typically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 </a:t>
            </a:r>
            <a:r>
              <a:rPr dirty="0" sz="1800" b="1">
                <a:latin typeface="Times New Roman"/>
                <a:cs typeface="Times New Roman"/>
              </a:rPr>
              <a:t>same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model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Integration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relatively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easier.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Appears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naturally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single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distributed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database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system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800" b="1">
                <a:latin typeface="Times New Roman"/>
                <a:cs typeface="Times New Roman"/>
              </a:rPr>
              <a:t>Heterogeneous</a:t>
            </a:r>
            <a:r>
              <a:rPr dirty="0" sz="1800" spc="-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Distributed</a:t>
            </a:r>
            <a:r>
              <a:rPr dirty="0" sz="1800" spc="-7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DBMS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Sites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different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DBMS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products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Different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sites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different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models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or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schemas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lvl="1" marL="553720" marR="1479550" indent="-18605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53720" algn="l"/>
              </a:tabLst>
            </a:pPr>
            <a:r>
              <a:rPr dirty="0" sz="1800">
                <a:latin typeface="Times New Roman"/>
                <a:cs typeface="Times New Roman"/>
              </a:rPr>
              <a:t>Requires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mechanisms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data-</a:t>
            </a:r>
            <a:r>
              <a:rPr dirty="0" sz="1800" b="1">
                <a:latin typeface="Times New Roman"/>
                <a:cs typeface="Times New Roman"/>
              </a:rPr>
              <a:t>model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query transformation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Integration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coordination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complex.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Multidatabase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Integrates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multiple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pre-</a:t>
            </a:r>
            <a:r>
              <a:rPr dirty="0" sz="1800" b="1">
                <a:latin typeface="Times New Roman"/>
                <a:cs typeface="Times New Roman"/>
              </a:rPr>
              <a:t>existing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autonomous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databases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Individual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databases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may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retain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significant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local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autonomy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lvl="1" marL="553085" indent="-185420">
              <a:lnSpc>
                <a:spcPct val="100000"/>
              </a:lnSpc>
              <a:buFont typeface="Arial"/>
              <a:buChar char="•"/>
              <a:tabLst>
                <a:tab pos="553085" algn="l"/>
              </a:tabLst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global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layer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access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across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participating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databases.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0620" y="1682165"/>
            <a:ext cx="5223129" cy="461048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78263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Challenges</a:t>
            </a:r>
            <a:r>
              <a:rPr dirty="0" spc="-190"/>
              <a:t> </a:t>
            </a:r>
            <a:r>
              <a:rPr dirty="0" spc="-90"/>
              <a:t>in</a:t>
            </a:r>
            <a:r>
              <a:rPr dirty="0" spc="-260"/>
              <a:t> </a:t>
            </a:r>
            <a:r>
              <a:rPr dirty="0" spc="-155"/>
              <a:t>Distributed</a:t>
            </a:r>
            <a:r>
              <a:rPr dirty="0" spc="-195"/>
              <a:t> </a:t>
            </a:r>
            <a:r>
              <a:rPr dirty="0" spc="-145"/>
              <a:t>Database</a:t>
            </a:r>
            <a:r>
              <a:rPr dirty="0" spc="-229"/>
              <a:t> </a:t>
            </a:r>
            <a:r>
              <a:rPr dirty="0" spc="-10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453362"/>
            <a:ext cx="11076940" cy="50558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Times New Roman"/>
                <a:cs typeface="Times New Roman"/>
              </a:rPr>
              <a:t>Distributing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introduces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several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challenges: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Network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Communication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control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messages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must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sites.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Site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Network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Failures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Individual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nodes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links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become</a:t>
            </a:r>
            <a:r>
              <a:rPr dirty="0" sz="2000" spc="-10">
                <a:latin typeface="Times New Roman"/>
                <a:cs typeface="Times New Roman"/>
              </a:rPr>
              <a:t> unavailable.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Consistency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copies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must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remain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appropriately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synchronized.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Distributed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Transaction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Management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Transactions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involving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coordination.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Concurrency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Control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Concurrent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operations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must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preserve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correctness.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Distributed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Query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Processing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increase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processing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cost.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Security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must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protected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locations.</a:t>
            </a:r>
            <a:endParaRPr sz="20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3600"/>
              </a:lnSpc>
              <a:spcBef>
                <a:spcPts val="12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System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Complexity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Administration,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monitoring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recovery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become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difficult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centralized systems.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250"/>
              <a:t> </a:t>
            </a:r>
            <a:r>
              <a:rPr dirty="0" spc="-155"/>
              <a:t>Partitioning</a:t>
            </a:r>
            <a:r>
              <a:rPr dirty="0" spc="-190"/>
              <a:t> </a:t>
            </a:r>
            <a:r>
              <a:rPr dirty="0" spc="-90"/>
              <a:t>in</a:t>
            </a:r>
            <a:r>
              <a:rPr dirty="0" spc="-254"/>
              <a:t> </a:t>
            </a:r>
            <a:r>
              <a:rPr dirty="0" spc="-155"/>
              <a:t>Distributed</a:t>
            </a:r>
            <a:r>
              <a:rPr dirty="0" spc="-190"/>
              <a:t> </a:t>
            </a:r>
            <a:r>
              <a:rPr dirty="0" spc="-110"/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873" y="1194917"/>
            <a:ext cx="10794365" cy="551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Partitioning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(Fragmentation)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divides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smaller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0">
                <a:latin typeface="Times New Roman"/>
                <a:cs typeface="Times New Roman"/>
              </a:rPr>
              <a:t> stored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Why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Partition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Data?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Place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closer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where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frequently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accessed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Reduce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unnecessary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communication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Enable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parallel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processing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locality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reference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Support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distribution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according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organizational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requirements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Main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Types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Fragmentation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Horizontal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Fragmentation: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Divides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subsets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rows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(tuples)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Vertical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Fragmentation: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Divides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subsets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columns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(attributes)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Mixed/Hybrid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Fragmentation: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Combines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horizontal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vertical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fragmentation.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Horizontal</a:t>
            </a:r>
            <a:r>
              <a:rPr dirty="0" spc="-160"/>
              <a:t> </a:t>
            </a:r>
            <a:r>
              <a:rPr dirty="0" spc="-14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136" y="1594484"/>
            <a:ext cx="649478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512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Horizontal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Fragmentation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divides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into </a:t>
            </a:r>
            <a:r>
              <a:rPr dirty="0" sz="2400">
                <a:latin typeface="Times New Roman"/>
                <a:cs typeface="Times New Roman"/>
              </a:rPr>
              <a:t>subsets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tuples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(rows)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selection conditions.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How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Does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Work?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fragment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contains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subset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rows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>
                <a:latin typeface="Times New Roman"/>
                <a:cs typeface="Times New Roman"/>
              </a:rPr>
              <a:t>original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Fragments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generally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retain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same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attributes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the original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relation.</a:t>
            </a:r>
            <a:endParaRPr sz="2400">
              <a:latin typeface="Times New Roman"/>
              <a:cs typeface="Times New Roman"/>
            </a:endParaRPr>
          </a:p>
          <a:p>
            <a:pPr marL="355600" marR="73787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Selection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conditions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determine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-10">
                <a:latin typeface="Times New Roman"/>
                <a:cs typeface="Times New Roman"/>
              </a:rPr>
              <a:t> tuples </a:t>
            </a:r>
            <a:r>
              <a:rPr dirty="0" sz="2400">
                <a:latin typeface="Times New Roman"/>
                <a:cs typeface="Times New Roman"/>
              </a:rPr>
              <a:t>belong 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 </a:t>
            </a:r>
            <a:r>
              <a:rPr dirty="0" sz="2400" spc="-10">
                <a:latin typeface="Times New Roman"/>
                <a:cs typeface="Times New Roman"/>
              </a:rPr>
              <a:t>fragment.</a:t>
            </a:r>
            <a:endParaRPr sz="2400">
              <a:latin typeface="Times New Roman"/>
              <a:cs typeface="Times New Roman"/>
            </a:endParaRPr>
          </a:p>
          <a:p>
            <a:pPr marL="355600" marR="160655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Different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fragments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allocated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different sites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56982" y="1677631"/>
            <a:ext cx="4620895" cy="1016000"/>
          </a:xfrm>
          <a:prstGeom prst="rect">
            <a:avLst/>
          </a:prstGeom>
          <a:ln w="12700">
            <a:solidFill>
              <a:srgbClr val="4F81BC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000" spc="-10">
                <a:latin typeface="Times New Roman"/>
                <a:cs typeface="Times New Roman"/>
              </a:rPr>
              <a:t>Consider:</a:t>
            </a:r>
            <a:endParaRPr sz="2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EMPLOYEE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(Emp_ID,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Name,</a:t>
            </a:r>
            <a:endParaRPr sz="2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Department,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Location,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Salary)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56982" y="3252977"/>
            <a:ext cx="4620895" cy="2308860"/>
          </a:xfrm>
          <a:prstGeom prst="rect">
            <a:avLst/>
          </a:prstGeom>
          <a:ln w="12700">
            <a:solidFill>
              <a:srgbClr val="4F81BC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2075" marR="444500">
              <a:lnSpc>
                <a:spcPct val="100000"/>
              </a:lnSpc>
              <a:spcBef>
                <a:spcPts val="305"/>
              </a:spcBef>
            </a:pPr>
            <a:r>
              <a:rPr dirty="0" sz="1800" b="1">
                <a:latin typeface="Times New Roman"/>
                <a:cs typeface="Times New Roman"/>
              </a:rPr>
              <a:t>Delhi </a:t>
            </a:r>
            <a:r>
              <a:rPr dirty="0" sz="1800" spc="-10" b="1">
                <a:latin typeface="Times New Roman"/>
                <a:cs typeface="Times New Roman"/>
              </a:rPr>
              <a:t>Fragment </a:t>
            </a:r>
            <a:r>
              <a:rPr dirty="0" sz="1800" spc="-10">
                <a:latin typeface="Times New Roman"/>
                <a:cs typeface="Times New Roman"/>
              </a:rPr>
              <a:t>EMPDelhi=σ</a:t>
            </a:r>
            <a:r>
              <a:rPr dirty="0" baseline="-20833" sz="1800" spc="-15">
                <a:latin typeface="Times New Roman"/>
                <a:cs typeface="Times New Roman"/>
              </a:rPr>
              <a:t>Location=′Delhi′</a:t>
            </a:r>
            <a:r>
              <a:rPr dirty="0" sz="1800" spc="-10">
                <a:latin typeface="Times New Roman"/>
                <a:cs typeface="Times New Roman"/>
              </a:rPr>
              <a:t>(EMPLOYEE) </a:t>
            </a:r>
            <a:r>
              <a:rPr dirty="0" sz="1800" b="1">
                <a:latin typeface="Times New Roman"/>
                <a:cs typeface="Times New Roman"/>
              </a:rPr>
              <a:t>Mumbai</a:t>
            </a:r>
            <a:r>
              <a:rPr dirty="0" sz="1800" spc="-10" b="1">
                <a:latin typeface="Times New Roman"/>
                <a:cs typeface="Times New Roman"/>
              </a:rPr>
              <a:t> Fragment </a:t>
            </a:r>
            <a:r>
              <a:rPr dirty="0" sz="1800" spc="-10">
                <a:latin typeface="Times New Roman"/>
                <a:cs typeface="Times New Roman"/>
              </a:rPr>
              <a:t>EMPMumbai=σ</a:t>
            </a:r>
            <a:r>
              <a:rPr dirty="0" baseline="-20833" sz="1800" spc="-15">
                <a:latin typeface="Times New Roman"/>
                <a:cs typeface="Times New Roman"/>
              </a:rPr>
              <a:t>Location=′Mumbai′</a:t>
            </a:r>
            <a:r>
              <a:rPr dirty="0" sz="1800" spc="-10">
                <a:latin typeface="Times New Roman"/>
                <a:cs typeface="Times New Roman"/>
              </a:rPr>
              <a:t>(EMPLOYEE) </a:t>
            </a:r>
            <a:r>
              <a:rPr dirty="0" sz="1800" spc="-10" b="1">
                <a:latin typeface="Times New Roman"/>
                <a:cs typeface="Times New Roman"/>
              </a:rPr>
              <a:t>Reconstruction</a:t>
            </a:r>
            <a:endParaRPr sz="1800">
              <a:latin typeface="Times New Roman"/>
              <a:cs typeface="Times New Roman"/>
            </a:endParaRPr>
          </a:p>
          <a:p>
            <a:pPr marL="92075" marR="1524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original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reconstructed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using </a:t>
            </a:r>
            <a:r>
              <a:rPr dirty="0" sz="1800" spc="-10" b="1">
                <a:latin typeface="Times New Roman"/>
                <a:cs typeface="Times New Roman"/>
              </a:rPr>
              <a:t>UNION</a:t>
            </a:r>
            <a:r>
              <a:rPr dirty="0"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EMPLOYEE=EMPDelhi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Cambria Math"/>
                <a:cs typeface="Cambria Math"/>
              </a:rPr>
              <a:t>∪</a:t>
            </a:r>
            <a:r>
              <a:rPr dirty="0" sz="1800" spc="-5">
                <a:latin typeface="Cambria Math"/>
                <a:cs typeface="Cambria Math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EMPMumbai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355600" marR="5080" indent="-342900">
              <a:lnSpc>
                <a:spcPts val="3600"/>
              </a:lnSpc>
              <a:spcBef>
                <a:spcPts val="819"/>
              </a:spcBef>
            </a:pPr>
            <a:r>
              <a:rPr dirty="0" spc="-155"/>
              <a:t>Primary</a:t>
            </a:r>
            <a:r>
              <a:rPr dirty="0" spc="-225"/>
              <a:t> </a:t>
            </a:r>
            <a:r>
              <a:rPr dirty="0" spc="-105"/>
              <a:t>and</a:t>
            </a:r>
            <a:r>
              <a:rPr dirty="0" spc="-260"/>
              <a:t> </a:t>
            </a:r>
            <a:r>
              <a:rPr dirty="0" spc="-150"/>
              <a:t>Derived</a:t>
            </a:r>
            <a:r>
              <a:rPr dirty="0" spc="-235"/>
              <a:t> </a:t>
            </a:r>
            <a:r>
              <a:rPr dirty="0" spc="-135"/>
              <a:t>Horizontal </a:t>
            </a:r>
            <a:r>
              <a:rPr dirty="0" spc="-8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881" y="1382648"/>
            <a:ext cx="9403080" cy="4719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Horizontal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fragmentation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further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classified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into: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200" b="1">
                <a:latin typeface="Times New Roman"/>
                <a:cs typeface="Times New Roman"/>
              </a:rPr>
              <a:t>Primary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Horizontal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Fragmentation</a:t>
            </a:r>
            <a:endParaRPr sz="2200">
              <a:latin typeface="Times New Roman"/>
              <a:cs typeface="Times New Roman"/>
            </a:endParaRPr>
          </a:p>
          <a:p>
            <a:pPr marL="323215" indent="-11112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23215" algn="l"/>
              </a:tabLst>
            </a:pPr>
            <a:r>
              <a:rPr dirty="0" sz="2200">
                <a:latin typeface="Times New Roman"/>
                <a:cs typeface="Times New Roman"/>
              </a:rPr>
              <a:t>Performed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predicates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defined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on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relation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itself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23215" indent="-111125">
              <a:lnSpc>
                <a:spcPct val="100000"/>
              </a:lnSpc>
              <a:buFont typeface="Arial"/>
              <a:buChar char="•"/>
              <a:tabLst>
                <a:tab pos="323215" algn="l"/>
              </a:tabLst>
            </a:pPr>
            <a:r>
              <a:rPr dirty="0" sz="2200">
                <a:latin typeface="Times New Roman"/>
                <a:cs typeface="Times New Roman"/>
              </a:rPr>
              <a:t>Tuples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grouped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according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conditions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relation’s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own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attributes.</a:t>
            </a:r>
            <a:endParaRPr sz="2200">
              <a:latin typeface="Times New Roman"/>
              <a:cs typeface="Times New Roman"/>
            </a:endParaRPr>
          </a:p>
          <a:p>
            <a:pPr marL="323215" indent="-111125">
              <a:lnSpc>
                <a:spcPct val="100000"/>
              </a:lnSpc>
              <a:buFont typeface="Arial"/>
              <a:buChar char="•"/>
              <a:tabLst>
                <a:tab pos="32321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Example:</a:t>
            </a:r>
            <a:endParaRPr sz="2200">
              <a:latin typeface="Times New Roman"/>
              <a:cs typeface="Times New Roman"/>
            </a:endParaRPr>
          </a:p>
          <a:p>
            <a:pPr marL="95250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EMPDelhi=σ</a:t>
            </a:r>
            <a:r>
              <a:rPr dirty="0" baseline="-21072" sz="2175" spc="-15">
                <a:latin typeface="Times New Roman"/>
                <a:cs typeface="Times New Roman"/>
              </a:rPr>
              <a:t>Location=′Delhi′</a:t>
            </a:r>
            <a:r>
              <a:rPr dirty="0" sz="2200" spc="-10">
                <a:latin typeface="Times New Roman"/>
                <a:cs typeface="Times New Roman"/>
              </a:rPr>
              <a:t>(EMPLOYEE)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200" b="1">
                <a:latin typeface="Times New Roman"/>
                <a:cs typeface="Times New Roman"/>
              </a:rPr>
              <a:t>Derived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Horizontal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Fragmentation</a:t>
            </a:r>
            <a:endParaRPr sz="2200">
              <a:latin typeface="Times New Roman"/>
              <a:cs typeface="Times New Roman"/>
            </a:endParaRPr>
          </a:p>
          <a:p>
            <a:pPr marL="323215" marR="30480" indent="-111125">
              <a:lnSpc>
                <a:spcPct val="100000"/>
              </a:lnSpc>
              <a:buFont typeface="Arial"/>
              <a:buChar char="•"/>
              <a:tabLst>
                <a:tab pos="324485" algn="l"/>
              </a:tabLst>
            </a:pPr>
            <a:r>
              <a:rPr dirty="0" sz="2200">
                <a:latin typeface="Times New Roman"/>
                <a:cs typeface="Times New Roman"/>
              </a:rPr>
              <a:t>Fragmentation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relation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fragmentation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another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related 	relation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23215" indent="-111125">
              <a:lnSpc>
                <a:spcPct val="100000"/>
              </a:lnSpc>
              <a:buFont typeface="Arial"/>
              <a:buChar char="•"/>
              <a:tabLst>
                <a:tab pos="323215" algn="l"/>
              </a:tabLst>
            </a:pPr>
            <a:r>
              <a:rPr dirty="0" sz="2200">
                <a:latin typeface="Times New Roman"/>
                <a:cs typeface="Times New Roman"/>
              </a:rPr>
              <a:t>Commonly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when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two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relations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through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relationship.</a:t>
            </a:r>
            <a:endParaRPr sz="2200">
              <a:latin typeface="Times New Roman"/>
              <a:cs typeface="Times New Roman"/>
            </a:endParaRPr>
          </a:p>
          <a:p>
            <a:pPr marL="323215" indent="-111125">
              <a:lnSpc>
                <a:spcPct val="100000"/>
              </a:lnSpc>
              <a:buFont typeface="Arial"/>
              <a:buChar char="•"/>
              <a:tabLst>
                <a:tab pos="323215" algn="l"/>
              </a:tabLst>
            </a:pPr>
            <a:r>
              <a:rPr dirty="0" sz="2200">
                <a:latin typeface="Times New Roman"/>
                <a:cs typeface="Times New Roman"/>
              </a:rPr>
              <a:t>Helps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place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related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same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site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200" spc="-10" b="1">
                <a:latin typeface="Times New Roman"/>
                <a:cs typeface="Times New Roman"/>
              </a:rPr>
              <a:t>Example:</a:t>
            </a:r>
            <a:endParaRPr sz="2200">
              <a:latin typeface="Times New Roman"/>
              <a:cs typeface="Times New Roman"/>
            </a:endParaRPr>
          </a:p>
          <a:p>
            <a:pPr marL="323215" marR="259079" indent="-111125">
              <a:lnSpc>
                <a:spcPct val="100000"/>
              </a:lnSpc>
              <a:buFont typeface="Arial"/>
              <a:buChar char="•"/>
              <a:tabLst>
                <a:tab pos="324485" algn="l"/>
              </a:tabLst>
            </a:pPr>
            <a:r>
              <a:rPr dirty="0" sz="2200">
                <a:latin typeface="Times New Roman"/>
                <a:cs typeface="Times New Roman"/>
              </a:rPr>
              <a:t>If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DEPARTMENT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fragmented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by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location,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EMPLOYEE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fragmented </a:t>
            </a:r>
            <a:r>
              <a:rPr dirty="0" sz="2200" spc="-1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according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corresponding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DEPARTMENT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fragments.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6842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>
                <a:solidFill>
                  <a:srgbClr val="C0504D"/>
                </a:solidFill>
              </a:rPr>
              <a:t>Common</a:t>
            </a:r>
            <a:r>
              <a:rPr dirty="0" spc="-235">
                <a:solidFill>
                  <a:srgbClr val="C0504D"/>
                </a:solidFill>
              </a:rPr>
              <a:t> </a:t>
            </a:r>
            <a:r>
              <a:rPr dirty="0" spc="-145">
                <a:solidFill>
                  <a:srgbClr val="C0504D"/>
                </a:solidFill>
              </a:rPr>
              <a:t>Clauses</a:t>
            </a:r>
            <a:r>
              <a:rPr dirty="0" spc="-235">
                <a:solidFill>
                  <a:srgbClr val="C0504D"/>
                </a:solidFill>
              </a:rPr>
              <a:t> </a:t>
            </a:r>
            <a:r>
              <a:rPr dirty="0" spc="-130">
                <a:solidFill>
                  <a:srgbClr val="C0504D"/>
                </a:solidFill>
              </a:rPr>
              <a:t>Used</a:t>
            </a:r>
            <a:r>
              <a:rPr dirty="0" spc="-245">
                <a:solidFill>
                  <a:srgbClr val="C0504D"/>
                </a:solidFill>
              </a:rPr>
              <a:t> </a:t>
            </a:r>
            <a:r>
              <a:rPr dirty="0" spc="-130">
                <a:solidFill>
                  <a:srgbClr val="C0504D"/>
                </a:solidFill>
              </a:rPr>
              <a:t>with</a:t>
            </a:r>
            <a:r>
              <a:rPr dirty="0" spc="-250">
                <a:solidFill>
                  <a:srgbClr val="C0504D"/>
                </a:solidFill>
              </a:rPr>
              <a:t> </a:t>
            </a:r>
            <a:r>
              <a:rPr dirty="0" spc="-95">
                <a:solidFill>
                  <a:srgbClr val="C0504D"/>
                </a:solidFill>
              </a:rPr>
              <a:t>SELECT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313" y="1788362"/>
            <a:ext cx="5925820" cy="3807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Vertical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Fragmentation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divides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into</a:t>
            </a:r>
            <a:endParaRPr sz="2400">
              <a:latin typeface="Times New Roman"/>
              <a:cs typeface="Times New Roman"/>
            </a:endParaRPr>
          </a:p>
          <a:p>
            <a:pPr marL="12700" marR="19050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subsets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attributes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(columns)</a:t>
            </a:r>
            <a:r>
              <a:rPr dirty="0" sz="2400" spc="-10">
                <a:latin typeface="Times New Roman"/>
                <a:cs typeface="Times New Roman"/>
              </a:rPr>
              <a:t>. </a:t>
            </a:r>
            <a:r>
              <a:rPr dirty="0" sz="2400" b="1">
                <a:latin typeface="Times New Roman"/>
                <a:cs typeface="Times New Roman"/>
              </a:rPr>
              <a:t>How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Does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Work?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fragment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contains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selected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attributes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the </a:t>
            </a:r>
            <a:r>
              <a:rPr dirty="0" sz="2200">
                <a:latin typeface="Times New Roman"/>
                <a:cs typeface="Times New Roman"/>
              </a:rPr>
              <a:t>original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relation.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Attributes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frequently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accessed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together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be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Times New Roman"/>
                <a:cs typeface="Times New Roman"/>
              </a:rPr>
              <a:t>placed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same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fragment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5600" marR="94805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primary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key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(or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tuple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identifier)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is </a:t>
            </a:r>
            <a:r>
              <a:rPr dirty="0" sz="2200">
                <a:latin typeface="Times New Roman"/>
                <a:cs typeface="Times New Roman"/>
              </a:rPr>
              <a:t>included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vertical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fragment.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Different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fragments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may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allocated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different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sites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their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usage.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76846" y="1677631"/>
            <a:ext cx="5553075" cy="1016000"/>
          </a:xfrm>
          <a:prstGeom prst="rect">
            <a:avLst/>
          </a:prstGeom>
          <a:ln w="12700">
            <a:solidFill>
              <a:srgbClr val="4F81BC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000" spc="-10">
                <a:latin typeface="Times New Roman"/>
                <a:cs typeface="Times New Roman"/>
              </a:rPr>
              <a:t>Consider:</a:t>
            </a:r>
            <a:endParaRPr sz="2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EMPLOYEE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(Emp_ID,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Name,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Department,</a:t>
            </a:r>
            <a:endParaRPr sz="2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Location,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Salary)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76846" y="3057778"/>
            <a:ext cx="5553075" cy="2308860"/>
          </a:xfrm>
          <a:prstGeom prst="rect">
            <a:avLst/>
          </a:prstGeom>
          <a:ln w="12700">
            <a:solidFill>
              <a:srgbClr val="4F81BC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dirty="0" sz="1800" b="1">
                <a:latin typeface="Times New Roman"/>
                <a:cs typeface="Times New Roman"/>
              </a:rPr>
              <a:t>Fragment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1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–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General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ts val="1939"/>
              </a:lnSpc>
              <a:spcBef>
                <a:spcPts val="445"/>
              </a:spcBef>
            </a:pPr>
            <a:r>
              <a:rPr dirty="0" baseline="13888" sz="2700">
                <a:latin typeface="Times New Roman"/>
                <a:cs typeface="Times New Roman"/>
              </a:rPr>
              <a:t>EMP1=π</a:t>
            </a:r>
            <a:r>
              <a:rPr dirty="0" sz="1200">
                <a:latin typeface="Times New Roman"/>
                <a:cs typeface="Times New Roman"/>
              </a:rPr>
              <a:t>Emp_ID,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Name,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Department</a:t>
            </a:r>
            <a:r>
              <a:rPr dirty="0" baseline="13888" sz="2700" spc="-15">
                <a:latin typeface="Times New Roman"/>
                <a:cs typeface="Times New Roman"/>
              </a:rPr>
              <a:t>(EMPLOYEE)</a:t>
            </a:r>
            <a:endParaRPr baseline="13888" sz="2700">
              <a:latin typeface="Times New Roman"/>
              <a:cs typeface="Times New Roman"/>
            </a:endParaRPr>
          </a:p>
          <a:p>
            <a:pPr marL="92075">
              <a:lnSpc>
                <a:spcPts val="1939"/>
              </a:lnSpc>
            </a:pPr>
            <a:r>
              <a:rPr dirty="0" sz="1800" b="1">
                <a:latin typeface="Times New Roman"/>
                <a:cs typeface="Times New Roman"/>
              </a:rPr>
              <a:t>Fragment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–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Payroll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ts val="1939"/>
              </a:lnSpc>
              <a:spcBef>
                <a:spcPts val="445"/>
              </a:spcBef>
            </a:pPr>
            <a:r>
              <a:rPr dirty="0" baseline="13888" sz="2700">
                <a:latin typeface="Times New Roman"/>
                <a:cs typeface="Times New Roman"/>
              </a:rPr>
              <a:t>EMP2=π</a:t>
            </a:r>
            <a:r>
              <a:rPr dirty="0" sz="1200">
                <a:latin typeface="Times New Roman"/>
                <a:cs typeface="Times New Roman"/>
              </a:rPr>
              <a:t>Emp_ID,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Salary,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Contact</a:t>
            </a:r>
            <a:r>
              <a:rPr dirty="0" baseline="13888" sz="2700" spc="-15">
                <a:latin typeface="Times New Roman"/>
                <a:cs typeface="Times New Roman"/>
              </a:rPr>
              <a:t>(EMPLOYEE)</a:t>
            </a:r>
            <a:endParaRPr baseline="13888" sz="2700">
              <a:latin typeface="Times New Roman"/>
              <a:cs typeface="Times New Roman"/>
            </a:endParaRPr>
          </a:p>
          <a:p>
            <a:pPr marL="92075">
              <a:lnSpc>
                <a:spcPts val="1939"/>
              </a:lnSpc>
            </a:pPr>
            <a:r>
              <a:rPr dirty="0" sz="1800" spc="-10" b="1">
                <a:latin typeface="Times New Roman"/>
                <a:cs typeface="Times New Roman"/>
              </a:rPr>
              <a:t>Reconstruction</a:t>
            </a:r>
            <a:endParaRPr sz="1800">
              <a:latin typeface="Times New Roman"/>
              <a:cs typeface="Times New Roman"/>
            </a:endParaRPr>
          </a:p>
          <a:p>
            <a:pPr marL="92075" marR="32194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original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reconstructed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JOIN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common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key: </a:t>
            </a:r>
            <a:r>
              <a:rPr dirty="0" sz="1800" spc="-10">
                <a:latin typeface="Times New Roman"/>
                <a:cs typeface="Times New Roman"/>
              </a:rPr>
              <a:t>EMPLOYEE=EMP1</a:t>
            </a:r>
            <a:r>
              <a:rPr dirty="0" sz="1800" spc="-10">
                <a:latin typeface="Cambria Math"/>
                <a:cs typeface="Cambria Math"/>
              </a:rPr>
              <a:t>⋈</a:t>
            </a:r>
            <a:r>
              <a:rPr dirty="0" sz="1800" spc="-10">
                <a:latin typeface="Times New Roman"/>
                <a:cs typeface="Times New Roman"/>
              </a:rPr>
              <a:t>Emp_IDEMP2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Mixed</a:t>
            </a:r>
            <a:r>
              <a:rPr dirty="0" spc="-260"/>
              <a:t> </a:t>
            </a:r>
            <a:r>
              <a:rPr dirty="0" spc="-145"/>
              <a:t>(Hybrid)</a:t>
            </a:r>
            <a:r>
              <a:rPr dirty="0" spc="-235"/>
              <a:t> </a:t>
            </a:r>
            <a:r>
              <a:rPr dirty="0" spc="-135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736" y="1695449"/>
            <a:ext cx="10462260" cy="4599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Mixed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Fragmentation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combines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horizontal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vertical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fragmentation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distribute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according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requirements.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How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Does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Work?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 be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fragmented:</a:t>
            </a:r>
            <a:endParaRPr sz="2000">
              <a:latin typeface="Times New Roman"/>
              <a:cs typeface="Times New Roman"/>
            </a:endParaRPr>
          </a:p>
          <a:p>
            <a:pPr marL="379730" indent="-167005">
              <a:lnSpc>
                <a:spcPct val="100000"/>
              </a:lnSpc>
              <a:buFont typeface="Arial"/>
              <a:buChar char="•"/>
              <a:tabLst>
                <a:tab pos="379730" algn="l"/>
              </a:tabLst>
            </a:pPr>
            <a:r>
              <a:rPr dirty="0" sz="2000" b="1">
                <a:latin typeface="Times New Roman"/>
                <a:cs typeface="Times New Roman"/>
              </a:rPr>
              <a:t>Horizontally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first,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vertically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  <a:p>
            <a:pPr marL="38100" marR="6507480" indent="342265">
              <a:lnSpc>
                <a:spcPct val="100000"/>
              </a:lnSpc>
              <a:buFont typeface="Arial"/>
              <a:buChar char="•"/>
              <a:tabLst>
                <a:tab pos="380365" algn="l"/>
              </a:tabLst>
            </a:pPr>
            <a:r>
              <a:rPr dirty="0" sz="2000" b="1">
                <a:latin typeface="Times New Roman"/>
                <a:cs typeface="Times New Roman"/>
              </a:rPr>
              <a:t>Vertically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first,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then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horizontally Example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000" spc="-10">
                <a:latin typeface="Times New Roman"/>
                <a:cs typeface="Times New Roman"/>
              </a:rPr>
              <a:t>Consider:</a:t>
            </a:r>
            <a:endParaRPr sz="2000">
              <a:latin typeface="Times New Roman"/>
              <a:cs typeface="Times New Roman"/>
            </a:endParaRPr>
          </a:p>
          <a:p>
            <a:pPr marL="38100" marR="367601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EMPLOYEE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(Emp_ID,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Name,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Department,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Location,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Salary) </a:t>
            </a: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–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Horizontal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Fragmentation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by</a:t>
            </a:r>
            <a:r>
              <a:rPr dirty="0" sz="2000" spc="-10" b="1">
                <a:latin typeface="Times New Roman"/>
                <a:cs typeface="Times New Roman"/>
              </a:rPr>
              <a:t> Location</a:t>
            </a:r>
            <a:endParaRPr sz="2000">
              <a:latin typeface="Times New Roman"/>
              <a:cs typeface="Times New Roman"/>
            </a:endParaRPr>
          </a:p>
          <a:p>
            <a:pPr lvl="1" marL="666115" indent="-175260">
              <a:lnSpc>
                <a:spcPct val="100000"/>
              </a:lnSpc>
              <a:buFont typeface="Arial"/>
              <a:buChar char="•"/>
              <a:tabLst>
                <a:tab pos="666115" algn="l"/>
              </a:tabLst>
            </a:pPr>
            <a:r>
              <a:rPr dirty="0" sz="2000" spc="-10">
                <a:latin typeface="Times New Roman"/>
                <a:cs typeface="Times New Roman"/>
              </a:rPr>
              <a:t>EMPDelhi=σ</a:t>
            </a:r>
            <a:r>
              <a:rPr dirty="0" baseline="-21367" sz="1950" spc="-15">
                <a:latin typeface="Times New Roman"/>
                <a:cs typeface="Times New Roman"/>
              </a:rPr>
              <a:t>Location=′Delhi′</a:t>
            </a:r>
            <a:r>
              <a:rPr dirty="0" sz="2000" spc="-10">
                <a:latin typeface="Times New Roman"/>
                <a:cs typeface="Times New Roman"/>
              </a:rPr>
              <a:t>(EMPLOYEE)</a:t>
            </a:r>
            <a:endParaRPr sz="2000">
              <a:latin typeface="Times New Roman"/>
              <a:cs typeface="Times New Roman"/>
            </a:endParaRPr>
          </a:p>
          <a:p>
            <a:pPr lvl="1" marL="666115" indent="-175260">
              <a:lnSpc>
                <a:spcPct val="100000"/>
              </a:lnSpc>
              <a:buFont typeface="Arial"/>
              <a:buChar char="•"/>
              <a:tabLst>
                <a:tab pos="666115" algn="l"/>
              </a:tabLst>
            </a:pPr>
            <a:r>
              <a:rPr dirty="0" sz="2000" spc="-10">
                <a:latin typeface="Times New Roman"/>
                <a:cs typeface="Times New Roman"/>
              </a:rPr>
              <a:t>EMPMumbai=σ</a:t>
            </a:r>
            <a:r>
              <a:rPr dirty="0" baseline="-21367" sz="1950" spc="-15">
                <a:latin typeface="Times New Roman"/>
                <a:cs typeface="Times New Roman"/>
              </a:rPr>
              <a:t>Location=′Mumbai′</a:t>
            </a:r>
            <a:r>
              <a:rPr dirty="0" sz="2000" spc="-10">
                <a:latin typeface="Times New Roman"/>
                <a:cs typeface="Times New Roman"/>
              </a:rPr>
              <a:t>(EMPLOYEE)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Step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–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Vertical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Fragmentation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Delhi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lvl="1" marL="666115" indent="-17526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666115" algn="l"/>
              </a:tabLst>
            </a:pPr>
            <a:r>
              <a:rPr dirty="0" sz="2000" spc="-10">
                <a:latin typeface="Times New Roman"/>
                <a:cs typeface="Times New Roman"/>
              </a:rPr>
              <a:t>EMPDelhi−General=π</a:t>
            </a:r>
            <a:r>
              <a:rPr dirty="0" baseline="-21367" sz="1950" spc="-15">
                <a:latin typeface="Times New Roman"/>
                <a:cs typeface="Times New Roman"/>
              </a:rPr>
              <a:t>Emp_ID,Name,Department</a:t>
            </a:r>
            <a:r>
              <a:rPr dirty="0" sz="2000" spc="-10">
                <a:latin typeface="Times New Roman"/>
                <a:cs typeface="Times New Roman"/>
              </a:rPr>
              <a:t>(EMPDelhi)</a:t>
            </a:r>
            <a:endParaRPr sz="2000">
              <a:latin typeface="Times New Roman"/>
              <a:cs typeface="Times New Roman"/>
            </a:endParaRPr>
          </a:p>
          <a:p>
            <a:pPr lvl="1" marL="666115" indent="-175260">
              <a:lnSpc>
                <a:spcPct val="100000"/>
              </a:lnSpc>
              <a:buFont typeface="Arial"/>
              <a:buChar char="•"/>
              <a:tabLst>
                <a:tab pos="666115" algn="l"/>
              </a:tabLst>
            </a:pPr>
            <a:r>
              <a:rPr dirty="0" sz="2000" spc="-10">
                <a:latin typeface="Times New Roman"/>
                <a:cs typeface="Times New Roman"/>
              </a:rPr>
              <a:t>EMPDelhi−Payroll=π</a:t>
            </a:r>
            <a:r>
              <a:rPr dirty="0" baseline="-21367" sz="1950" spc="-15">
                <a:latin typeface="Times New Roman"/>
                <a:cs typeface="Times New Roman"/>
              </a:rPr>
              <a:t>Emp_ID,Salary</a:t>
            </a:r>
            <a:r>
              <a:rPr dirty="0" sz="2000" spc="-10">
                <a:latin typeface="Times New Roman"/>
                <a:cs typeface="Times New Roman"/>
              </a:rPr>
              <a:t>(EMPDelhi)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250"/>
              <a:t> </a:t>
            </a:r>
            <a:r>
              <a:rPr dirty="0" spc="-150"/>
              <a:t>Allocation</a:t>
            </a:r>
            <a:r>
              <a:rPr dirty="0" spc="-215"/>
              <a:t> </a:t>
            </a:r>
            <a:r>
              <a:rPr dirty="0" spc="-90"/>
              <a:t>in</a:t>
            </a:r>
            <a:r>
              <a:rPr dirty="0" spc="-245"/>
              <a:t> </a:t>
            </a:r>
            <a:r>
              <a:rPr dirty="0" spc="-155"/>
              <a:t>Distributed</a:t>
            </a:r>
            <a:r>
              <a:rPr dirty="0" spc="-195"/>
              <a:t> </a:t>
            </a:r>
            <a:r>
              <a:rPr dirty="0" spc="-114"/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293" y="1449069"/>
            <a:ext cx="9239885" cy="429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>
                <a:latin typeface="Times New Roman"/>
                <a:cs typeface="Times New Roman"/>
              </a:rPr>
              <a:t>After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fragmentation,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next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decision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where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each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should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stored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Allocation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refers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assigning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fragments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distributed system.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Allocation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Strategies</a:t>
            </a:r>
            <a:endParaRPr sz="2000">
              <a:latin typeface="Times New Roman"/>
              <a:cs typeface="Times New Roman"/>
            </a:endParaRPr>
          </a:p>
          <a:p>
            <a:pPr lvl="1" marL="621030" indent="-253365">
              <a:lnSpc>
                <a:spcPct val="100000"/>
              </a:lnSpc>
              <a:buAutoNum type="arabicPeriod"/>
              <a:tabLst>
                <a:tab pos="621030" algn="l"/>
                <a:tab pos="641985" algn="l"/>
              </a:tabLst>
            </a:pPr>
            <a:r>
              <a:rPr dirty="0" sz="2000" b="1">
                <a:latin typeface="Times New Roman"/>
                <a:cs typeface="Times New Roman"/>
              </a:rPr>
              <a:t>Non-Replicated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(Partitioned)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Allocation</a:t>
            </a:r>
            <a:endParaRPr sz="2000">
              <a:latin typeface="Times New Roman"/>
              <a:cs typeface="Times New Roman"/>
            </a:endParaRPr>
          </a:p>
          <a:p>
            <a:pPr lvl="2" marL="908050" indent="-266065">
              <a:lnSpc>
                <a:spcPct val="100000"/>
              </a:lnSpc>
              <a:buFont typeface="Courier New"/>
              <a:buChar char="o"/>
              <a:tabLst>
                <a:tab pos="908050" algn="l"/>
              </a:tabLst>
            </a:pP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fragment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only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one</a:t>
            </a:r>
            <a:r>
              <a:rPr dirty="0" sz="2000" spc="-10" b="1">
                <a:latin typeface="Times New Roman"/>
                <a:cs typeface="Times New Roman"/>
              </a:rPr>
              <a:t> site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2" marL="908050" indent="-266065">
              <a:lnSpc>
                <a:spcPct val="100000"/>
              </a:lnSpc>
              <a:buFont typeface="Courier New"/>
              <a:buChar char="o"/>
              <a:tabLst>
                <a:tab pos="908050" algn="l"/>
              </a:tabLst>
            </a:pPr>
            <a:r>
              <a:rPr dirty="0" sz="2000">
                <a:latin typeface="Times New Roman"/>
                <a:cs typeface="Times New Roman"/>
              </a:rPr>
              <a:t>No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duplicate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copies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maintained.</a:t>
            </a:r>
            <a:endParaRPr sz="2000">
              <a:latin typeface="Times New Roman"/>
              <a:cs typeface="Times New Roman"/>
            </a:endParaRPr>
          </a:p>
          <a:p>
            <a:pPr lvl="1" marL="621030" indent="-253365">
              <a:lnSpc>
                <a:spcPct val="100000"/>
              </a:lnSpc>
              <a:buAutoNum type="arabicPeriod"/>
              <a:tabLst>
                <a:tab pos="621030" algn="l"/>
              </a:tabLst>
            </a:pPr>
            <a:r>
              <a:rPr dirty="0" sz="2000" b="1">
                <a:latin typeface="Times New Roman"/>
                <a:cs typeface="Times New Roman"/>
              </a:rPr>
              <a:t>Fully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Replicated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Allocation</a:t>
            </a:r>
            <a:endParaRPr sz="2000">
              <a:latin typeface="Times New Roman"/>
              <a:cs typeface="Times New Roman"/>
            </a:endParaRPr>
          </a:p>
          <a:p>
            <a:pPr lvl="2" marL="908050" indent="-266065">
              <a:lnSpc>
                <a:spcPct val="100000"/>
              </a:lnSpc>
              <a:buFont typeface="Courier New"/>
              <a:buChar char="o"/>
              <a:tabLst>
                <a:tab pos="90805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copy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every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site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2" marL="908050" indent="-266065">
              <a:lnSpc>
                <a:spcPct val="100000"/>
              </a:lnSpc>
              <a:buFont typeface="Courier New"/>
              <a:buChar char="o"/>
              <a:tabLst>
                <a:tab pos="908050" algn="l"/>
              </a:tabLst>
            </a:pP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availability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increases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overhead.</a:t>
            </a:r>
            <a:endParaRPr sz="2000">
              <a:latin typeface="Times New Roman"/>
              <a:cs typeface="Times New Roman"/>
            </a:endParaRPr>
          </a:p>
          <a:p>
            <a:pPr lvl="1" marL="621030" indent="-253365">
              <a:lnSpc>
                <a:spcPct val="100000"/>
              </a:lnSpc>
              <a:buAutoNum type="arabicPeriod"/>
              <a:tabLst>
                <a:tab pos="621030" algn="l"/>
              </a:tabLst>
            </a:pPr>
            <a:r>
              <a:rPr dirty="0" sz="2000" b="1">
                <a:latin typeface="Times New Roman"/>
                <a:cs typeface="Times New Roman"/>
              </a:rPr>
              <a:t>Partially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Replicated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Allocation</a:t>
            </a:r>
            <a:endParaRPr sz="2000">
              <a:latin typeface="Times New Roman"/>
              <a:cs typeface="Times New Roman"/>
            </a:endParaRPr>
          </a:p>
          <a:p>
            <a:pPr lvl="2" marL="908050" indent="-266065">
              <a:lnSpc>
                <a:spcPct val="100000"/>
              </a:lnSpc>
              <a:buFont typeface="Courier New"/>
              <a:buChar char="o"/>
              <a:tabLst>
                <a:tab pos="908050" algn="l"/>
              </a:tabLst>
            </a:pPr>
            <a:r>
              <a:rPr dirty="0" sz="2000">
                <a:latin typeface="Times New Roman"/>
                <a:cs typeface="Times New Roman"/>
              </a:rPr>
              <a:t>Selected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fragments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multiple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sites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2" marL="908050" indent="-266065">
              <a:lnSpc>
                <a:spcPct val="100000"/>
              </a:lnSpc>
              <a:buFont typeface="Courier New"/>
              <a:buChar char="o"/>
              <a:tabLst>
                <a:tab pos="908050" algn="l"/>
              </a:tabLst>
            </a:pP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fragments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 exist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site.</a:t>
            </a:r>
            <a:endParaRPr sz="2000">
              <a:latin typeface="Times New Roman"/>
              <a:cs typeface="Times New Roman"/>
            </a:endParaRPr>
          </a:p>
          <a:p>
            <a:pPr lvl="2" marL="908050" indent="-266065">
              <a:lnSpc>
                <a:spcPct val="100000"/>
              </a:lnSpc>
              <a:buFont typeface="Courier New"/>
              <a:buChar char="o"/>
              <a:tabLst>
                <a:tab pos="908050" algn="l"/>
              </a:tabLst>
            </a:pP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balance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availability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cost.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245"/>
              <a:t> </a:t>
            </a:r>
            <a:r>
              <a:rPr dirty="0" spc="-155"/>
              <a:t>Replication</a:t>
            </a:r>
            <a:r>
              <a:rPr dirty="0" spc="-185"/>
              <a:t> </a:t>
            </a:r>
            <a:r>
              <a:rPr dirty="0" spc="-90"/>
              <a:t>in</a:t>
            </a:r>
            <a:r>
              <a:rPr dirty="0" spc="-254"/>
              <a:t> </a:t>
            </a:r>
            <a:r>
              <a:rPr dirty="0" spc="-155"/>
              <a:t>Distributed</a:t>
            </a:r>
            <a:r>
              <a:rPr dirty="0" spc="-204"/>
              <a:t> </a:t>
            </a:r>
            <a:r>
              <a:rPr dirty="0" spc="-114"/>
              <a:t>Databases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313" y="1735257"/>
            <a:ext cx="9699625" cy="3684904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Replication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involves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maintaining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multiple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copies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same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Times New Roman"/>
                <a:cs typeface="Times New Roman"/>
              </a:rPr>
              <a:t>distributed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Why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Replicate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Data?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Improved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Availability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remain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accessible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fails.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Improved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Reliability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copies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dependence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single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Faster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Read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Access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nearby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replica.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Reduced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Communication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Cost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Frequently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available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locally.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Support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Parallel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Reads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requests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replicas.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8677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Replication</a:t>
            </a:r>
            <a:r>
              <a:rPr dirty="0" spc="-105"/>
              <a:t> </a:t>
            </a:r>
            <a:r>
              <a:rPr dirty="0" spc="-170"/>
              <a:t>Trade-</a:t>
            </a:r>
            <a:r>
              <a:rPr dirty="0" spc="-45"/>
              <a:t>off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293" y="1872313"/>
            <a:ext cx="4571365" cy="36836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000" spc="-10" b="1">
                <a:latin typeface="Times New Roman"/>
                <a:cs typeface="Times New Roman"/>
              </a:rPr>
              <a:t>Benefits</a:t>
            </a:r>
            <a:endParaRPr sz="2000">
              <a:latin typeface="Times New Roman"/>
              <a:cs typeface="Times New Roman"/>
            </a:endParaRPr>
          </a:p>
          <a:p>
            <a:pPr marL="464184" indent="-18605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Higher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availability</a:t>
            </a:r>
            <a:endParaRPr sz="2000">
              <a:latin typeface="Times New Roman"/>
              <a:cs typeface="Times New Roman"/>
            </a:endParaRPr>
          </a:p>
          <a:p>
            <a:pPr marL="464184" indent="-18605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Better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performance</a:t>
            </a:r>
            <a:endParaRPr sz="2000">
              <a:latin typeface="Times New Roman"/>
              <a:cs typeface="Times New Roman"/>
            </a:endParaRPr>
          </a:p>
          <a:p>
            <a:pPr marL="464184" indent="-18605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Greater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fault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tolerance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10" b="1">
                <a:latin typeface="Times New Roman"/>
                <a:cs typeface="Times New Roman"/>
              </a:rPr>
              <a:t>Costs</a:t>
            </a:r>
            <a:endParaRPr sz="2000">
              <a:latin typeface="Times New Roman"/>
              <a:cs typeface="Times New Roman"/>
            </a:endParaRPr>
          </a:p>
          <a:p>
            <a:pPr marL="464184" indent="-18605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Additional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storage</a:t>
            </a:r>
            <a:endParaRPr sz="2000">
              <a:latin typeface="Times New Roman"/>
              <a:cs typeface="Times New Roman"/>
            </a:endParaRPr>
          </a:p>
          <a:p>
            <a:pPr marL="464184" indent="-18605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Increased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overhead</a:t>
            </a:r>
            <a:endParaRPr sz="2000">
              <a:latin typeface="Times New Roman"/>
              <a:cs typeface="Times New Roman"/>
            </a:endParaRPr>
          </a:p>
          <a:p>
            <a:pPr marL="464184" indent="-18605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Maintaining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consistency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among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replicas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Degrees</a:t>
            </a:r>
            <a:r>
              <a:rPr dirty="0" spc="-225"/>
              <a:t> </a:t>
            </a:r>
            <a:r>
              <a:rPr dirty="0" spc="-90"/>
              <a:t>of</a:t>
            </a:r>
            <a:r>
              <a:rPr dirty="0" spc="-275"/>
              <a:t> </a:t>
            </a:r>
            <a:r>
              <a:rPr dirty="0" spc="-125"/>
              <a:t>Data</a:t>
            </a:r>
            <a:r>
              <a:rPr dirty="0" spc="-260"/>
              <a:t> </a:t>
            </a:r>
            <a:r>
              <a:rPr dirty="0" spc="-135"/>
              <a:t>Replication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655" y="1311655"/>
            <a:ext cx="6234430" cy="5513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Depending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copies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maintained,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distributed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degrees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replication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buAutoNum type="arabicPeriod"/>
              <a:tabLst>
                <a:tab pos="266065" algn="l"/>
              </a:tabLst>
            </a:pPr>
            <a:r>
              <a:rPr dirty="0" sz="2000" b="1">
                <a:latin typeface="Times New Roman"/>
                <a:cs typeface="Times New Roman"/>
              </a:rPr>
              <a:t>Fully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Replicated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Database</a:t>
            </a:r>
            <a:endParaRPr sz="2000">
              <a:latin typeface="Times New Roman"/>
              <a:cs typeface="Times New Roman"/>
            </a:endParaRPr>
          </a:p>
          <a:p>
            <a:pPr lvl="1" marL="464184" indent="-186690">
              <a:lnSpc>
                <a:spcPct val="100000"/>
              </a:lnSpc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complete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copy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database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every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site.</a:t>
            </a:r>
            <a:endParaRPr sz="2000">
              <a:latin typeface="Times New Roman"/>
              <a:cs typeface="Times New Roman"/>
            </a:endParaRPr>
          </a:p>
          <a:p>
            <a:pPr lvl="1" marL="464184" indent="-186690">
              <a:lnSpc>
                <a:spcPct val="100000"/>
              </a:lnSpc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availability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reliability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 marL="464184" indent="-186690">
              <a:lnSpc>
                <a:spcPct val="100000"/>
              </a:lnSpc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Read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operations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often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performed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locally.</a:t>
            </a:r>
            <a:endParaRPr sz="2000">
              <a:latin typeface="Times New Roman"/>
              <a:cs typeface="Times New Roman"/>
            </a:endParaRPr>
          </a:p>
          <a:p>
            <a:pPr lvl="1" marL="464184" indent="-186690">
              <a:lnSpc>
                <a:spcPct val="100000"/>
              </a:lnSpc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Updates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must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propagated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all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replicas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buAutoNum type="arabicPeriod"/>
              <a:tabLst>
                <a:tab pos="266065" algn="l"/>
              </a:tabLst>
            </a:pPr>
            <a:r>
              <a:rPr dirty="0" sz="2000" b="1">
                <a:latin typeface="Times New Roman"/>
                <a:cs typeface="Times New Roman"/>
              </a:rPr>
              <a:t>Partially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Replicated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Database</a:t>
            </a:r>
            <a:endParaRPr sz="2000">
              <a:latin typeface="Times New Roman"/>
              <a:cs typeface="Times New Roman"/>
            </a:endParaRPr>
          </a:p>
          <a:p>
            <a:pPr lvl="1" marL="464184" indent="-186690">
              <a:lnSpc>
                <a:spcPct val="100000"/>
              </a:lnSpc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selected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fragments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replicated.</a:t>
            </a:r>
            <a:endParaRPr sz="2000">
              <a:latin typeface="Times New Roman"/>
              <a:cs typeface="Times New Roman"/>
            </a:endParaRPr>
          </a:p>
          <a:p>
            <a:pPr lvl="1" marL="464184" indent="-186690">
              <a:lnSpc>
                <a:spcPct val="100000"/>
              </a:lnSpc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fragments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465455">
              <a:lnSpc>
                <a:spcPct val="100000"/>
              </a:lnSpc>
            </a:pPr>
            <a:r>
              <a:rPr dirty="0" sz="2000" spc="-10">
                <a:latin typeface="Times New Roman"/>
                <a:cs typeface="Times New Roman"/>
              </a:rPr>
              <a:t>copies.</a:t>
            </a:r>
            <a:endParaRPr sz="2000">
              <a:latin typeface="Times New Roman"/>
              <a:cs typeface="Times New Roman"/>
            </a:endParaRPr>
          </a:p>
          <a:p>
            <a:pPr lvl="1" marL="464184" marR="596265" indent="-186690">
              <a:lnSpc>
                <a:spcPct val="100000"/>
              </a:lnSpc>
              <a:buFont typeface="Arial"/>
              <a:buChar char="•"/>
              <a:tabLst>
                <a:tab pos="465455" algn="l"/>
              </a:tabLst>
            </a:pPr>
            <a:r>
              <a:rPr dirty="0" sz="2000">
                <a:latin typeface="Times New Roman"/>
                <a:cs typeface="Times New Roman"/>
              </a:rPr>
              <a:t>Balances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availability,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performance,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storage,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and </a:t>
            </a:r>
            <a:r>
              <a:rPr dirty="0" sz="2000" spc="-25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update</a:t>
            </a:r>
            <a:r>
              <a:rPr dirty="0" sz="2000" spc="-20" b="1">
                <a:latin typeface="Times New Roman"/>
                <a:cs typeface="Times New Roman"/>
              </a:rPr>
              <a:t> cost</a:t>
            </a:r>
            <a:r>
              <a:rPr dirty="0" sz="2000" spc="-2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buAutoNum type="arabicPeriod"/>
              <a:tabLst>
                <a:tab pos="2660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Non-</a:t>
            </a:r>
            <a:r>
              <a:rPr dirty="0" sz="2000" b="1">
                <a:latin typeface="Times New Roman"/>
                <a:cs typeface="Times New Roman"/>
              </a:rPr>
              <a:t>Replicated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(Partitioned)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Database</a:t>
            </a:r>
            <a:endParaRPr sz="2000">
              <a:latin typeface="Times New Roman"/>
              <a:cs typeface="Times New Roman"/>
            </a:endParaRPr>
          </a:p>
          <a:p>
            <a:pPr lvl="1" marL="464184" indent="-186690">
              <a:lnSpc>
                <a:spcPct val="100000"/>
              </a:lnSpc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fragment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one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site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only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 marL="464184" indent="-18669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64184" algn="l"/>
              </a:tabLst>
            </a:pPr>
            <a:r>
              <a:rPr dirty="0" sz="2000">
                <a:latin typeface="Times New Roman"/>
                <a:cs typeface="Times New Roman"/>
              </a:rPr>
              <a:t>Lower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storage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overhead.</a:t>
            </a:r>
            <a:endParaRPr sz="2000">
              <a:latin typeface="Times New Roman"/>
              <a:cs typeface="Times New Roman"/>
            </a:endParaRPr>
          </a:p>
          <a:p>
            <a:pPr lvl="1" marL="464184" marR="133350" indent="-186690">
              <a:lnSpc>
                <a:spcPct val="100000"/>
              </a:lnSpc>
              <a:buFont typeface="Arial"/>
              <a:buChar char="•"/>
              <a:tabLst>
                <a:tab pos="465455" algn="l"/>
              </a:tabLst>
            </a:pPr>
            <a:r>
              <a:rPr dirty="0" sz="2000">
                <a:latin typeface="Times New Roman"/>
                <a:cs typeface="Times New Roman"/>
              </a:rPr>
              <a:t>Availability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site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containing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required 	fragment.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4433" y="1567268"/>
            <a:ext cx="5390260" cy="48040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Synchronous</a:t>
            </a:r>
            <a:r>
              <a:rPr dirty="0" spc="-185"/>
              <a:t> </a:t>
            </a:r>
            <a:r>
              <a:rPr dirty="0" spc="-85"/>
              <a:t>vs</a:t>
            </a:r>
            <a:r>
              <a:rPr dirty="0" spc="-240"/>
              <a:t> </a:t>
            </a:r>
            <a:r>
              <a:rPr dirty="0" spc="-155"/>
              <a:t>Asynchronous</a:t>
            </a:r>
            <a:r>
              <a:rPr dirty="0" spc="-180"/>
              <a:t> </a:t>
            </a:r>
            <a:r>
              <a:rPr dirty="0" spc="-130"/>
              <a:t>Replication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0049"/>
            <a:ext cx="108724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When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1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replicated,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important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decision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when</a:t>
            </a:r>
            <a:r>
              <a:rPr dirty="0" sz="2400" spc="2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updates</a:t>
            </a:r>
            <a:r>
              <a:rPr dirty="0" sz="2400" spc="2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are</a:t>
            </a:r>
            <a:r>
              <a:rPr dirty="0" sz="2400" spc="2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propagated</a:t>
            </a:r>
            <a:r>
              <a:rPr dirty="0" sz="2400" spc="21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to </a:t>
            </a:r>
            <a:r>
              <a:rPr dirty="0" sz="2400" spc="-25" b="1">
                <a:latin typeface="Times New Roman"/>
                <a:cs typeface="Times New Roman"/>
              </a:rPr>
              <a:t>	</a:t>
            </a:r>
            <a:r>
              <a:rPr dirty="0" sz="2400" spc="-10" b="1">
                <a:latin typeface="Times New Roman"/>
                <a:cs typeface="Times New Roman"/>
              </a:rPr>
              <a:t>replicas</a:t>
            </a:r>
            <a:r>
              <a:rPr dirty="0" sz="2400" spc="-1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7537" y="2866135"/>
          <a:ext cx="9926955" cy="2894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59045"/>
                <a:gridCol w="4778375"/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Synchronous</a:t>
                      </a:r>
                      <a:r>
                        <a:rPr dirty="0" sz="20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Replication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Asynchronous</a:t>
                      </a:r>
                      <a:r>
                        <a:rPr dirty="0" sz="20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Replication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propagated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operation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considered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complete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replicas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updated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Replicas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remain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closely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synchronized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Replicas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temporarily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contain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older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data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Stronger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consistency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copies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Temporary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inconsistency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occur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latency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latency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sensitive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slow/unavailable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replicas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tolerance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delays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up-to-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replicas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critical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543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geographic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distribution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important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5"/>
              <a:t>Leader–</a:t>
            </a:r>
            <a:r>
              <a:rPr dirty="0" spc="-145"/>
              <a:t>Follower</a:t>
            </a:r>
            <a:r>
              <a:rPr dirty="0" spc="-150"/>
              <a:t> </a:t>
            </a:r>
            <a:r>
              <a:rPr dirty="0" spc="-135"/>
              <a:t>Replication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432940"/>
            <a:ext cx="7581265" cy="5208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Leader–</a:t>
            </a:r>
            <a:r>
              <a:rPr dirty="0" sz="2000" b="1">
                <a:latin typeface="Times New Roman"/>
                <a:cs typeface="Times New Roman"/>
              </a:rPr>
              <a:t>Follower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Replication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replica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designated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 </a:t>
            </a:r>
            <a:r>
              <a:rPr dirty="0" sz="2000" spc="-10" b="1">
                <a:latin typeface="Times New Roman"/>
                <a:cs typeface="Times New Roman"/>
              </a:rPr>
              <a:t>Leader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(Primary)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other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replicas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Followers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(Replicas/Secondaries)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How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Works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Writes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are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sent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Leader.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Leader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local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database.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Leader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sends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Followers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Followers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local</a:t>
            </a:r>
            <a:r>
              <a:rPr dirty="0" sz="2000" spc="-10">
                <a:latin typeface="Times New Roman"/>
                <a:cs typeface="Times New Roman"/>
              </a:rPr>
              <a:t> copies.</a:t>
            </a:r>
            <a:endParaRPr sz="2000">
              <a:latin typeface="Times New Roman"/>
              <a:cs typeface="Times New Roman"/>
            </a:endParaRPr>
          </a:p>
          <a:p>
            <a:pPr marL="355600" marR="8636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Reads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 be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followers,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 configuration.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Characteristics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single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point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coordinating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writes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Followers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maintain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copies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leader's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Replication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 be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synchronous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asynchronous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Followers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scale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read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workloads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fails,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follower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promoted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new</a:t>
            </a:r>
            <a:r>
              <a:rPr dirty="0" sz="2000" spc="-10" b="1">
                <a:latin typeface="Times New Roman"/>
                <a:cs typeface="Times New Roman"/>
              </a:rPr>
              <a:t> leader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Asynchronous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followers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return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stale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because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replication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000" spc="-20">
                <a:latin typeface="Times New Roman"/>
                <a:cs typeface="Times New Roman"/>
              </a:rPr>
              <a:t>lag.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5"/>
              <a:t>Multi-</a:t>
            </a:r>
            <a:r>
              <a:rPr dirty="0" spc="-145"/>
              <a:t>Leader</a:t>
            </a:r>
            <a:r>
              <a:rPr dirty="0" spc="-160"/>
              <a:t> </a:t>
            </a:r>
            <a:r>
              <a:rPr dirty="0" spc="-130"/>
              <a:t>Replication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1573"/>
            <a:ext cx="15773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How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Works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816" y="1976373"/>
            <a:ext cx="5659755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nodes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Leaders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Clients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write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leaders.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Each leader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local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writes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Leaders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replicate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other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leaders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Conflicting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concurrent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conflict </a:t>
            </a:r>
            <a:r>
              <a:rPr dirty="0" sz="2000" b="1">
                <a:latin typeface="Times New Roman"/>
                <a:cs typeface="Times New Roman"/>
              </a:rPr>
              <a:t>detection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resolution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6611" y="1592325"/>
            <a:ext cx="1788160" cy="11150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0"/>
              </a:spcBef>
            </a:pPr>
            <a:r>
              <a:rPr dirty="0" sz="1800" b="1">
                <a:latin typeface="Calibri"/>
                <a:cs typeface="Calibri"/>
              </a:rPr>
              <a:t>Major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Challenge </a:t>
            </a:r>
            <a:r>
              <a:rPr dirty="0" sz="1800" b="1">
                <a:latin typeface="Calibri"/>
                <a:cs typeface="Calibri"/>
              </a:rPr>
              <a:t>Write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Conflicts </a:t>
            </a:r>
            <a:r>
              <a:rPr dirty="0" sz="1800">
                <a:latin typeface="Calibri"/>
                <a:cs typeface="Calibri"/>
              </a:rPr>
              <a:t>Leader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A:</a:t>
            </a:r>
            <a:r>
              <a:rPr dirty="0" sz="1800" spc="3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100 </a:t>
            </a:r>
            <a:r>
              <a:rPr dirty="0" sz="1800">
                <a:latin typeface="Calibri"/>
                <a:cs typeface="Calibri"/>
              </a:rPr>
              <a:t>Leader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B:</a:t>
            </a:r>
            <a:r>
              <a:rPr dirty="0" sz="1800" spc="3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200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816" y="3805249"/>
            <a:ext cx="6406515" cy="2160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Where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</a:t>
            </a:r>
            <a:r>
              <a:rPr dirty="0" sz="2000" spc="-10" b="1">
                <a:latin typeface="Times New Roman"/>
                <a:cs typeface="Times New Roman"/>
              </a:rPr>
              <a:t> Useful?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Multi-</a:t>
            </a:r>
            <a:r>
              <a:rPr dirty="0" sz="2000" b="1">
                <a:latin typeface="Times New Roman"/>
                <a:cs typeface="Times New Roman"/>
              </a:rPr>
              <a:t>datacenter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deployments</a:t>
            </a:r>
            <a:endParaRPr sz="2000">
              <a:latin typeface="Times New Roman"/>
              <a:cs typeface="Times New Roman"/>
            </a:endParaRPr>
          </a:p>
          <a:p>
            <a:pPr marL="355600" marR="34099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Applications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distributed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geographical regions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Environments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requiring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local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write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processing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continue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accepting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writes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despite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connectivity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sites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Leaderless</a:t>
            </a:r>
            <a:r>
              <a:rPr dirty="0" spc="-190"/>
              <a:t> </a:t>
            </a:r>
            <a:r>
              <a:rPr dirty="0" spc="-135"/>
              <a:t>Replication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1573"/>
            <a:ext cx="8891270" cy="4599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Leaderless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Replication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no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designated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leader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handling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writes.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How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It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Works</a:t>
            </a:r>
            <a:endParaRPr sz="2000">
              <a:latin typeface="Times New Roman"/>
              <a:cs typeface="Times New Roman"/>
            </a:endParaRPr>
          </a:p>
          <a:p>
            <a:pPr marL="353695" indent="-166370">
              <a:lnSpc>
                <a:spcPct val="100000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2000">
                <a:latin typeface="Times New Roman"/>
                <a:cs typeface="Times New Roman"/>
              </a:rPr>
              <a:t>Clients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writes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multiple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directly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3695" indent="-166370">
              <a:lnSpc>
                <a:spcPct val="100000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write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considered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successful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after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required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replicas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acknowledge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marL="353695" indent="-166370">
              <a:lnSpc>
                <a:spcPct val="100000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2000">
                <a:latin typeface="Times New Roman"/>
                <a:cs typeface="Times New Roman"/>
              </a:rPr>
              <a:t>Reads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query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multiple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replicas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3695" indent="-166370">
              <a:lnSpc>
                <a:spcPct val="100000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2000">
                <a:latin typeface="Times New Roman"/>
                <a:cs typeface="Times New Roman"/>
              </a:rPr>
              <a:t>Differences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replicas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repaired.</a:t>
            </a:r>
            <a:endParaRPr sz="2000">
              <a:latin typeface="Times New Roman"/>
              <a:cs typeface="Times New Roman"/>
            </a:endParaRPr>
          </a:p>
          <a:p>
            <a:pPr marL="353695" indent="-166370">
              <a:lnSpc>
                <a:spcPct val="100000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continues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single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leader.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Quorum-Based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Approach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20">
                <a:latin typeface="Times New Roman"/>
                <a:cs typeface="Times New Roman"/>
              </a:rPr>
              <a:t>Let:</a:t>
            </a:r>
            <a:endParaRPr sz="2000">
              <a:latin typeface="Times New Roman"/>
              <a:cs typeface="Times New Roman"/>
            </a:endParaRPr>
          </a:p>
          <a:p>
            <a:pPr marL="366395" indent="-177165">
              <a:lnSpc>
                <a:spcPct val="100000"/>
              </a:lnSpc>
              <a:buFont typeface="Arial"/>
              <a:buChar char="•"/>
              <a:tabLst>
                <a:tab pos="366395" algn="l"/>
              </a:tabLst>
            </a:pPr>
            <a:r>
              <a:rPr dirty="0" sz="2000" b="1">
                <a:latin typeface="Times New Roman"/>
                <a:cs typeface="Times New Roman"/>
              </a:rPr>
              <a:t>N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replicas</a:t>
            </a:r>
            <a:endParaRPr sz="2000">
              <a:latin typeface="Times New Roman"/>
              <a:cs typeface="Times New Roman"/>
            </a:endParaRPr>
          </a:p>
          <a:p>
            <a:pPr marL="366395" indent="-177165">
              <a:lnSpc>
                <a:spcPct val="100000"/>
              </a:lnSpc>
              <a:buFont typeface="Arial"/>
              <a:buChar char="•"/>
              <a:tabLst>
                <a:tab pos="366395" algn="l"/>
              </a:tabLst>
            </a:pPr>
            <a:r>
              <a:rPr dirty="0" sz="2000" b="1">
                <a:latin typeface="Times New Roman"/>
                <a:cs typeface="Times New Roman"/>
              </a:rPr>
              <a:t>W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replicas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must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acknowledge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write</a:t>
            </a:r>
            <a:endParaRPr sz="2000">
              <a:latin typeface="Times New Roman"/>
              <a:cs typeface="Times New Roman"/>
            </a:endParaRPr>
          </a:p>
          <a:p>
            <a:pPr marL="366395" indent="-177165">
              <a:lnSpc>
                <a:spcPct val="100000"/>
              </a:lnSpc>
              <a:buFont typeface="Arial"/>
              <a:buChar char="•"/>
              <a:tabLst>
                <a:tab pos="366395" algn="l"/>
              </a:tabLst>
            </a:pPr>
            <a:r>
              <a:rPr dirty="0" sz="2000" b="1">
                <a:latin typeface="Times New Roman"/>
                <a:cs typeface="Times New Roman"/>
              </a:rPr>
              <a:t>R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=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replicas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contacted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read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commonly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discussed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quorum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condition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is:</a:t>
            </a:r>
            <a:endParaRPr sz="2000">
              <a:latin typeface="Times New Roman"/>
              <a:cs typeface="Times New Roman"/>
            </a:endParaRPr>
          </a:p>
          <a:p>
            <a:pPr algn="ctr" marL="1161415">
              <a:lnSpc>
                <a:spcPct val="100000"/>
              </a:lnSpc>
            </a:pPr>
            <a:r>
              <a:rPr dirty="0" sz="2000" spc="-10">
                <a:latin typeface="Times New Roman"/>
                <a:cs typeface="Times New Roman"/>
              </a:rPr>
              <a:t>W+R&gt;N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creates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overlap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between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replicas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involved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reads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writes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4228" y="6567322"/>
            <a:ext cx="269367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latin typeface="Times New Roman"/>
                <a:cs typeface="Times New Roman"/>
              </a:rPr>
              <a:t>Source:</a:t>
            </a:r>
            <a:r>
              <a:rPr dirty="0" sz="500" spc="195">
                <a:latin typeface="Times New Roman"/>
                <a:cs typeface="Times New Roman"/>
              </a:rPr>
              <a:t>  </a:t>
            </a:r>
            <a:r>
              <a:rPr dirty="0" sz="500" spc="-10">
                <a:latin typeface="Times New Roman"/>
                <a:cs typeface="Times New Roman"/>
                <a:hlinkClick r:id="rId2"/>
              </a:rPr>
              <a:t>https://medium.com/@matheesha27/transaction-states-acid-properties-</a:t>
            </a:r>
            <a:r>
              <a:rPr dirty="0" sz="500">
                <a:latin typeface="Times New Roman"/>
                <a:cs typeface="Times New Roman"/>
                <a:hlinkClick r:id="rId2"/>
              </a:rPr>
              <a:t>in-</a:t>
            </a:r>
            <a:r>
              <a:rPr dirty="0" sz="500" spc="-10">
                <a:latin typeface="Times New Roman"/>
                <a:cs typeface="Times New Roman"/>
                <a:hlinkClick r:id="rId2"/>
              </a:rPr>
              <a:t>a-dbms-94197273a14a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Comparing</a:t>
            </a:r>
            <a:r>
              <a:rPr dirty="0" spc="-175"/>
              <a:t> </a:t>
            </a:r>
            <a:r>
              <a:rPr dirty="0" spc="-155"/>
              <a:t>Replication</a:t>
            </a:r>
            <a:r>
              <a:rPr dirty="0" spc="-170"/>
              <a:t> </a:t>
            </a:r>
            <a:r>
              <a:rPr dirty="0" spc="-125"/>
              <a:t>Strategies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1231" y="1566798"/>
          <a:ext cx="11018520" cy="420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/>
                <a:gridCol w="2844165"/>
                <a:gridCol w="2659380"/>
                <a:gridCol w="3521710"/>
              </a:tblGrid>
              <a:tr h="5416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Aspect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Leader–Follower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Multi-Leader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Leaderless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coordination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leader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leaders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designated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leader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Writes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accepted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by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Leader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leader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replicas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Read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scalability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followers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locality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Limited by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leader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location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Conflict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possibility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Relatively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lower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Higher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Higher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Failure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handling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Leader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failover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required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leaders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continue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leader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failover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required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challenge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Leader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failure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replication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lag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conflicts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Replica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divergence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coordination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Typical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use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General-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purpose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replication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region</a:t>
                      </a:r>
                      <a:r>
                        <a:rPr dirty="0" sz="16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systems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Highly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available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distributed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systems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3097"/>
            <a:ext cx="8362315" cy="496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Need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for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Distributed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Databases</a:t>
            </a:r>
            <a:endParaRPr sz="1800">
              <a:latin typeface="Times New Roman"/>
              <a:cs typeface="Times New Roman"/>
            </a:endParaRPr>
          </a:p>
          <a:p>
            <a:pPr lvl="1" marL="839469" indent="-285750">
              <a:lnSpc>
                <a:spcPct val="100000"/>
              </a:lnSpc>
              <a:buFont typeface="Wingdings"/>
              <a:buChar char=""/>
              <a:tabLst>
                <a:tab pos="839469" algn="l"/>
              </a:tabLst>
            </a:pPr>
            <a:r>
              <a:rPr dirty="0" sz="1800">
                <a:latin typeface="Times New Roman"/>
                <a:cs typeface="Times New Roman"/>
              </a:rPr>
              <a:t>Availability,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performance,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scalability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geographical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distribution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Centralized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vs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Distributed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Systems</a:t>
            </a:r>
            <a:endParaRPr sz="1800">
              <a:latin typeface="Times New Roman"/>
              <a:cs typeface="Times New Roman"/>
            </a:endParaRPr>
          </a:p>
          <a:p>
            <a:pPr lvl="1" marL="818515" indent="-264795">
              <a:lnSpc>
                <a:spcPct val="100000"/>
              </a:lnSpc>
              <a:buFont typeface="Wingdings"/>
              <a:buChar char=""/>
              <a:tabLst>
                <a:tab pos="818515" algn="l"/>
              </a:tabLst>
            </a:pPr>
            <a:r>
              <a:rPr dirty="0" sz="1800">
                <a:latin typeface="Times New Roman"/>
                <a:cs typeface="Times New Roman"/>
              </a:rPr>
              <a:t>Distribution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locality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availability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coordination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Distributed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Database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>
                <a:latin typeface="Times New Roman"/>
                <a:cs typeface="Times New Roman"/>
              </a:rPr>
              <a:t>Multiple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interconnected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sites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local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global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operations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>
                <a:latin typeface="Times New Roman"/>
                <a:cs typeface="Times New Roman"/>
              </a:rPr>
              <a:t>Homogeneous,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heterogeneous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multidatabase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environments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Challenges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Distributed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Systems</a:t>
            </a:r>
            <a:endParaRPr sz="1800">
              <a:latin typeface="Times New Roman"/>
              <a:cs typeface="Times New Roman"/>
            </a:endParaRPr>
          </a:p>
          <a:p>
            <a:pPr lvl="1" marL="818515" indent="-264795">
              <a:lnSpc>
                <a:spcPct val="100000"/>
              </a:lnSpc>
              <a:buFont typeface="Wingdings"/>
              <a:buChar char=""/>
              <a:tabLst>
                <a:tab pos="818515" algn="l"/>
              </a:tabLst>
            </a:pPr>
            <a:r>
              <a:rPr dirty="0" sz="1800">
                <a:latin typeface="Times New Roman"/>
                <a:cs typeface="Times New Roman"/>
              </a:rPr>
              <a:t>Communication,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failures,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consistency,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concurrency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coordination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Partitioning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/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Fragmentation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>
                <a:latin typeface="Times New Roman"/>
                <a:cs typeface="Times New Roman"/>
              </a:rPr>
              <a:t>Horizontal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fragmentation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>
                <a:latin typeface="Times New Roman"/>
                <a:cs typeface="Times New Roman"/>
              </a:rPr>
              <a:t>Primary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derived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horizontal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fragmentation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>
                <a:latin typeface="Times New Roman"/>
                <a:cs typeface="Times New Roman"/>
              </a:rPr>
              <a:t>Vertical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fragmentation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>
                <a:latin typeface="Times New Roman"/>
                <a:cs typeface="Times New Roman"/>
              </a:rPr>
              <a:t>Mixed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fragmentation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Allocation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Replication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 spc="-10">
                <a:latin typeface="Times New Roman"/>
                <a:cs typeface="Times New Roman"/>
              </a:rPr>
              <a:t>Non-</a:t>
            </a:r>
            <a:r>
              <a:rPr dirty="0" sz="1800">
                <a:latin typeface="Times New Roman"/>
                <a:cs typeface="Times New Roman"/>
              </a:rPr>
              <a:t>replicated,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partially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replicated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fully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replicated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>
                <a:latin typeface="Times New Roman"/>
                <a:cs typeface="Times New Roman"/>
              </a:rPr>
              <a:t>Synchronous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asynchronous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replication</a:t>
            </a:r>
            <a:endParaRPr sz="1800">
              <a:latin typeface="Times New Roman"/>
              <a:cs typeface="Times New Roman"/>
            </a:endParaRPr>
          </a:p>
          <a:p>
            <a:pPr lvl="1" marL="817880" indent="-264160">
              <a:lnSpc>
                <a:spcPct val="100000"/>
              </a:lnSpc>
              <a:buFont typeface="Wingdings"/>
              <a:buChar char=""/>
              <a:tabLst>
                <a:tab pos="817880" algn="l"/>
              </a:tabLst>
            </a:pPr>
            <a:r>
              <a:rPr dirty="0" sz="1800" spc="-10">
                <a:latin typeface="Times New Roman"/>
                <a:cs typeface="Times New Roman"/>
              </a:rPr>
              <a:t>Leader–</a:t>
            </a:r>
            <a:r>
              <a:rPr dirty="0" sz="1800">
                <a:latin typeface="Times New Roman"/>
                <a:cs typeface="Times New Roman"/>
              </a:rPr>
              <a:t>Follower,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Multi-</a:t>
            </a:r>
            <a:r>
              <a:rPr dirty="0" sz="1800">
                <a:latin typeface="Times New Roman"/>
                <a:cs typeface="Times New Roman"/>
              </a:rPr>
              <a:t>Leader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Leaderless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replication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88373" y="5649264"/>
            <a:ext cx="246697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150">
                <a:solidFill>
                  <a:srgbClr val="C0504D"/>
                </a:solidFill>
              </a:rPr>
              <a:t>Thank</a:t>
            </a:r>
            <a:r>
              <a:rPr dirty="0" sz="4200" spc="-235">
                <a:solidFill>
                  <a:srgbClr val="C0504D"/>
                </a:solidFill>
              </a:rPr>
              <a:t> </a:t>
            </a:r>
            <a:r>
              <a:rPr dirty="0" sz="4200" spc="-70">
                <a:solidFill>
                  <a:srgbClr val="C0504D"/>
                </a:solidFill>
              </a:rPr>
              <a:t>You</a:t>
            </a:r>
            <a:endParaRPr sz="42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 WILP</dc:creator>
  <dc:title>BITS Pilani presentation</dc:title>
  <dcterms:created xsi:type="dcterms:W3CDTF">2026-09-02T10:55:46Z</dcterms:created>
  <dcterms:modified xsi:type="dcterms:W3CDTF">2026-09-02T10:55:46Z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2026-09-02T00:00:00Z</vt:filetime>
  </property>
  <property fmtid="{D5CDD505-2E9C-101B-9397-08002B2CF9AE}" pid="6" name="Producer">
    <vt:lpwstr>3-Heights(TM) PDF Security Shell 4.8.25.2 (http://www.pdf-tools.com)</vt:lpwstr>
  </property>
</Properties>
</file>