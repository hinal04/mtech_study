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2484100" cy="7023100"/>
  <p:notesSz cx="12484100" cy="7023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479273" cy="701954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361688"/>
            <a:ext cx="12480036" cy="265785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4382515"/>
            <a:ext cx="12479655" cy="2637790"/>
          </a:xfrm>
          <a:custGeom>
            <a:avLst/>
            <a:gdLst/>
            <a:ahLst/>
            <a:cxnLst/>
            <a:rect l="l" t="t" r="r" b="b"/>
            <a:pathLst>
              <a:path w="12479655" h="2637790">
                <a:moveTo>
                  <a:pt x="12479274" y="0"/>
                </a:moveTo>
                <a:lnTo>
                  <a:pt x="0" y="0"/>
                </a:lnTo>
                <a:lnTo>
                  <a:pt x="0" y="2637409"/>
                </a:lnTo>
                <a:lnTo>
                  <a:pt x="12479274" y="2637409"/>
                </a:lnTo>
                <a:lnTo>
                  <a:pt x="124792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4382515"/>
            <a:ext cx="12479655" cy="2637790"/>
          </a:xfrm>
          <a:custGeom>
            <a:avLst/>
            <a:gdLst/>
            <a:ahLst/>
            <a:cxnLst/>
            <a:rect l="l" t="t" r="r" b="b"/>
            <a:pathLst>
              <a:path w="12479655" h="2637790">
                <a:moveTo>
                  <a:pt x="0" y="2637409"/>
                </a:moveTo>
                <a:lnTo>
                  <a:pt x="12479274" y="2637409"/>
                </a:lnTo>
                <a:lnTo>
                  <a:pt x="12479274" y="0"/>
                </a:lnTo>
                <a:lnTo>
                  <a:pt x="0" y="0"/>
                </a:lnTo>
                <a:lnTo>
                  <a:pt x="0" y="2637409"/>
                </a:lnTo>
                <a:close/>
              </a:path>
            </a:pathLst>
          </a:custGeom>
          <a:ln w="9525">
            <a:solidFill>
              <a:srgbClr val="497DBA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7480" y="37"/>
            <a:ext cx="2994152" cy="708494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3934459" y="6935425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6935425"/>
            <a:ext cx="3934460" cy="78105"/>
          </a:xfrm>
          <a:custGeom>
            <a:avLst/>
            <a:gdLst/>
            <a:ahLst/>
            <a:cxnLst/>
            <a:rect l="l" t="t" r="r" b="b"/>
            <a:pathLst>
              <a:path w="3934460" h="78104">
                <a:moveTo>
                  <a:pt x="3934400" y="0"/>
                </a:moveTo>
                <a:lnTo>
                  <a:pt x="0" y="0"/>
                </a:lnTo>
                <a:lnTo>
                  <a:pt x="0" y="77999"/>
                </a:lnTo>
                <a:lnTo>
                  <a:pt x="3934400" y="77999"/>
                </a:lnTo>
                <a:lnTo>
                  <a:pt x="39344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7886192" y="6935425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40239" y="802639"/>
            <a:ext cx="1675765" cy="467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49072" y="4698567"/>
            <a:ext cx="7835265" cy="1169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24205" y="1615313"/>
            <a:ext cx="5430583" cy="4635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429311" y="1615313"/>
            <a:ext cx="5430583" cy="46352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479273" cy="701954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3431958"/>
            <a:ext cx="11855450" cy="2807970"/>
          </a:xfrm>
          <a:custGeom>
            <a:avLst/>
            <a:gdLst/>
            <a:ahLst/>
            <a:cxnLst/>
            <a:rect l="l" t="t" r="r" b="b"/>
            <a:pathLst>
              <a:path w="11855450" h="2807970">
                <a:moveTo>
                  <a:pt x="11855323" y="0"/>
                </a:moveTo>
                <a:lnTo>
                  <a:pt x="0" y="0"/>
                </a:lnTo>
                <a:lnTo>
                  <a:pt x="0" y="2807969"/>
                </a:lnTo>
                <a:lnTo>
                  <a:pt x="11855323" y="2807969"/>
                </a:lnTo>
                <a:lnTo>
                  <a:pt x="11855323" y="0"/>
                </a:lnTo>
                <a:close/>
              </a:path>
            </a:pathLst>
          </a:custGeom>
          <a:solidFill>
            <a:srgbClr val="0F11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951732" y="6239932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6239932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2" y="0"/>
                </a:moveTo>
                <a:lnTo>
                  <a:pt x="0" y="0"/>
                </a:lnTo>
                <a:lnTo>
                  <a:pt x="0" y="77999"/>
                </a:lnTo>
                <a:lnTo>
                  <a:pt x="3951732" y="77999"/>
                </a:lnTo>
                <a:lnTo>
                  <a:pt x="39517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903591" y="6239932"/>
            <a:ext cx="3952240" cy="78105"/>
          </a:xfrm>
          <a:custGeom>
            <a:avLst/>
            <a:gdLst/>
            <a:ahLst/>
            <a:cxnLst/>
            <a:rect l="l" t="t" r="r" b="b"/>
            <a:pathLst>
              <a:path w="3952240" h="78104">
                <a:moveTo>
                  <a:pt x="3951731" y="0"/>
                </a:moveTo>
                <a:lnTo>
                  <a:pt x="0" y="0"/>
                </a:lnTo>
                <a:lnTo>
                  <a:pt x="0" y="77999"/>
                </a:lnTo>
                <a:lnTo>
                  <a:pt x="3951731" y="77999"/>
                </a:lnTo>
                <a:lnTo>
                  <a:pt x="395173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995" y="3431920"/>
            <a:ext cx="2807843" cy="20264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223768" y="132599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10" h="47625">
                <a:moveTo>
                  <a:pt x="3178302" y="0"/>
                </a:moveTo>
                <a:lnTo>
                  <a:pt x="0" y="0"/>
                </a:lnTo>
                <a:lnTo>
                  <a:pt x="0" y="47125"/>
                </a:lnTo>
                <a:lnTo>
                  <a:pt x="3178302" y="47125"/>
                </a:lnTo>
                <a:lnTo>
                  <a:pt x="317830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" y="1325997"/>
            <a:ext cx="3223895" cy="47625"/>
          </a:xfrm>
          <a:custGeom>
            <a:avLst/>
            <a:gdLst/>
            <a:ahLst/>
            <a:cxnLst/>
            <a:rect l="l" t="t" r="r" b="b"/>
            <a:pathLst>
              <a:path w="3223895" h="47625">
                <a:moveTo>
                  <a:pt x="3223768" y="0"/>
                </a:moveTo>
                <a:lnTo>
                  <a:pt x="0" y="0"/>
                </a:lnTo>
                <a:lnTo>
                  <a:pt x="0" y="47125"/>
                </a:lnTo>
                <a:lnTo>
                  <a:pt x="3223768" y="47125"/>
                </a:lnTo>
                <a:lnTo>
                  <a:pt x="3223768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389115" y="132599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09" h="47625">
                <a:moveTo>
                  <a:pt x="3178301" y="0"/>
                </a:moveTo>
                <a:lnTo>
                  <a:pt x="0" y="0"/>
                </a:lnTo>
                <a:lnTo>
                  <a:pt x="0" y="47125"/>
                </a:lnTo>
                <a:lnTo>
                  <a:pt x="3178301" y="47125"/>
                </a:lnTo>
                <a:lnTo>
                  <a:pt x="317830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135623" y="670792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09" h="47625">
                <a:moveTo>
                  <a:pt x="3178302" y="0"/>
                </a:moveTo>
                <a:lnTo>
                  <a:pt x="0" y="0"/>
                </a:lnTo>
                <a:lnTo>
                  <a:pt x="0" y="47125"/>
                </a:lnTo>
                <a:lnTo>
                  <a:pt x="3178302" y="47125"/>
                </a:lnTo>
                <a:lnTo>
                  <a:pt x="317830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2911855" y="6707927"/>
            <a:ext cx="3223895" cy="47625"/>
          </a:xfrm>
          <a:custGeom>
            <a:avLst/>
            <a:gdLst/>
            <a:ahLst/>
            <a:cxnLst/>
            <a:rect l="l" t="t" r="r" b="b"/>
            <a:pathLst>
              <a:path w="3223895" h="47625">
                <a:moveTo>
                  <a:pt x="3223768" y="0"/>
                </a:moveTo>
                <a:lnTo>
                  <a:pt x="0" y="0"/>
                </a:lnTo>
                <a:lnTo>
                  <a:pt x="0" y="47125"/>
                </a:lnTo>
                <a:lnTo>
                  <a:pt x="3223768" y="47125"/>
                </a:lnTo>
                <a:lnTo>
                  <a:pt x="3223768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00971" y="6707927"/>
            <a:ext cx="3178810" cy="47625"/>
          </a:xfrm>
          <a:custGeom>
            <a:avLst/>
            <a:gdLst/>
            <a:ahLst/>
            <a:cxnLst/>
            <a:rect l="l" t="t" r="r" b="b"/>
            <a:pathLst>
              <a:path w="3178809" h="47625">
                <a:moveTo>
                  <a:pt x="3178302" y="0"/>
                </a:moveTo>
                <a:lnTo>
                  <a:pt x="0" y="0"/>
                </a:lnTo>
                <a:lnTo>
                  <a:pt x="0" y="47125"/>
                </a:lnTo>
                <a:lnTo>
                  <a:pt x="3178302" y="47125"/>
                </a:lnTo>
                <a:lnTo>
                  <a:pt x="317830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47480" y="37"/>
            <a:ext cx="2994152" cy="70849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1561" y="380237"/>
            <a:ext cx="827341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accent2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0740" y="3180841"/>
            <a:ext cx="10475595" cy="3465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904226" y="6794877"/>
            <a:ext cx="4478020" cy="182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0F114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24205" y="6531483"/>
            <a:ext cx="2871343" cy="351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988552" y="6531483"/>
            <a:ext cx="2871343" cy="351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hyperlink" Target="https://medium.com/%40matheesha27/transaction-states-acid-properties-in-a-dbms-94197273a14a" TargetMode="Externa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808217" y="4233493"/>
            <a:ext cx="5790565" cy="6972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4400" spc="-180" b="1">
                <a:solidFill>
                  <a:srgbClr val="FFFFFF"/>
                </a:solidFill>
                <a:latin typeface="Times New Roman"/>
                <a:cs typeface="Times New Roman"/>
              </a:rPr>
              <a:t>Modern</a:t>
            </a:r>
            <a:r>
              <a:rPr dirty="0" sz="4400" spc="-3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400" spc="-185" b="1">
                <a:solidFill>
                  <a:srgbClr val="FFFFFF"/>
                </a:solidFill>
                <a:latin typeface="Times New Roman"/>
                <a:cs typeface="Times New Roman"/>
              </a:rPr>
              <a:t>Database</a:t>
            </a:r>
            <a:r>
              <a:rPr dirty="0" sz="4400" spc="-3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4400" spc="-155" b="1">
                <a:solidFill>
                  <a:srgbClr val="FFFFFF"/>
                </a:solidFill>
                <a:latin typeface="Times New Roman"/>
                <a:cs typeface="Times New Roman"/>
              </a:rPr>
              <a:t>Systems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88263" y="5405424"/>
            <a:ext cx="1663064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900" spc="-140" b="1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dirty="0" sz="2900" spc="-2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114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78872" y="5536488"/>
            <a:ext cx="1835150" cy="508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1895"/>
              </a:lnSpc>
              <a:spcBef>
                <a:spcPts val="105"/>
              </a:spcBef>
            </a:pP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Prof.</a:t>
            </a:r>
            <a:r>
              <a:rPr dirty="0" sz="175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>
                <a:solidFill>
                  <a:srgbClr val="FFFFFF"/>
                </a:solidFill>
                <a:latin typeface="Times New Roman"/>
                <a:cs typeface="Times New Roman"/>
              </a:rPr>
              <a:t>Ashish</a:t>
            </a:r>
            <a:r>
              <a:rPr dirty="0" sz="175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FFFFFF"/>
                </a:solidFill>
                <a:latin typeface="Times New Roman"/>
                <a:cs typeface="Times New Roman"/>
              </a:rPr>
              <a:t>Narang</a:t>
            </a:r>
            <a:endParaRPr sz="1750">
              <a:latin typeface="Times New Roman"/>
              <a:cs typeface="Times New Roman"/>
            </a:endParaRPr>
          </a:p>
          <a:p>
            <a:pPr algn="r" marR="5080">
              <a:lnSpc>
                <a:spcPts val="1895"/>
              </a:lnSpc>
            </a:pPr>
            <a:r>
              <a:rPr dirty="0" sz="1750" spc="-20">
                <a:solidFill>
                  <a:srgbClr val="FFFFFF"/>
                </a:solidFill>
                <a:latin typeface="Times New Roman"/>
                <a:cs typeface="Times New Roman"/>
              </a:rPr>
              <a:t>CSIS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-140">
                <a:solidFill>
                  <a:srgbClr val="FFFFFF"/>
                </a:solidFill>
                <a:latin typeface="Arial"/>
                <a:cs typeface="Arial"/>
              </a:rPr>
              <a:t>BITS</a:t>
            </a:r>
            <a:r>
              <a:rPr dirty="0" sz="2900" spc="-2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114" b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93345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735"/>
              </a:spcBef>
            </a:pPr>
            <a:r>
              <a:rPr dirty="0" sz="4000" spc="-204" b="1">
                <a:solidFill>
                  <a:srgbClr val="C0504D"/>
                </a:solidFill>
                <a:latin typeface="Times New Roman"/>
                <a:cs typeface="Times New Roman"/>
              </a:rPr>
              <a:t>&lt;SSZG507,</a:t>
            </a:r>
            <a:r>
              <a:rPr dirty="0" sz="4000" spc="-31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204" b="1">
                <a:solidFill>
                  <a:srgbClr val="C0504D"/>
                </a:solidFill>
                <a:latin typeface="Times New Roman"/>
                <a:cs typeface="Times New Roman"/>
              </a:rPr>
              <a:t>Modern</a:t>
            </a:r>
            <a:r>
              <a:rPr dirty="0" sz="4000" spc="-32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204" b="1">
                <a:solidFill>
                  <a:srgbClr val="C0504D"/>
                </a:solidFill>
                <a:latin typeface="Times New Roman"/>
                <a:cs typeface="Times New Roman"/>
              </a:rPr>
              <a:t>Database</a:t>
            </a:r>
            <a:r>
              <a:rPr dirty="0" sz="4000" spc="-30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140" b="1">
                <a:solidFill>
                  <a:srgbClr val="C0504D"/>
                </a:solidFill>
                <a:latin typeface="Times New Roman"/>
                <a:cs typeface="Times New Roman"/>
              </a:rPr>
              <a:t>Systems&gt; </a:t>
            </a:r>
            <a:r>
              <a:rPr dirty="0" sz="4000" spc="-200" b="1">
                <a:solidFill>
                  <a:srgbClr val="C0504D"/>
                </a:solidFill>
                <a:latin typeface="Times New Roman"/>
                <a:cs typeface="Times New Roman"/>
              </a:rPr>
              <a:t>Lecture</a:t>
            </a:r>
            <a:r>
              <a:rPr dirty="0" sz="4000" spc="-34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165" b="1">
                <a:solidFill>
                  <a:srgbClr val="C0504D"/>
                </a:solidFill>
                <a:latin typeface="Times New Roman"/>
                <a:cs typeface="Times New Roman"/>
              </a:rPr>
              <a:t>No.</a:t>
            </a:r>
            <a:r>
              <a:rPr dirty="0" sz="4000" spc="-330" b="1">
                <a:solidFill>
                  <a:srgbClr val="C0504D"/>
                </a:solidFill>
                <a:latin typeface="Times New Roman"/>
                <a:cs typeface="Times New Roman"/>
              </a:rPr>
              <a:t> </a:t>
            </a:r>
            <a:r>
              <a:rPr dirty="0" sz="4000" spc="-50" b="1">
                <a:solidFill>
                  <a:srgbClr val="C0504D"/>
                </a:solidFill>
                <a:latin typeface="Times New Roman"/>
                <a:cs typeface="Times New Roman"/>
              </a:rPr>
              <a:t>2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164083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548" y="1140079"/>
            <a:ext cx="8135620" cy="551307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Introduction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 </a:t>
            </a:r>
            <a:r>
              <a:rPr dirty="0" sz="2400" spc="-25">
                <a:latin typeface="Times New Roman"/>
                <a:cs typeface="Times New Roman"/>
              </a:rPr>
              <a:t>SQL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Command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Categories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Definition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Language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(DDL)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Statements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Manipulation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Language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(DML)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Statements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Retrieval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 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SELECT </a:t>
            </a:r>
            <a:r>
              <a:rPr dirty="0" sz="2400" spc="-10"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Joins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Subqueries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Transaction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Basics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ACID</a:t>
            </a:r>
            <a:r>
              <a:rPr dirty="0" sz="2400" spc="-10">
                <a:latin typeface="Times New Roman"/>
                <a:cs typeface="Times New Roman"/>
              </a:rPr>
              <a:t> Properties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Schema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Evolution,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Versioning,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Denormalisation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Limitations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Motivation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NoSQL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20872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Why</a:t>
            </a:r>
            <a:r>
              <a:rPr dirty="0" spc="-290"/>
              <a:t> </a:t>
            </a:r>
            <a:r>
              <a:rPr dirty="0" spc="-110"/>
              <a:t>SQL?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169" y="1166621"/>
            <a:ext cx="11369675" cy="551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501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4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databases</a:t>
            </a:r>
            <a:r>
              <a:rPr dirty="0" sz="2400" spc="4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large</a:t>
            </a:r>
            <a:r>
              <a:rPr dirty="0" sz="2400" spc="4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volumes</a:t>
            </a:r>
            <a:r>
              <a:rPr dirty="0" sz="2400" spc="4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structured</a:t>
            </a:r>
            <a:r>
              <a:rPr dirty="0" sz="2400" spc="4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tables.</a:t>
            </a:r>
            <a:r>
              <a:rPr dirty="0" sz="2400" spc="4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40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425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>
                <a:latin typeface="Times New Roman"/>
                <a:cs typeface="Times New Roman"/>
              </a:rPr>
              <a:t>standard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way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interact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this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efficiently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consistently.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 b="1">
                <a:latin typeface="Times New Roman"/>
                <a:cs typeface="Times New Roman"/>
              </a:rPr>
              <a:t>SQL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enables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to:</a:t>
            </a:r>
            <a:endParaRPr sz="2400">
              <a:latin typeface="Times New Roman"/>
              <a:cs typeface="Times New Roman"/>
            </a:endParaRPr>
          </a:p>
          <a:p>
            <a:pPr lvl="1" marL="640080" indent="-27432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640080" algn="l"/>
              </a:tabLst>
            </a:pPr>
            <a:r>
              <a:rPr dirty="0" sz="2400" b="1">
                <a:latin typeface="Times New Roman"/>
                <a:cs typeface="Times New Roman"/>
              </a:rPr>
              <a:t>Create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tables.</a:t>
            </a:r>
            <a:endParaRPr sz="2400">
              <a:latin typeface="Times New Roman"/>
              <a:cs typeface="Times New Roman"/>
            </a:endParaRPr>
          </a:p>
          <a:p>
            <a:pPr lvl="1" marL="640080" indent="-27432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640080" algn="l"/>
              </a:tabLst>
            </a:pPr>
            <a:r>
              <a:rPr dirty="0" sz="2400" b="1">
                <a:latin typeface="Times New Roman"/>
                <a:cs typeface="Times New Roman"/>
              </a:rPr>
              <a:t>Insert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new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records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into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tables.</a:t>
            </a:r>
            <a:endParaRPr sz="2400">
              <a:latin typeface="Times New Roman"/>
              <a:cs typeface="Times New Roman"/>
            </a:endParaRPr>
          </a:p>
          <a:p>
            <a:pPr lvl="1" marL="640080" indent="-27432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640080" algn="l"/>
              </a:tabLst>
            </a:pPr>
            <a:r>
              <a:rPr dirty="0" sz="2400" b="1">
                <a:latin typeface="Times New Roman"/>
                <a:cs typeface="Times New Roman"/>
              </a:rPr>
              <a:t>Retrieve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specific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information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more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tables.</a:t>
            </a:r>
            <a:endParaRPr sz="2400">
              <a:latin typeface="Times New Roman"/>
              <a:cs typeface="Times New Roman"/>
            </a:endParaRPr>
          </a:p>
          <a:p>
            <a:pPr lvl="1" marL="640080" indent="-27432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640080" algn="l"/>
              </a:tabLst>
            </a:pPr>
            <a:r>
              <a:rPr dirty="0" sz="2400" b="1">
                <a:latin typeface="Times New Roman"/>
                <a:cs typeface="Times New Roman"/>
              </a:rPr>
              <a:t>Update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existing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records.</a:t>
            </a:r>
            <a:endParaRPr sz="2400">
              <a:latin typeface="Times New Roman"/>
              <a:cs typeface="Times New Roman"/>
            </a:endParaRPr>
          </a:p>
          <a:p>
            <a:pPr lvl="1" marL="640080" indent="-274320">
              <a:lnSpc>
                <a:spcPct val="100000"/>
              </a:lnSpc>
              <a:spcBef>
                <a:spcPts val="1445"/>
              </a:spcBef>
              <a:buFont typeface="Arial"/>
              <a:buChar char="•"/>
              <a:tabLst>
                <a:tab pos="640080" algn="l"/>
              </a:tabLst>
            </a:pPr>
            <a:r>
              <a:rPr dirty="0" sz="2400" b="1">
                <a:latin typeface="Times New Roman"/>
                <a:cs typeface="Times New Roman"/>
              </a:rPr>
              <a:t>Delete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unwanted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records.</a:t>
            </a:r>
            <a:endParaRPr sz="2400">
              <a:latin typeface="Times New Roman"/>
              <a:cs typeface="Times New Roman"/>
            </a:endParaRPr>
          </a:p>
          <a:p>
            <a:pPr lvl="1" marL="640080" indent="-27432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640080" algn="l"/>
              </a:tabLst>
            </a:pPr>
            <a:r>
              <a:rPr dirty="0" sz="2400" b="1">
                <a:latin typeface="Times New Roman"/>
                <a:cs typeface="Times New Roman"/>
              </a:rPr>
              <a:t>Manage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transactions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maintain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integrity.</a:t>
            </a:r>
            <a:endParaRPr sz="2400">
              <a:latin typeface="Times New Roman"/>
              <a:cs typeface="Times New Roman"/>
            </a:endParaRPr>
          </a:p>
          <a:p>
            <a:pPr lvl="1" marL="640080" indent="-27432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640080" algn="l"/>
              </a:tabLst>
            </a:pPr>
            <a:r>
              <a:rPr dirty="0" sz="2400" b="1">
                <a:latin typeface="Times New Roman"/>
                <a:cs typeface="Times New Roman"/>
              </a:rPr>
              <a:t>Control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access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permissions.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Where</a:t>
            </a:r>
            <a:r>
              <a:rPr dirty="0" spc="-245"/>
              <a:t> </a:t>
            </a:r>
            <a:r>
              <a:rPr dirty="0" spc="-114"/>
              <a:t>SQL</a:t>
            </a:r>
            <a:r>
              <a:rPr dirty="0" spc="-270"/>
              <a:t> </a:t>
            </a:r>
            <a:r>
              <a:rPr dirty="0" spc="-135"/>
              <a:t>Fits</a:t>
            </a:r>
            <a:r>
              <a:rPr dirty="0" spc="-245"/>
              <a:t> </a:t>
            </a:r>
            <a:r>
              <a:rPr dirty="0" spc="-90"/>
              <a:t>in</a:t>
            </a:r>
            <a:r>
              <a:rPr dirty="0" spc="-275"/>
              <a:t> </a:t>
            </a:r>
            <a:r>
              <a:rPr dirty="0" spc="-120"/>
              <a:t>the</a:t>
            </a:r>
            <a:r>
              <a:rPr dirty="0" spc="-270"/>
              <a:t> </a:t>
            </a:r>
            <a:r>
              <a:rPr dirty="0" spc="-145"/>
              <a:t>Database</a:t>
            </a:r>
            <a:r>
              <a:rPr dirty="0" spc="-240"/>
              <a:t> </a:t>
            </a:r>
            <a:r>
              <a:rPr dirty="0" spc="-130"/>
              <a:t>Architecture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60933" y="1533524"/>
            <a:ext cx="8472170" cy="486092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600"/>
              </a:spcBef>
            </a:pPr>
            <a:r>
              <a:rPr dirty="0" sz="2400" b="1">
                <a:latin typeface="Times New Roman"/>
                <a:cs typeface="Times New Roman"/>
              </a:rPr>
              <a:t>SQL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Relational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Database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  <a:p>
            <a:pPr algn="just" marL="353060" marR="5080" indent="-34036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3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acts</a:t>
            </a:r>
            <a:r>
              <a:rPr dirty="0" sz="2400" spc="3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3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3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interface</a:t>
            </a:r>
            <a:r>
              <a:rPr dirty="0" sz="2400" spc="3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between</a:t>
            </a:r>
            <a:r>
              <a:rPr dirty="0" sz="2400" spc="3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users</a:t>
            </a:r>
            <a:r>
              <a:rPr dirty="0" sz="2400" spc="3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3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applications</a:t>
            </a:r>
            <a:r>
              <a:rPr dirty="0" sz="2400" spc="3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30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the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4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4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management</a:t>
            </a:r>
            <a:r>
              <a:rPr dirty="0" sz="2400" spc="4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system</a:t>
            </a:r>
            <a:r>
              <a:rPr dirty="0" sz="2400" spc="45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(RDBMS).</a:t>
            </a:r>
            <a:r>
              <a:rPr dirty="0" sz="2400" spc="48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Users</a:t>
            </a:r>
            <a:r>
              <a:rPr dirty="0" sz="2400" spc="48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issue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1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statements,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which</a:t>
            </a:r>
            <a:r>
              <a:rPr dirty="0" sz="2400" spc="1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20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processed</a:t>
            </a:r>
            <a:r>
              <a:rPr dirty="0" sz="2400" spc="1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1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DBMS</a:t>
            </a:r>
            <a:r>
              <a:rPr dirty="0" sz="2400" spc="1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1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access</a:t>
            </a:r>
            <a:r>
              <a:rPr dirty="0" sz="2400" spc="20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or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modify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database.</a:t>
            </a:r>
            <a:endParaRPr sz="2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495"/>
              </a:spcBef>
            </a:pPr>
            <a:r>
              <a:rPr dirty="0" sz="2400" b="1">
                <a:latin typeface="Times New Roman"/>
                <a:cs typeface="Times New Roman"/>
              </a:rPr>
              <a:t>Key </a:t>
            </a:r>
            <a:r>
              <a:rPr dirty="0" sz="2400" spc="-10" b="1">
                <a:latin typeface="Times New Roman"/>
                <a:cs typeface="Times New Roman"/>
              </a:rPr>
              <a:t>Points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Applications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communicate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-20">
                <a:latin typeface="Times New Roman"/>
                <a:cs typeface="Times New Roman"/>
              </a:rPr>
              <a:t> SQL.</a:t>
            </a:r>
            <a:endParaRPr sz="2400">
              <a:latin typeface="Times New Roman"/>
              <a:cs typeface="Times New Roman"/>
            </a:endParaRPr>
          </a:p>
          <a:p>
            <a:pPr marL="355600" marR="844550" indent="-3429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DBMS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interprets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optimises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statements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before execution.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physically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storage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manager.</a:t>
            </a:r>
            <a:endParaRPr sz="2400">
              <a:latin typeface="Times New Roman"/>
              <a:cs typeface="Times New Roman"/>
            </a:endParaRPr>
          </a:p>
          <a:p>
            <a:pPr marL="355600" marR="149225" indent="-3429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logical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view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hiding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low-level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storage </a:t>
            </a:r>
            <a:r>
              <a:rPr dirty="0" sz="2400">
                <a:latin typeface="Times New Roman"/>
                <a:cs typeface="Times New Roman"/>
              </a:rPr>
              <a:t>details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from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users.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3751" y="1574837"/>
            <a:ext cx="3001645" cy="46868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4"/>
              <a:t>SQL</a:t>
            </a:r>
            <a:r>
              <a:rPr dirty="0" spc="-270"/>
              <a:t> </a:t>
            </a:r>
            <a:r>
              <a:rPr dirty="0" spc="-150"/>
              <a:t>Command</a:t>
            </a:r>
            <a:r>
              <a:rPr dirty="0" spc="-235"/>
              <a:t> </a:t>
            </a:r>
            <a:r>
              <a:rPr dirty="0" spc="-135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700910"/>
            <a:ext cx="1019873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different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categories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commands, each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serving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specific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purpose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defining,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manipulating,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retrieving,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securing,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managing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database.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7537" y="2850768"/>
          <a:ext cx="11320780" cy="3046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43960"/>
                <a:gridCol w="3743960"/>
                <a:gridCol w="3743960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Category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Common</a:t>
                      </a:r>
                      <a:r>
                        <a:rPr dirty="0" sz="2000" spc="-6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Commands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DDL</a:t>
                      </a:r>
                      <a:r>
                        <a:rPr dirty="0" sz="16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(Data</a:t>
                      </a:r>
                      <a:r>
                        <a:rPr dirty="0" sz="16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Definition</a:t>
                      </a:r>
                      <a:r>
                        <a:rPr dirty="0" sz="16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Language)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Defines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modifies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schema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objects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CREATE,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ALTER,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DROP,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TRUNCATE,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DML</a:t>
                      </a:r>
                      <a:r>
                        <a:rPr dirty="0" sz="16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(Data</a:t>
                      </a:r>
                      <a:r>
                        <a:rPr dirty="0" sz="16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Manipulation</a:t>
                      </a:r>
                      <a:r>
                        <a:rPr dirty="0" sz="16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Language)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1780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Inserts,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updates,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deletes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stored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tables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INSERT,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UPDATE,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DELETE,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MERGE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DQL</a:t>
                      </a:r>
                      <a:r>
                        <a:rPr dirty="0" sz="16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(Data</a:t>
                      </a:r>
                      <a:r>
                        <a:rPr dirty="0" sz="16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Query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Language)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Retrieves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6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tables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SELECT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TCL</a:t>
                      </a:r>
                      <a:r>
                        <a:rPr dirty="0" sz="16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(Transaction</a:t>
                      </a:r>
                      <a:r>
                        <a:rPr dirty="0" sz="16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6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Language)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43560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Manages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transactions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ensure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reliable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execution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operations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COMMIT,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ROLLBACK,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SAVEPOINT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DCL</a:t>
                      </a:r>
                      <a:r>
                        <a:rPr dirty="0" sz="16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(Data</a:t>
                      </a:r>
                      <a:r>
                        <a:rPr dirty="0" sz="16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Language)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734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Controls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privileges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objects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GRANT,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REVOKE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59086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Data</a:t>
            </a:r>
            <a:r>
              <a:rPr dirty="0" spc="-240"/>
              <a:t> </a:t>
            </a:r>
            <a:r>
              <a:rPr dirty="0" spc="-155"/>
              <a:t>Definition</a:t>
            </a:r>
            <a:r>
              <a:rPr dirty="0" spc="-195"/>
              <a:t> </a:t>
            </a:r>
            <a:r>
              <a:rPr dirty="0" spc="-145"/>
              <a:t>Language</a:t>
            </a:r>
            <a:r>
              <a:rPr dirty="0" spc="-215"/>
              <a:t> </a:t>
            </a:r>
            <a:r>
              <a:rPr dirty="0" spc="-90"/>
              <a:t>(DDL)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3313" y="1789887"/>
            <a:ext cx="10569575" cy="1031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imes New Roman"/>
                <a:cs typeface="Times New Roman"/>
              </a:rPr>
              <a:t>Data</a:t>
            </a:r>
            <a:r>
              <a:rPr dirty="0" sz="2200" spc="114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Definition</a:t>
            </a:r>
            <a:r>
              <a:rPr dirty="0" sz="2200" spc="114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Language</a:t>
            </a:r>
            <a:r>
              <a:rPr dirty="0" sz="2200" spc="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(DDL)</a:t>
            </a:r>
            <a:r>
              <a:rPr dirty="0" sz="2200" spc="10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consists</a:t>
            </a:r>
            <a:r>
              <a:rPr dirty="0" sz="2200" spc="1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1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SQL</a:t>
            </a:r>
            <a:r>
              <a:rPr dirty="0" sz="2200" spc="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commands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used</a:t>
            </a:r>
            <a:r>
              <a:rPr dirty="0" sz="2200" spc="10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110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define,</a:t>
            </a:r>
            <a:r>
              <a:rPr dirty="0" sz="2200" spc="10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modify,</a:t>
            </a:r>
            <a:r>
              <a:rPr dirty="0" sz="2200" spc="114" b="1">
                <a:latin typeface="Times New Roman"/>
                <a:cs typeface="Times New Roman"/>
              </a:rPr>
              <a:t> </a:t>
            </a:r>
            <a:r>
              <a:rPr dirty="0" sz="2200" spc="-25" b="1">
                <a:latin typeface="Times New Roman"/>
                <a:cs typeface="Times New Roman"/>
              </a:rPr>
              <a:t>and </a:t>
            </a:r>
            <a:r>
              <a:rPr dirty="0" sz="2200" b="1">
                <a:latin typeface="Times New Roman"/>
                <a:cs typeface="Times New Roman"/>
              </a:rPr>
              <a:t>manage</a:t>
            </a:r>
            <a:r>
              <a:rPr dirty="0" sz="2200" spc="21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</a:t>
            </a:r>
            <a:r>
              <a:rPr dirty="0" sz="2200" spc="2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structure</a:t>
            </a:r>
            <a:r>
              <a:rPr dirty="0" sz="2200" spc="204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2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database</a:t>
            </a:r>
            <a:r>
              <a:rPr dirty="0" sz="2200" spc="21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objects</a:t>
            </a:r>
            <a:r>
              <a:rPr dirty="0" sz="2200">
                <a:latin typeface="Times New Roman"/>
                <a:cs typeface="Times New Roman"/>
              </a:rPr>
              <a:t>.</a:t>
            </a:r>
            <a:r>
              <a:rPr dirty="0" sz="2200" spc="2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These</a:t>
            </a:r>
            <a:r>
              <a:rPr dirty="0" sz="2200" spc="2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commands</a:t>
            </a:r>
            <a:r>
              <a:rPr dirty="0" sz="2200" spc="204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affect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21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database</a:t>
            </a:r>
            <a:r>
              <a:rPr dirty="0" sz="2200" spc="21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schema </a:t>
            </a:r>
            <a:r>
              <a:rPr dirty="0" sz="2200">
                <a:latin typeface="Times New Roman"/>
                <a:cs typeface="Times New Roman"/>
              </a:rPr>
              <a:t>rather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than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stored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within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tables.</a:t>
            </a:r>
            <a:endParaRPr sz="2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0747" y="3030727"/>
          <a:ext cx="10414000" cy="32277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6325"/>
                <a:gridCol w="7978775"/>
              </a:tblGrid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Command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2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40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CREATE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09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44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Creates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objects</a:t>
                      </a:r>
                      <a:r>
                        <a:rPr dirty="0" sz="2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databases,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tables,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views,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2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indexes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ALTER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Modifies</a:t>
                      </a:r>
                      <a:r>
                        <a:rPr dirty="0" sz="2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dirty="0" sz="2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object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DROP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7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Permanently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removes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2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object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0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TRUNCATE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Removes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preserving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structure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1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RENAME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097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1780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dirty="0" sz="2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2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dirty="0" sz="2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i="1">
                          <a:latin typeface="Times New Roman"/>
                          <a:cs typeface="Times New Roman"/>
                        </a:rPr>
                        <a:t>(supported</a:t>
                      </a:r>
                      <a:r>
                        <a:rPr dirty="0" sz="2200" spc="-6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i="1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2200" spc="-5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20" i="1">
                          <a:latin typeface="Times New Roman"/>
                          <a:cs typeface="Times New Roman"/>
                        </a:rPr>
                        <a:t>many </a:t>
                      </a:r>
                      <a:r>
                        <a:rPr dirty="0" sz="2200" spc="-10" i="1">
                          <a:latin typeface="Times New Roman"/>
                          <a:cs typeface="Times New Roman"/>
                        </a:rPr>
                        <a:t>DBMSs)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CREATE</a:t>
            </a:r>
            <a:r>
              <a:rPr dirty="0" spc="-245"/>
              <a:t> </a:t>
            </a:r>
            <a:r>
              <a:rPr dirty="0" spc="-140"/>
              <a:t>TABLE</a:t>
            </a:r>
            <a:r>
              <a:rPr dirty="0" spc="-254"/>
              <a:t> </a:t>
            </a:r>
            <a:r>
              <a:rPr dirty="0" spc="-125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0049"/>
            <a:ext cx="10685145" cy="1064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CREATE TABLE</a:t>
            </a:r>
            <a:r>
              <a:rPr dirty="0" sz="1800" spc="1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statement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used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define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new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specifying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columns,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types,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constraints.</a:t>
            </a: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 b="1">
                <a:latin typeface="Times New Roman"/>
                <a:cs typeface="Times New Roman"/>
              </a:rPr>
              <a:t>General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Syntax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5190" y="2770758"/>
            <a:ext cx="6092825" cy="1384935"/>
          </a:xfrm>
          <a:custGeom>
            <a:avLst/>
            <a:gdLst/>
            <a:ahLst/>
            <a:cxnLst/>
            <a:rect l="l" t="t" r="r" b="b"/>
            <a:pathLst>
              <a:path w="6092825" h="1384935">
                <a:moveTo>
                  <a:pt x="0" y="1384935"/>
                </a:moveTo>
                <a:lnTo>
                  <a:pt x="6092698" y="1384935"/>
                </a:lnTo>
                <a:lnTo>
                  <a:pt x="6092698" y="0"/>
                </a:lnTo>
                <a:lnTo>
                  <a:pt x="0" y="0"/>
                </a:lnTo>
                <a:lnTo>
                  <a:pt x="0" y="1384935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72490" y="2770758"/>
          <a:ext cx="3893185" cy="1384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1270"/>
                <a:gridCol w="957580"/>
                <a:gridCol w="1575435"/>
              </a:tblGrid>
              <a:tr h="475615">
                <a:tc gridSpan="3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00">
                          <a:latin typeface="Courier New"/>
                          <a:cs typeface="Courier New"/>
                        </a:rPr>
                        <a:t>CREATE</a:t>
                      </a:r>
                      <a:r>
                        <a:rPr dirty="0" sz="1400" spc="-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>
                          <a:latin typeface="Courier New"/>
                          <a:cs typeface="Courier New"/>
                        </a:rPr>
                        <a:t>TABLE</a:t>
                      </a:r>
                      <a:r>
                        <a:rPr dirty="0" sz="14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>
                          <a:latin typeface="Courier New"/>
                          <a:cs typeface="Courier New"/>
                        </a:rPr>
                        <a:t>table_name</a:t>
                      </a:r>
                      <a:r>
                        <a:rPr dirty="0" sz="1400" spc="-50">
                          <a:latin typeface="Courier New"/>
                          <a:cs typeface="Courier New"/>
                        </a:rPr>
                        <a:t> (</a:t>
                      </a:r>
                      <a:endParaRPr sz="1400">
                        <a:latin typeface="Courier New"/>
                        <a:cs typeface="Courier New"/>
                      </a:endParaRPr>
                    </a:p>
                    <a:p>
                      <a:pPr marL="472440">
                        <a:lnSpc>
                          <a:spcPct val="100000"/>
                        </a:lnSpc>
                      </a:pPr>
                      <a:r>
                        <a:rPr dirty="0" sz="1400">
                          <a:latin typeface="Courier New"/>
                          <a:cs typeface="Courier New"/>
                        </a:rPr>
                        <a:t>column1</a:t>
                      </a:r>
                      <a:r>
                        <a:rPr dirty="0" sz="1400" spc="-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>
                          <a:latin typeface="Courier New"/>
                          <a:cs typeface="Courier New"/>
                        </a:rPr>
                        <a:t>datatype</a:t>
                      </a:r>
                      <a:r>
                        <a:rPr dirty="0" sz="1400" spc="-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400" spc="-10">
                          <a:latin typeface="Courier New"/>
                          <a:cs typeface="Courier New"/>
                        </a:rPr>
                        <a:t>[constraints],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2540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3360">
                <a:tc>
                  <a:txBody>
                    <a:bodyPr/>
                    <a:lstStyle/>
                    <a:p>
                      <a:pPr algn="r" marR="43815">
                        <a:lnSpc>
                          <a:spcPts val="1495"/>
                        </a:lnSpc>
                      </a:pPr>
                      <a:r>
                        <a:rPr dirty="0" sz="1400" spc="-10">
                          <a:latin typeface="Courier New"/>
                          <a:cs typeface="Courier New"/>
                        </a:rPr>
                        <a:t>column2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495"/>
                        </a:lnSpc>
                      </a:pPr>
                      <a:r>
                        <a:rPr dirty="0" sz="1400" spc="-10">
                          <a:latin typeface="Courier New"/>
                          <a:cs typeface="Courier New"/>
                        </a:rPr>
                        <a:t>datatype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1495"/>
                        </a:lnSpc>
                      </a:pPr>
                      <a:r>
                        <a:rPr dirty="0" sz="1400" spc="-10">
                          <a:latin typeface="Courier New"/>
                          <a:cs typeface="Courier New"/>
                        </a:rPr>
                        <a:t>[constraints],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dirty="0" sz="1400" spc="-25">
                          <a:latin typeface="Courier New"/>
                          <a:cs typeface="Courier New"/>
                        </a:rPr>
                        <a:t>...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13360">
                <a:tc>
                  <a:txBody>
                    <a:bodyPr/>
                    <a:lstStyle/>
                    <a:p>
                      <a:pPr algn="r" marR="44450">
                        <a:lnSpc>
                          <a:spcPts val="1495"/>
                        </a:lnSpc>
                      </a:pPr>
                      <a:r>
                        <a:rPr dirty="0" sz="1400" spc="-10">
                          <a:latin typeface="Courier New"/>
                          <a:cs typeface="Courier New"/>
                        </a:rPr>
                        <a:t>columnN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5"/>
                        </a:lnSpc>
                      </a:pPr>
                      <a:r>
                        <a:rPr dirty="0" sz="1400" spc="-10">
                          <a:latin typeface="Courier New"/>
                          <a:cs typeface="Courier New"/>
                        </a:rPr>
                        <a:t>datatype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ts val="1495"/>
                        </a:lnSpc>
                      </a:pPr>
                      <a:r>
                        <a:rPr dirty="0" sz="1400" spc="-10">
                          <a:latin typeface="Courier New"/>
                          <a:cs typeface="Courier New"/>
                        </a:rPr>
                        <a:t>[constraints]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8605">
                <a:tc>
                  <a:txBody>
                    <a:bodyPr/>
                    <a:lstStyle/>
                    <a:p>
                      <a:pPr marL="45085">
                        <a:lnSpc>
                          <a:spcPts val="1495"/>
                        </a:lnSpc>
                      </a:pPr>
                      <a:r>
                        <a:rPr dirty="0" sz="1400" spc="-25">
                          <a:latin typeface="Courier New"/>
                          <a:cs typeface="Courier New"/>
                        </a:rPr>
                        <a:t>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40816" y="4537328"/>
            <a:ext cx="12750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000" spc="-10" b="1">
                <a:latin typeface="Times New Roman"/>
                <a:cs typeface="Times New Roman"/>
              </a:rPr>
              <a:t>Example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8504" y="4920843"/>
            <a:ext cx="6092825" cy="160083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472440" marR="2846705" indent="-426720">
              <a:lnSpc>
                <a:spcPct val="100000"/>
              </a:lnSpc>
              <a:spcBef>
                <a:spcPts val="204"/>
              </a:spcBef>
            </a:pPr>
            <a:r>
              <a:rPr dirty="0" sz="1400">
                <a:latin typeface="Courier New"/>
                <a:cs typeface="Courier New"/>
              </a:rPr>
              <a:t>CREATE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TABLE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</a:t>
            </a:r>
            <a:r>
              <a:rPr dirty="0" sz="1400" spc="-50">
                <a:latin typeface="Courier New"/>
                <a:cs typeface="Courier New"/>
              </a:rPr>
              <a:t> ( </a:t>
            </a:r>
            <a:r>
              <a:rPr dirty="0" sz="1400">
                <a:latin typeface="Courier New"/>
                <a:cs typeface="Courier New"/>
              </a:rPr>
              <a:t>StudentID</a:t>
            </a:r>
            <a:r>
              <a:rPr dirty="0" sz="1400" spc="-7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INT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PRIMARY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 spc="-20">
                <a:latin typeface="Courier New"/>
                <a:cs typeface="Courier New"/>
              </a:rPr>
              <a:t>KEY,</a:t>
            </a:r>
            <a:endParaRPr sz="1400">
              <a:latin typeface="Courier New"/>
              <a:cs typeface="Courier New"/>
            </a:endParaRPr>
          </a:p>
          <a:p>
            <a:pPr marL="47244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StudentName</a:t>
            </a:r>
            <a:r>
              <a:rPr dirty="0" sz="1400" spc="-8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VARCHAR(100)</a:t>
            </a:r>
            <a:r>
              <a:rPr dirty="0" sz="1400" spc="-7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NOT</a:t>
            </a:r>
            <a:r>
              <a:rPr dirty="0" sz="1400" spc="-60">
                <a:latin typeface="Courier New"/>
                <a:cs typeface="Courier New"/>
              </a:rPr>
              <a:t> </a:t>
            </a:r>
            <a:r>
              <a:rPr dirty="0" sz="1400" spc="-20">
                <a:latin typeface="Courier New"/>
                <a:cs typeface="Courier New"/>
              </a:rPr>
              <a:t>NULL,</a:t>
            </a:r>
            <a:endParaRPr sz="1400">
              <a:latin typeface="Courier New"/>
              <a:cs typeface="Courier New"/>
            </a:endParaRPr>
          </a:p>
          <a:p>
            <a:pPr marL="47244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Programme</a:t>
            </a:r>
            <a:r>
              <a:rPr dirty="0" sz="1400" spc="-7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VARCHAR(50),</a:t>
            </a:r>
            <a:endParaRPr sz="1400">
              <a:latin typeface="Courier New"/>
              <a:cs typeface="Courier New"/>
            </a:endParaRPr>
          </a:p>
          <a:p>
            <a:pPr marL="47244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Semester</a:t>
            </a:r>
            <a:r>
              <a:rPr dirty="0" sz="1400" spc="-60">
                <a:latin typeface="Courier New"/>
                <a:cs typeface="Courier New"/>
              </a:rPr>
              <a:t> </a:t>
            </a:r>
            <a:r>
              <a:rPr dirty="0" sz="1400" spc="-20">
                <a:latin typeface="Courier New"/>
                <a:cs typeface="Courier New"/>
              </a:rPr>
              <a:t>INT,</a:t>
            </a:r>
            <a:endParaRPr sz="1400">
              <a:latin typeface="Courier New"/>
              <a:cs typeface="Courier New"/>
            </a:endParaRPr>
          </a:p>
          <a:p>
            <a:pPr marL="47244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CGPA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DECIMAL(3,2)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400" spc="-25">
                <a:latin typeface="Courier New"/>
                <a:cs typeface="Courier New"/>
              </a:rPr>
              <a:t>);</a:t>
            </a:r>
            <a:endParaRPr sz="14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676642" y="2728086"/>
          <a:ext cx="4531995" cy="3797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1230"/>
                <a:gridCol w="2221230"/>
              </a:tblGrid>
              <a:tr h="36576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Element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47688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6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11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Student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11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61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Columns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774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StudentID, StudentName,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Programme,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Semester,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CGPA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Types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20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752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Define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data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column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store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INT,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VARCHAR, DECIMAL)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Constraints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69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Enforce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rules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uniqueness,</a:t>
                      </a:r>
                      <a:r>
                        <a:rPr dirty="0" sz="16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mandatory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values,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primary</a:t>
                      </a:r>
                      <a:r>
                        <a:rPr dirty="0" sz="16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keys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ALTER,</a:t>
            </a:r>
            <a:r>
              <a:rPr dirty="0" spc="-254"/>
              <a:t> </a:t>
            </a:r>
            <a:r>
              <a:rPr dirty="0" spc="-145"/>
              <a:t>DROP</a:t>
            </a:r>
            <a:r>
              <a:rPr dirty="0" spc="-260"/>
              <a:t> </a:t>
            </a:r>
            <a:r>
              <a:rPr dirty="0" spc="-105"/>
              <a:t>and</a:t>
            </a:r>
            <a:r>
              <a:rPr dirty="0" spc="-254"/>
              <a:t> </a:t>
            </a:r>
            <a:r>
              <a:rPr dirty="0" spc="-160"/>
              <a:t>TRUNCATE</a:t>
            </a:r>
            <a:r>
              <a:rPr dirty="0" spc="-245"/>
              <a:t> </a:t>
            </a:r>
            <a:r>
              <a:rPr dirty="0" spc="-110"/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136" y="1594484"/>
            <a:ext cx="747204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3060" marR="5080" indent="-3409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Once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has</a:t>
            </a:r>
            <a:r>
              <a:rPr dirty="0" sz="2400" spc="2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been</a:t>
            </a:r>
            <a:r>
              <a:rPr dirty="0" sz="2400" spc="2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created,</a:t>
            </a:r>
            <a:r>
              <a:rPr dirty="0" sz="2400" spc="2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2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2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commands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modify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its</a:t>
            </a:r>
            <a:r>
              <a:rPr dirty="0" sz="2400" spc="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structure</a:t>
            </a:r>
            <a:r>
              <a:rPr dirty="0" sz="2400" spc="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remove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when</a:t>
            </a:r>
            <a:r>
              <a:rPr dirty="0" sz="2400" spc="2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2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no</a:t>
            </a:r>
            <a:r>
              <a:rPr dirty="0" sz="2400" spc="229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longer 	required.</a:t>
            </a:r>
            <a:endParaRPr sz="2400">
              <a:latin typeface="Times New Roman"/>
              <a:cs typeface="Times New Roman"/>
            </a:endParaRPr>
          </a:p>
          <a:p>
            <a:pPr algn="just" marL="353695" indent="-340995">
              <a:lnSpc>
                <a:spcPct val="100000"/>
              </a:lnSpc>
              <a:buFont typeface="Arial"/>
              <a:buChar char="•"/>
              <a:tabLst>
                <a:tab pos="353695" algn="l"/>
              </a:tabLst>
            </a:pPr>
            <a:r>
              <a:rPr dirty="0" sz="2400">
                <a:latin typeface="Times New Roman"/>
                <a:cs typeface="Times New Roman"/>
              </a:rPr>
              <a:t>Alter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Example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2051" y="1620900"/>
            <a:ext cx="3695827" cy="144792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4455" y="3118510"/>
            <a:ext cx="6092825" cy="5232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 marR="3590925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ALTER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TABLE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</a:t>
            </a:r>
            <a:r>
              <a:rPr dirty="0" sz="1400" spc="50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ADD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Email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VARCHAR(100);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136" y="3789121"/>
            <a:ext cx="22396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DROP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TABLE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7770" y="4225111"/>
            <a:ext cx="6092825" cy="3079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DROP</a:t>
            </a:r>
            <a:r>
              <a:rPr dirty="0" sz="1400" spc="-3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TABLE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103" y="3269995"/>
            <a:ext cx="3641774" cy="16480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0136" y="4886959"/>
            <a:ext cx="22199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Truncate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Table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153" y="5291911"/>
            <a:ext cx="6092825" cy="30797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204"/>
              </a:spcBef>
            </a:pPr>
            <a:r>
              <a:rPr dirty="0" sz="1400">
                <a:latin typeface="Courier New"/>
                <a:cs typeface="Courier New"/>
              </a:rPr>
              <a:t>TRUNCATE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TABLE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08543" y="5168353"/>
            <a:ext cx="3569335" cy="124239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66833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Data</a:t>
            </a:r>
            <a:r>
              <a:rPr dirty="0" spc="-245"/>
              <a:t> </a:t>
            </a:r>
            <a:r>
              <a:rPr dirty="0" spc="-155"/>
              <a:t>Manipulation</a:t>
            </a:r>
            <a:r>
              <a:rPr dirty="0" spc="-185"/>
              <a:t> </a:t>
            </a:r>
            <a:r>
              <a:rPr dirty="0" spc="-145"/>
              <a:t>Language</a:t>
            </a:r>
            <a:r>
              <a:rPr dirty="0" spc="-220"/>
              <a:t> </a:t>
            </a:r>
            <a:r>
              <a:rPr dirty="0" spc="-85"/>
              <a:t>(DML)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293" y="1685619"/>
            <a:ext cx="11505565" cy="112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3060" marR="5080" indent="-3409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90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Manipulation</a:t>
            </a:r>
            <a:r>
              <a:rPr dirty="0" sz="2400" spc="85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Language</a:t>
            </a:r>
            <a:r>
              <a:rPr dirty="0" sz="2400" spc="90" b="1">
                <a:latin typeface="Times New Roman"/>
                <a:cs typeface="Times New Roman"/>
              </a:rPr>
              <a:t>  </a:t>
            </a:r>
            <a:r>
              <a:rPr dirty="0" sz="2400" b="1">
                <a:latin typeface="Times New Roman"/>
                <a:cs typeface="Times New Roman"/>
              </a:rPr>
              <a:t>(DML)</a:t>
            </a:r>
            <a:r>
              <a:rPr dirty="0" sz="2400" spc="95" b="1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consists</a:t>
            </a:r>
            <a:r>
              <a:rPr dirty="0" sz="2400" spc="9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9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9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commands</a:t>
            </a:r>
            <a:r>
              <a:rPr dirty="0" sz="2400" spc="9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used</a:t>
            </a:r>
            <a:r>
              <a:rPr dirty="0" sz="2400" spc="9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85">
                <a:latin typeface="Times New Roman"/>
                <a:cs typeface="Times New Roman"/>
              </a:rPr>
              <a:t>  </a:t>
            </a:r>
            <a:r>
              <a:rPr dirty="0" sz="2400" spc="-10" b="1">
                <a:latin typeface="Times New Roman"/>
                <a:cs typeface="Times New Roman"/>
              </a:rPr>
              <a:t>insert, </a:t>
            </a:r>
            <a:r>
              <a:rPr dirty="0" sz="2400" spc="-10" b="1">
                <a:latin typeface="Times New Roman"/>
                <a:cs typeface="Times New Roman"/>
              </a:rPr>
              <a:t>	</a:t>
            </a:r>
            <a:r>
              <a:rPr dirty="0" sz="2400" b="1">
                <a:latin typeface="Times New Roman"/>
                <a:cs typeface="Times New Roman"/>
              </a:rPr>
              <a:t>modify,</a:t>
            </a:r>
            <a:r>
              <a:rPr dirty="0" sz="2400" spc="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delete,</a:t>
            </a:r>
            <a:r>
              <a:rPr dirty="0" sz="2400" spc="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merge</a:t>
            </a:r>
            <a:r>
              <a:rPr dirty="0" sz="2400" spc="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3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stored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tables.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Unlike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DDL,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which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defines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the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structure,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DML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operates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records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(rows)</a:t>
            </a:r>
            <a:r>
              <a:rPr dirty="0" sz="2400" spc="1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within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those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tables.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9505" y="3212083"/>
          <a:ext cx="8905240" cy="2284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5810"/>
                <a:gridCol w="6780530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Command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INSERT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Adds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dirty="0" sz="2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table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UPDATE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Modifies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rows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DELETE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Removes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table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dirty="0" sz="2000" spc="-10" b="1">
                          <a:latin typeface="Times New Roman"/>
                          <a:cs typeface="Times New Roman"/>
                        </a:rPr>
                        <a:t>MERGE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44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Inserts</a:t>
                      </a:r>
                      <a:r>
                        <a:rPr dirty="0" sz="20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updates</a:t>
                      </a:r>
                      <a:r>
                        <a:rPr dirty="0" sz="20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dirty="0" sz="20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i="1">
                          <a:latin typeface="Times New Roman"/>
                          <a:cs typeface="Times New Roman"/>
                        </a:rPr>
                        <a:t>(supported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2000" spc="-2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dirty="0" sz="2000" spc="-2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i="1">
                          <a:latin typeface="Times New Roman"/>
                          <a:cs typeface="Times New Roman"/>
                        </a:rPr>
                        <a:t>DBMSs)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INSERT</a:t>
            </a:r>
            <a:r>
              <a:rPr dirty="0" spc="-265"/>
              <a:t> </a:t>
            </a:r>
            <a:r>
              <a:rPr dirty="0" spc="-13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136" y="1597532"/>
            <a:ext cx="686562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INSERT</a:t>
            </a:r>
            <a:r>
              <a:rPr dirty="0" sz="1800" spc="28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statement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2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used</a:t>
            </a:r>
            <a:r>
              <a:rPr dirty="0" sz="1800" spc="2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add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one</a:t>
            </a:r>
            <a:r>
              <a:rPr dirty="0" sz="1800" spc="29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2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more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new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rows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 spc="-60">
                <a:latin typeface="Times New Roman"/>
                <a:cs typeface="Times New Roman"/>
              </a:rPr>
              <a:t>a </a:t>
            </a:r>
            <a:r>
              <a:rPr dirty="0" sz="1800" spc="-10">
                <a:latin typeface="Times New Roman"/>
                <a:cs typeface="Times New Roman"/>
              </a:rPr>
              <a:t>table.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800" spc="-10">
                <a:latin typeface="Times New Roman"/>
                <a:cs typeface="Times New Roman"/>
              </a:rPr>
              <a:t>Example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136" y="2969513"/>
            <a:ext cx="686435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Values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must</a:t>
            </a:r>
            <a:r>
              <a:rPr dirty="0" sz="1800" spc="1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provided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1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same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order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specified</a:t>
            </a:r>
            <a:r>
              <a:rPr dirty="0" sz="1800" spc="1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columns,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columns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must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explicitly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listed.</a:t>
            </a: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800" spc="-10">
                <a:latin typeface="Times New Roman"/>
                <a:cs typeface="Times New Roman"/>
              </a:rPr>
              <a:t>Example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4455" y="2468777"/>
            <a:ext cx="6092825" cy="5232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95"/>
              </a:spcBef>
            </a:pPr>
            <a:r>
              <a:rPr dirty="0" sz="1400">
                <a:latin typeface="Courier New"/>
                <a:cs typeface="Courier New"/>
              </a:rPr>
              <a:t>INSERT</a:t>
            </a:r>
            <a:r>
              <a:rPr dirty="0" sz="1400" spc="-8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INTO</a:t>
            </a:r>
            <a:r>
              <a:rPr dirty="0" sz="1400" spc="-8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table_name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(column1,</a:t>
            </a:r>
            <a:r>
              <a:rPr dirty="0" sz="1400" spc="-6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column2,</a:t>
            </a:r>
            <a:r>
              <a:rPr dirty="0" sz="1400" spc="-7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...,</a:t>
            </a:r>
            <a:r>
              <a:rPr dirty="0" sz="1400" spc="-6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columnN)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Courier New"/>
                <a:cs typeface="Courier New"/>
              </a:rPr>
              <a:t>VALUES</a:t>
            </a:r>
            <a:r>
              <a:rPr dirty="0" sz="1400" spc="-7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(value1,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value2,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...,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valueN);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6958" y="2287777"/>
            <a:ext cx="4278376" cy="177812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7770" y="3818229"/>
            <a:ext cx="6092825" cy="7391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INSERT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INTO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</a:t>
            </a:r>
            <a:endParaRPr sz="1400">
              <a:latin typeface="Courier New"/>
              <a:cs typeface="Courier New"/>
            </a:endParaRPr>
          </a:p>
          <a:p>
            <a:pPr marL="45720" marR="611505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(StudentID,</a:t>
            </a:r>
            <a:r>
              <a:rPr dirty="0" sz="1400" spc="-9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StudentName,</a:t>
            </a:r>
            <a:r>
              <a:rPr dirty="0" sz="1400" spc="-8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Programme,</a:t>
            </a:r>
            <a:r>
              <a:rPr dirty="0" sz="1400" spc="-8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Semester,</a:t>
            </a:r>
            <a:r>
              <a:rPr dirty="0" sz="1400" spc="-7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CGPA) </a:t>
            </a:r>
            <a:r>
              <a:rPr dirty="0" sz="1400">
                <a:latin typeface="Courier New"/>
                <a:cs typeface="Courier New"/>
              </a:rPr>
              <a:t>VALUES</a:t>
            </a:r>
            <a:r>
              <a:rPr dirty="0" sz="1400" spc="-6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(101,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'Rahul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Sharma',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'M.Tech',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1,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8.75);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1153" y="4933746"/>
            <a:ext cx="6092825" cy="1384935"/>
          </a:xfrm>
          <a:custGeom>
            <a:avLst/>
            <a:gdLst/>
            <a:ahLst/>
            <a:cxnLst/>
            <a:rect l="l" t="t" r="r" b="b"/>
            <a:pathLst>
              <a:path w="6092825" h="1384935">
                <a:moveTo>
                  <a:pt x="0" y="1384934"/>
                </a:moveTo>
                <a:lnTo>
                  <a:pt x="6092698" y="1384934"/>
                </a:lnTo>
                <a:lnTo>
                  <a:pt x="6092698" y="0"/>
                </a:lnTo>
                <a:lnTo>
                  <a:pt x="0" y="0"/>
                </a:lnTo>
                <a:lnTo>
                  <a:pt x="0" y="1384934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0136" y="4543395"/>
            <a:ext cx="6414135" cy="171005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800">
                <a:latin typeface="Times New Roman"/>
                <a:cs typeface="Times New Roman"/>
              </a:rPr>
              <a:t>Inserting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Multiple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Values</a:t>
            </a:r>
            <a:endParaRPr sz="1800">
              <a:latin typeface="Times New Roman"/>
              <a:cs typeface="Times New Roman"/>
            </a:endParaRPr>
          </a:p>
          <a:p>
            <a:pPr marL="366395">
              <a:lnSpc>
                <a:spcPct val="100000"/>
              </a:lnSpc>
              <a:spcBef>
                <a:spcPts val="445"/>
              </a:spcBef>
            </a:pPr>
            <a:r>
              <a:rPr dirty="0" sz="1400">
                <a:latin typeface="Courier New"/>
                <a:cs typeface="Courier New"/>
              </a:rPr>
              <a:t>INSERT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INTO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</a:t>
            </a:r>
            <a:endParaRPr sz="1400">
              <a:latin typeface="Courier New"/>
              <a:cs typeface="Courier New"/>
            </a:endParaRPr>
          </a:p>
          <a:p>
            <a:pPr marL="366395" marR="611505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(StudentID,</a:t>
            </a:r>
            <a:r>
              <a:rPr dirty="0" sz="1400" spc="-9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StudentName,</a:t>
            </a:r>
            <a:r>
              <a:rPr dirty="0" sz="1400" spc="-8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Programme,</a:t>
            </a:r>
            <a:r>
              <a:rPr dirty="0" sz="1400" spc="-8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Semester,</a:t>
            </a:r>
            <a:r>
              <a:rPr dirty="0" sz="1400" spc="-7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CGPA) VALUES</a:t>
            </a:r>
            <a:endParaRPr sz="1400">
              <a:latin typeface="Courier New"/>
              <a:cs typeface="Courier New"/>
            </a:endParaRPr>
          </a:p>
          <a:p>
            <a:pPr marL="366395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(102,</a:t>
            </a:r>
            <a:r>
              <a:rPr dirty="0" sz="1400" spc="-6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'Priya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Gupta',</a:t>
            </a:r>
            <a:r>
              <a:rPr dirty="0" sz="1400" spc="-6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'M.Tech',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1,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8.90),</a:t>
            </a:r>
            <a:endParaRPr sz="1400">
              <a:latin typeface="Courier New"/>
              <a:cs typeface="Courier New"/>
            </a:endParaRPr>
          </a:p>
          <a:p>
            <a:pPr marL="366395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Courier New"/>
                <a:cs typeface="Courier New"/>
              </a:rPr>
              <a:t>(103,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'Ankit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Verma',</a:t>
            </a:r>
            <a:r>
              <a:rPr dirty="0" sz="1400" spc="-6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'M.Tech',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2,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8.45),</a:t>
            </a:r>
            <a:endParaRPr sz="1400">
              <a:latin typeface="Courier New"/>
              <a:cs typeface="Courier New"/>
            </a:endParaRPr>
          </a:p>
          <a:p>
            <a:pPr marL="366395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(104,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'Neha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Singh',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'M.Tech',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1,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9.10);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4573" y="4540554"/>
            <a:ext cx="4310633" cy="177812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UPDATE</a:t>
            </a:r>
            <a:r>
              <a:rPr dirty="0" spc="-245"/>
              <a:t> </a:t>
            </a:r>
            <a:r>
              <a:rPr dirty="0" spc="-13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136" y="1596008"/>
            <a:ext cx="6340475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46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UPDATE</a:t>
            </a:r>
            <a:r>
              <a:rPr dirty="0" sz="1800" spc="25" b="1">
                <a:latin typeface="Times New Roman"/>
                <a:cs typeface="Times New Roman"/>
              </a:rPr>
              <a:t>  </a:t>
            </a:r>
            <a:r>
              <a:rPr dirty="0" sz="2000">
                <a:latin typeface="Times New Roman"/>
                <a:cs typeface="Times New Roman"/>
              </a:rPr>
              <a:t>statement</a:t>
            </a:r>
            <a:r>
              <a:rPr dirty="0" sz="2000" spc="4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modifies</a:t>
            </a:r>
            <a:r>
              <a:rPr dirty="0" sz="2000" spc="4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4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4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4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existing </a:t>
            </a:r>
            <a:r>
              <a:rPr dirty="0" sz="2000">
                <a:latin typeface="Times New Roman"/>
                <a:cs typeface="Times New Roman"/>
              </a:rPr>
              <a:t>rows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</a:t>
            </a:r>
            <a:r>
              <a:rPr dirty="0" sz="2000" spc="-10">
                <a:latin typeface="Times New Roman"/>
                <a:cs typeface="Times New Roman"/>
              </a:rPr>
              <a:t>table.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General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Syntax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4455" y="2876219"/>
            <a:ext cx="5254625" cy="95440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 marR="296418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UPDATE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table_name</a:t>
            </a:r>
            <a:r>
              <a:rPr dirty="0" sz="1400" spc="50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SET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column1</a:t>
            </a:r>
            <a:r>
              <a:rPr dirty="0" sz="1400" spc="-3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value1,</a:t>
            </a:r>
            <a:endParaRPr sz="1400">
              <a:latin typeface="Courier New"/>
              <a:cs typeface="Courier New"/>
            </a:endParaRPr>
          </a:p>
          <a:p>
            <a:pPr marL="45720" marR="3070860" indent="426084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column2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value2 </a:t>
            </a: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condition;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136" y="4095444"/>
            <a:ext cx="12719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 spc="-10">
                <a:latin typeface="Times New Roman"/>
                <a:cs typeface="Times New Roman"/>
              </a:rPr>
              <a:t>Example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7770" y="4474311"/>
            <a:ext cx="5254625" cy="7391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UPDATE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Courier New"/>
                <a:cs typeface="Courier New"/>
              </a:rPr>
              <a:t>SET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CGPA</a:t>
            </a:r>
            <a:r>
              <a:rPr dirty="0" sz="1400" spc="-1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 spc="-20">
                <a:latin typeface="Courier New"/>
                <a:cs typeface="Courier New"/>
              </a:rPr>
              <a:t>9.10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StudentID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20">
                <a:latin typeface="Courier New"/>
                <a:cs typeface="Courier New"/>
              </a:rPr>
              <a:t>101;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9056" y="1960625"/>
            <a:ext cx="5337830" cy="375945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Delete</a:t>
            </a:r>
            <a:r>
              <a:rPr dirty="0" spc="-225"/>
              <a:t> </a:t>
            </a:r>
            <a:r>
              <a:rPr dirty="0" spc="-13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136" y="1596008"/>
            <a:ext cx="6479540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DELETE</a:t>
            </a:r>
            <a:r>
              <a:rPr dirty="0" sz="1800" spc="18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statement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removes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rows</a:t>
            </a:r>
            <a:r>
              <a:rPr dirty="0" sz="2000" spc="1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13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Times New Roman"/>
                <a:cs typeface="Times New Roman"/>
              </a:rPr>
              <a:t>a </a:t>
            </a:r>
            <a:r>
              <a:rPr dirty="0" sz="2000" spc="-10">
                <a:latin typeface="Times New Roman"/>
                <a:cs typeface="Times New Roman"/>
              </a:rPr>
              <a:t>table.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General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Syntax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4455" y="2923945"/>
            <a:ext cx="5238115" cy="5232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 marR="2842895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DELETE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table_name </a:t>
            </a: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condition;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136" y="4095444"/>
            <a:ext cx="12719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 spc="-10">
                <a:latin typeface="Times New Roman"/>
                <a:cs typeface="Times New Roman"/>
              </a:rPr>
              <a:t>Example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7770" y="4533036"/>
            <a:ext cx="5234940" cy="5232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 marR="2839085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DELETE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 </a:t>
            </a: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StudentID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20">
                <a:latin typeface="Courier New"/>
                <a:cs typeface="Courier New"/>
              </a:rPr>
              <a:t>104;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7359" y="2191562"/>
            <a:ext cx="5405120" cy="36831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Retrieving</a:t>
            </a:r>
            <a:r>
              <a:rPr dirty="0" spc="-195"/>
              <a:t> </a:t>
            </a:r>
            <a:r>
              <a:rPr dirty="0" spc="-125"/>
              <a:t>Data</a:t>
            </a:r>
            <a:r>
              <a:rPr dirty="0" spc="-250"/>
              <a:t> </a:t>
            </a:r>
            <a:r>
              <a:rPr dirty="0" spc="-135"/>
              <a:t>using</a:t>
            </a:r>
            <a:r>
              <a:rPr dirty="0" spc="-245"/>
              <a:t> </a:t>
            </a:r>
            <a:r>
              <a:rPr dirty="0" spc="-120"/>
              <a:t>the</a:t>
            </a:r>
            <a:r>
              <a:rPr dirty="0" spc="-254"/>
              <a:t> </a:t>
            </a:r>
            <a:r>
              <a:rPr dirty="0" spc="-145"/>
              <a:t>SELECT</a:t>
            </a:r>
            <a:r>
              <a:rPr dirty="0" spc="-235"/>
              <a:t> </a:t>
            </a:r>
            <a:r>
              <a:rPr dirty="0" spc="-114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281" y="1385696"/>
            <a:ext cx="7781290" cy="1000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Times New Roman"/>
                <a:cs typeface="Times New Roman"/>
              </a:rPr>
              <a:t>SELECT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Statement</a:t>
            </a:r>
            <a:endParaRPr sz="1600">
              <a:latin typeface="Times New Roman"/>
              <a:cs typeface="Times New Roman"/>
            </a:endParaRPr>
          </a:p>
          <a:p>
            <a:pPr algn="ctr" marL="342265" indent="-342265">
              <a:lnSpc>
                <a:spcPct val="100000"/>
              </a:lnSpc>
              <a:buFont typeface="Arial"/>
              <a:buChar char="•"/>
              <a:tabLst>
                <a:tab pos="3422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SELECT</a:t>
            </a:r>
            <a:r>
              <a:rPr dirty="0" sz="1600" spc="16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statement</a:t>
            </a:r>
            <a:r>
              <a:rPr dirty="0" sz="1600" spc="1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1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used</a:t>
            </a:r>
            <a:r>
              <a:rPr dirty="0" sz="1600" spc="1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1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retrieve</a:t>
            </a:r>
            <a:r>
              <a:rPr dirty="0" sz="1600" spc="1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1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one</a:t>
            </a:r>
            <a:r>
              <a:rPr dirty="0" sz="1600" spc="1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1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more</a:t>
            </a:r>
            <a:r>
              <a:rPr dirty="0" sz="1600" spc="1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tables.</a:t>
            </a:r>
            <a:r>
              <a:rPr dirty="0" sz="1600" spc="1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1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1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17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most</a:t>
            </a:r>
            <a:endParaRPr sz="1600">
              <a:latin typeface="Times New Roman"/>
              <a:cs typeface="Times New Roman"/>
            </a:endParaRPr>
          </a:p>
          <a:p>
            <a:pPr algn="ctr" marL="60325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frequently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SQL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statement</a:t>
            </a:r>
            <a:r>
              <a:rPr dirty="0" sz="1600" spc="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querying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information stored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relational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database.</a:t>
            </a:r>
            <a:endParaRPr sz="16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600">
                <a:latin typeface="Times New Roman"/>
                <a:cs typeface="Times New Roman"/>
              </a:rPr>
              <a:t>General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Syntax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281" y="3092957"/>
            <a:ext cx="236728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1600" spc="-10">
                <a:latin typeface="Times New Roman"/>
                <a:cs typeface="Times New Roman"/>
              </a:rPr>
              <a:t>Examples</a:t>
            </a:r>
            <a:endParaRPr sz="16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1.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Retrieve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Columns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04455" y="2409164"/>
            <a:ext cx="6092825" cy="739140"/>
          </a:xfrm>
          <a:custGeom>
            <a:avLst/>
            <a:gdLst/>
            <a:ahLst/>
            <a:cxnLst/>
            <a:rect l="l" t="t" r="r" b="b"/>
            <a:pathLst>
              <a:path w="6092825" h="739139">
                <a:moveTo>
                  <a:pt x="6092698" y="0"/>
                </a:moveTo>
                <a:lnTo>
                  <a:pt x="0" y="0"/>
                </a:lnTo>
                <a:lnTo>
                  <a:pt x="0" y="738657"/>
                </a:lnTo>
                <a:lnTo>
                  <a:pt x="6092698" y="738657"/>
                </a:lnTo>
                <a:lnTo>
                  <a:pt x="60926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4455" y="2409164"/>
            <a:ext cx="6092825" cy="7391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 marR="305816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6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column1,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column2,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 spc="-25">
                <a:latin typeface="Courier New"/>
                <a:cs typeface="Courier New"/>
              </a:rPr>
              <a:t>... </a:t>
            </a: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table_name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condition;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7839" y="3674769"/>
            <a:ext cx="6092825" cy="5232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 spc="-50">
                <a:latin typeface="Courier New"/>
                <a:cs typeface="Courier New"/>
              </a:rPr>
              <a:t>*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373" y="4312411"/>
            <a:ext cx="24206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2.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Retrieve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Specific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Columns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8159" y="4671085"/>
            <a:ext cx="6092825" cy="5232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 marR="231394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9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StudentID,</a:t>
            </a:r>
            <a:r>
              <a:rPr dirty="0" sz="1400" spc="-7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StudentName,</a:t>
            </a:r>
            <a:r>
              <a:rPr dirty="0" sz="1400" spc="-65">
                <a:latin typeface="Courier New"/>
                <a:cs typeface="Courier New"/>
              </a:rPr>
              <a:t> </a:t>
            </a:r>
            <a:r>
              <a:rPr dirty="0" sz="1400" spc="-20">
                <a:latin typeface="Courier New"/>
                <a:cs typeface="Courier New"/>
              </a:rPr>
              <a:t>CGPA </a:t>
            </a: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373" y="5288025"/>
            <a:ext cx="41617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3.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Retrieve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Records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Satisfying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specific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condition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8159" y="5642241"/>
            <a:ext cx="6092825" cy="73914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45720" marR="2951480">
              <a:lnSpc>
                <a:spcPct val="100000"/>
              </a:lnSpc>
              <a:spcBef>
                <a:spcPts val="204"/>
              </a:spcBef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7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StudentName,</a:t>
            </a:r>
            <a:r>
              <a:rPr dirty="0" sz="1400" spc="-6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Programme </a:t>
            </a: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Semester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30">
                <a:latin typeface="Courier New"/>
                <a:cs typeface="Courier New"/>
              </a:rPr>
              <a:t> </a:t>
            </a:r>
            <a:r>
              <a:rPr dirty="0" sz="1400" spc="-25">
                <a:latin typeface="Courier New"/>
                <a:cs typeface="Courier New"/>
              </a:rPr>
              <a:t>1;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0400" y="1486636"/>
            <a:ext cx="3754882" cy="501675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68421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Common</a:t>
            </a:r>
            <a:r>
              <a:rPr dirty="0" spc="-235"/>
              <a:t> </a:t>
            </a:r>
            <a:r>
              <a:rPr dirty="0" spc="-145"/>
              <a:t>Clauses</a:t>
            </a:r>
            <a:r>
              <a:rPr dirty="0" spc="-235"/>
              <a:t> </a:t>
            </a:r>
            <a:r>
              <a:rPr dirty="0" spc="-130"/>
              <a:t>Used</a:t>
            </a:r>
            <a:r>
              <a:rPr dirty="0" spc="-245"/>
              <a:t> </a:t>
            </a:r>
            <a:r>
              <a:rPr dirty="0" spc="-130"/>
              <a:t>with</a:t>
            </a:r>
            <a:r>
              <a:rPr dirty="0" spc="-250"/>
              <a:t> </a:t>
            </a:r>
            <a:r>
              <a:rPr dirty="0" spc="-95"/>
              <a:t>SELECT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3313" y="1788362"/>
            <a:ext cx="1057021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SELECT</a:t>
            </a:r>
            <a:r>
              <a:rPr dirty="0" sz="1800" spc="2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statement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can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combined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with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various</a:t>
            </a:r>
            <a:r>
              <a:rPr dirty="0" sz="2400" spc="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clauses</a:t>
            </a:r>
            <a:r>
              <a:rPr dirty="0" sz="2400" spc="8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filter,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sort,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group,</a:t>
            </a:r>
            <a:r>
              <a:rPr dirty="0" sz="2400" spc="9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and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limit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returned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by a</a:t>
            </a:r>
            <a:r>
              <a:rPr dirty="0" sz="2400" spc="-10">
                <a:latin typeface="Times New Roman"/>
                <a:cs typeface="Times New Roman"/>
              </a:rPr>
              <a:t> query.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0240" y="2781299"/>
          <a:ext cx="10654665" cy="3422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2880"/>
                <a:gridCol w="4648835"/>
                <a:gridCol w="4462780"/>
              </a:tblGrid>
              <a:tr h="4279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Clause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Example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0">
                          <a:latin typeface="Courier New"/>
                          <a:cs typeface="Courier New"/>
                        </a:rPr>
                        <a:t>FROM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Specifies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table(s)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retrieve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from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dirty="0" sz="1800" spc="-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>
                          <a:latin typeface="Courier New"/>
                          <a:cs typeface="Courier New"/>
                        </a:rPr>
                        <a:t>Student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Courier New"/>
                          <a:cs typeface="Courier New"/>
                        </a:rPr>
                        <a:t>WHERE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Filters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condition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Courier New"/>
                          <a:cs typeface="Courier New"/>
                        </a:rPr>
                        <a:t>WHERE</a:t>
                      </a:r>
                      <a:r>
                        <a:rPr dirty="0" sz="1800" spc="-6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>
                          <a:latin typeface="Courier New"/>
                          <a:cs typeface="Courier New"/>
                        </a:rPr>
                        <a:t>Semester</a:t>
                      </a:r>
                      <a:r>
                        <a:rPr dirty="0" sz="18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18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5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Courier New"/>
                          <a:cs typeface="Courier New"/>
                        </a:rPr>
                        <a:t>DISTINCT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Eliminates</a:t>
                      </a:r>
                      <a:r>
                        <a:rPr dirty="0" sz="18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duplicate</a:t>
                      </a:r>
                      <a:r>
                        <a:rPr dirty="0" sz="18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values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Courier New"/>
                          <a:cs typeface="Courier New"/>
                        </a:rPr>
                        <a:t>SELECT</a:t>
                      </a:r>
                      <a:r>
                        <a:rPr dirty="0" sz="1800" spc="-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>
                          <a:latin typeface="Courier New"/>
                          <a:cs typeface="Courier New"/>
                        </a:rPr>
                        <a:t>DISTINCT</a:t>
                      </a:r>
                      <a:r>
                        <a:rPr dirty="0" sz="1800" spc="-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>
                          <a:latin typeface="Courier New"/>
                          <a:cs typeface="Courier New"/>
                        </a:rPr>
                        <a:t>Programme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Courier New"/>
                          <a:cs typeface="Courier New"/>
                        </a:rPr>
                        <a:t>ORDER</a:t>
                      </a:r>
                      <a:r>
                        <a:rPr dirty="0" sz="18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5">
                          <a:latin typeface="Courier New"/>
                          <a:cs typeface="Courier New"/>
                        </a:rPr>
                        <a:t>BY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Sorts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set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Courier New"/>
                          <a:cs typeface="Courier New"/>
                        </a:rPr>
                        <a:t>ORDER</a:t>
                      </a:r>
                      <a:r>
                        <a:rPr dirty="0" sz="1800" spc="-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>
                          <a:latin typeface="Courier New"/>
                          <a:cs typeface="Courier New"/>
                        </a:rPr>
                        <a:t>BY</a:t>
                      </a:r>
                      <a:r>
                        <a:rPr dirty="0" sz="1800" spc="-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>
                          <a:latin typeface="Courier New"/>
                          <a:cs typeface="Courier New"/>
                        </a:rPr>
                        <a:t>CGPA</a:t>
                      </a:r>
                      <a:r>
                        <a:rPr dirty="0" sz="1800" spc="-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0">
                          <a:latin typeface="Courier New"/>
                          <a:cs typeface="Courier New"/>
                        </a:rPr>
                        <a:t>DESC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Courier New"/>
                          <a:cs typeface="Courier New"/>
                        </a:rPr>
                        <a:t>GROUP</a:t>
                      </a:r>
                      <a:r>
                        <a:rPr dirty="0" sz="18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5">
                          <a:latin typeface="Courier New"/>
                          <a:cs typeface="Courier New"/>
                        </a:rPr>
                        <a:t>BY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Groups</a:t>
                      </a:r>
                      <a:r>
                        <a:rPr dirty="0"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aggregate</a:t>
                      </a:r>
                      <a:r>
                        <a:rPr dirty="0"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calculations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Courier New"/>
                          <a:cs typeface="Courier New"/>
                        </a:rPr>
                        <a:t>GROUP</a:t>
                      </a:r>
                      <a:r>
                        <a:rPr dirty="0" sz="1800" spc="-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>
                          <a:latin typeface="Courier New"/>
                          <a:cs typeface="Courier New"/>
                        </a:rPr>
                        <a:t>BY</a:t>
                      </a:r>
                      <a:r>
                        <a:rPr dirty="0" sz="1800" spc="-3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10">
                          <a:latin typeface="Courier New"/>
                          <a:cs typeface="Courier New"/>
                        </a:rPr>
                        <a:t>Programme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2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Courier New"/>
                          <a:cs typeface="Courier New"/>
                        </a:rPr>
                        <a:t>HAVING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Filters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groups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aggregation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Courier New"/>
                          <a:cs typeface="Courier New"/>
                        </a:rPr>
                        <a:t>HAVING</a:t>
                      </a:r>
                      <a:r>
                        <a:rPr dirty="0" sz="1800" spc="-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>
                          <a:latin typeface="Courier New"/>
                          <a:cs typeface="Courier New"/>
                        </a:rPr>
                        <a:t>AVG(CGPA)</a:t>
                      </a:r>
                      <a:r>
                        <a:rPr dirty="0" sz="1800" spc="-4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>
                          <a:latin typeface="Courier New"/>
                          <a:cs typeface="Courier New"/>
                        </a:rPr>
                        <a:t>&gt;</a:t>
                      </a:r>
                      <a:r>
                        <a:rPr dirty="0" sz="1800" spc="-3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5">
                          <a:latin typeface="Courier New"/>
                          <a:cs typeface="Courier New"/>
                        </a:rPr>
                        <a:t>8.5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800" spc="-10">
                          <a:latin typeface="Courier New"/>
                          <a:cs typeface="Courier New"/>
                        </a:rPr>
                        <a:t>LIMIT</a:t>
                      </a:r>
                      <a:r>
                        <a:rPr dirty="0" sz="1800" spc="-5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50">
                          <a:latin typeface="Arial"/>
                          <a:cs typeface="Arial"/>
                        </a:rPr>
                        <a:t>/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800" spc="-25">
                          <a:latin typeface="Courier New"/>
                          <a:cs typeface="Courier New"/>
                        </a:rPr>
                        <a:t>TOP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254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Restricts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returned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58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dirty="0" sz="1800">
                          <a:latin typeface="Courier New"/>
                          <a:cs typeface="Courier New"/>
                        </a:rPr>
                        <a:t>LIMIT</a:t>
                      </a:r>
                      <a:r>
                        <a:rPr dirty="0" sz="1800" spc="-4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800" spc="-25">
                          <a:latin typeface="Courier New"/>
                          <a:cs typeface="Courier New"/>
                        </a:rPr>
                        <a:t>10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B="0" marT="162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0136" y="1695449"/>
            <a:ext cx="15322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Example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1: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4455" y="2091054"/>
            <a:ext cx="5222240" cy="11696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 marR="273685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8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StudentID,</a:t>
            </a:r>
            <a:r>
              <a:rPr dirty="0" sz="1400" spc="-7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StudentName,</a:t>
            </a:r>
            <a:r>
              <a:rPr dirty="0" sz="1400" spc="-8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Programme,</a:t>
            </a:r>
            <a:r>
              <a:rPr dirty="0" sz="1400" spc="-80">
                <a:latin typeface="Courier New"/>
                <a:cs typeface="Courier New"/>
              </a:rPr>
              <a:t> </a:t>
            </a:r>
            <a:r>
              <a:rPr dirty="0" sz="1400" spc="-20">
                <a:latin typeface="Courier New"/>
                <a:cs typeface="Courier New"/>
              </a:rPr>
              <a:t>CGPA </a:t>
            </a: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</a:t>
            </a:r>
            <a:endParaRPr sz="1400">
              <a:latin typeface="Courier New"/>
              <a:cs typeface="Courier New"/>
            </a:endParaRPr>
          </a:p>
          <a:p>
            <a:pPr algn="ctr" marL="45720" marR="3145155" indent="-10668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Semester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30">
                <a:latin typeface="Courier New"/>
                <a:cs typeface="Courier New"/>
              </a:rPr>
              <a:t> </a:t>
            </a:r>
            <a:r>
              <a:rPr dirty="0" sz="1400" spc="-50">
                <a:latin typeface="Courier New"/>
                <a:cs typeface="Courier New"/>
              </a:rPr>
              <a:t>1 </a:t>
            </a:r>
            <a:r>
              <a:rPr dirty="0" sz="1400">
                <a:latin typeface="Courier New"/>
                <a:cs typeface="Courier New"/>
              </a:rPr>
              <a:t>AND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CGPA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&gt;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 spc="-25">
                <a:latin typeface="Courier New"/>
                <a:cs typeface="Courier New"/>
              </a:rPr>
              <a:t>8.0 </a:t>
            </a:r>
            <a:r>
              <a:rPr dirty="0" sz="1400">
                <a:latin typeface="Courier New"/>
                <a:cs typeface="Courier New"/>
              </a:rPr>
              <a:t>ORDER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BY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CGPA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DESC;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2921" y="1671065"/>
            <a:ext cx="4782438" cy="17971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80136" y="3524503"/>
            <a:ext cx="15322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Example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2: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7770" y="3907789"/>
            <a:ext cx="5219065" cy="11696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7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Programme,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AVG(CGPA)</a:t>
            </a:r>
            <a:r>
              <a:rPr dirty="0" sz="1400" spc="-6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AS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AverageCGPA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</a:t>
            </a:r>
            <a:endParaRPr sz="1400">
              <a:latin typeface="Courier New"/>
              <a:cs typeface="Courier New"/>
            </a:endParaRPr>
          </a:p>
          <a:p>
            <a:pPr marL="45720" marR="2822575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GROUP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BY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Programme </a:t>
            </a:r>
            <a:r>
              <a:rPr dirty="0" sz="1400">
                <a:latin typeface="Courier New"/>
                <a:cs typeface="Courier New"/>
              </a:rPr>
              <a:t>HAVING</a:t>
            </a:r>
            <a:r>
              <a:rPr dirty="0" sz="1400" spc="-6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AVG(CGPA)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&gt;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25">
                <a:latin typeface="Courier New"/>
                <a:cs typeface="Courier New"/>
              </a:rPr>
              <a:t>8.5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Courier New"/>
                <a:cs typeface="Courier New"/>
              </a:rPr>
              <a:t>ORDER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BY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AverageCGPA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DESC;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9636" y="3610355"/>
            <a:ext cx="4235322" cy="146697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821435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Combining</a:t>
            </a:r>
            <a:r>
              <a:rPr dirty="0" spc="-235"/>
              <a:t> </a:t>
            </a:r>
            <a:r>
              <a:rPr dirty="0" spc="-125"/>
              <a:t>Data</a:t>
            </a:r>
            <a:r>
              <a:rPr dirty="0" spc="-240"/>
              <a:t> </a:t>
            </a:r>
            <a:r>
              <a:rPr dirty="0" spc="-140"/>
              <a:t>from</a:t>
            </a:r>
            <a:r>
              <a:rPr dirty="0" spc="-254"/>
              <a:t> </a:t>
            </a:r>
            <a:r>
              <a:rPr dirty="0" spc="-155"/>
              <a:t>Multiple</a:t>
            </a:r>
            <a:r>
              <a:rPr dirty="0" spc="-210"/>
              <a:t> </a:t>
            </a:r>
            <a:r>
              <a:rPr dirty="0" spc="-145"/>
              <a:t>Tables</a:t>
            </a:r>
            <a:r>
              <a:rPr dirty="0" spc="-229"/>
              <a:t> </a:t>
            </a:r>
            <a:r>
              <a:rPr dirty="0"/>
              <a:t>–</a:t>
            </a:r>
            <a:r>
              <a:rPr dirty="0" spc="-270"/>
              <a:t> </a:t>
            </a:r>
            <a:r>
              <a:rPr dirty="0" spc="-60"/>
              <a:t>Joins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1082" y="2959861"/>
          <a:ext cx="840867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3045"/>
                <a:gridCol w="2773045"/>
                <a:gridCol w="2773044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600" spc="-1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cs typeface="Times New Roman"/>
                        </a:rPr>
                        <a:t>StudentID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7962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871219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Programme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41082" y="3852417"/>
          <a:ext cx="8408670" cy="37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3045"/>
                <a:gridCol w="2773045"/>
                <a:gridCol w="2773044"/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600" spc="-1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cs typeface="Times New Roman"/>
                        </a:rPr>
                        <a:t>CourseID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82359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CourseName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Credits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93293" y="1449069"/>
            <a:ext cx="10741660" cy="32772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SQL</a:t>
            </a:r>
            <a:r>
              <a:rPr dirty="0" sz="2000" spc="-10" b="1">
                <a:latin typeface="Times New Roman"/>
                <a:cs typeface="Times New Roman"/>
              </a:rPr>
              <a:t> Joins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JOIN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combines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rows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from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two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tables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based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related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column.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Joins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data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stored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in </a:t>
            </a:r>
            <a:r>
              <a:rPr dirty="0" sz="2000">
                <a:latin typeface="Times New Roman"/>
                <a:cs typeface="Times New Roman"/>
              </a:rPr>
              <a:t>separate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tables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retrieved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 single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result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set.</a:t>
            </a:r>
            <a:endParaRPr sz="2000">
              <a:latin typeface="Times New Roman"/>
              <a:cs typeface="Times New Roman"/>
            </a:endParaRPr>
          </a:p>
          <a:p>
            <a:pPr marL="499745">
              <a:lnSpc>
                <a:spcPct val="100000"/>
              </a:lnSpc>
              <a:spcBef>
                <a:spcPts val="1935"/>
              </a:spcBef>
            </a:pPr>
            <a:r>
              <a:rPr dirty="0" sz="1800" spc="-10" b="1">
                <a:latin typeface="Times New Roman"/>
                <a:cs typeface="Times New Roman"/>
              </a:rPr>
              <a:t>Student</a:t>
            </a:r>
            <a:endParaRPr sz="1800">
              <a:latin typeface="Times New Roman"/>
              <a:cs typeface="Times New Roman"/>
            </a:endParaRPr>
          </a:p>
          <a:p>
            <a:pPr marL="476884" marR="9137650" indent="15875">
              <a:lnSpc>
                <a:spcPts val="7309"/>
              </a:lnSpc>
              <a:spcBef>
                <a:spcPts val="585"/>
              </a:spcBef>
            </a:pPr>
            <a:r>
              <a:rPr dirty="0" sz="1800" spc="-10" b="1">
                <a:latin typeface="Times New Roman"/>
                <a:cs typeface="Times New Roman"/>
              </a:rPr>
              <a:t>Course Enrollment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44397" y="4790058"/>
          <a:ext cx="840867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73045"/>
                <a:gridCol w="2773045"/>
                <a:gridCol w="2773044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600" spc="-1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cs typeface="Times New Roman"/>
                        </a:rPr>
                        <a:t>StudentID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u="sng" sz="1600" spc="-10" b="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cs typeface="Times New Roman"/>
                        </a:rPr>
                        <a:t>CourseID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Semester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34275" y="5655373"/>
            <a:ext cx="6838315" cy="3695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305"/>
              </a:spcBef>
            </a:pPr>
            <a:r>
              <a:rPr dirty="0" sz="1800">
                <a:latin typeface="Times New Roman"/>
                <a:cs typeface="Times New Roman"/>
              </a:rPr>
              <a:t>Question: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Which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courses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each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student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enrolled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in?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35210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Types</a:t>
            </a:r>
            <a:r>
              <a:rPr dirty="0" spc="-250"/>
              <a:t> </a:t>
            </a:r>
            <a:r>
              <a:rPr dirty="0" spc="-90"/>
              <a:t>of</a:t>
            </a:r>
            <a:r>
              <a:rPr dirty="0" spc="-275"/>
              <a:t> </a:t>
            </a:r>
            <a:r>
              <a:rPr dirty="0" spc="-114"/>
              <a:t>SQL</a:t>
            </a:r>
            <a:r>
              <a:rPr dirty="0" spc="-265"/>
              <a:t> </a:t>
            </a:r>
            <a:r>
              <a:rPr dirty="0" spc="-110"/>
              <a:t>Joins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3313" y="1788362"/>
            <a:ext cx="1057148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SQL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provides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different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types</a:t>
            </a:r>
            <a:r>
              <a:rPr dirty="0" sz="2400" spc="1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joins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depending</a:t>
            </a:r>
            <a:r>
              <a:rPr dirty="0" sz="2400" spc="10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on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how</a:t>
            </a:r>
            <a:r>
              <a:rPr dirty="0" sz="2400" spc="1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matching</a:t>
            </a:r>
            <a:r>
              <a:rPr dirty="0" sz="2400" spc="1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114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non-matching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rows from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participating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should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returned.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9754" y="2985007"/>
          <a:ext cx="10405745" cy="2710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4070"/>
                <a:gridCol w="4398009"/>
                <a:gridCol w="3834129"/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Join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INNER</a:t>
                      </a:r>
                      <a:r>
                        <a:rPr dirty="0" sz="16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JOIN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0375" marR="109220" indent="-16192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tables.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only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dirty="0" sz="16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OUTER</a:t>
                      </a:r>
                      <a:r>
                        <a:rPr dirty="0" sz="16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JOIN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6285" marR="446405" indent="-3067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table.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dirty="0" sz="16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rows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dirty="0" sz="16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OUTER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JOIN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the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table.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dirty="0" sz="16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rows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b="1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dirty="0" sz="16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b="1">
                          <a:latin typeface="Times New Roman"/>
                          <a:cs typeface="Times New Roman"/>
                        </a:rPr>
                        <a:t>OUTER</a:t>
                      </a:r>
                      <a:r>
                        <a:rPr dirty="0" sz="16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 b="1">
                          <a:latin typeface="Times New Roman"/>
                          <a:cs typeface="Times New Roman"/>
                        </a:rPr>
                        <a:t>JOIN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0375" marR="130810" indent="-15887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tables.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tables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25323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INNER</a:t>
            </a:r>
            <a:r>
              <a:rPr dirty="0" spc="-250"/>
              <a:t> </a:t>
            </a:r>
            <a:r>
              <a:rPr dirty="0" spc="-85"/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293" y="1468881"/>
            <a:ext cx="98825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INNER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JOIN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returns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those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rows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where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join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condition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satisfied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both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tables.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3293" y="2047912"/>
            <a:ext cx="1273810" cy="66357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r" marL="342900" marR="7620" indent="-342900">
              <a:lnSpc>
                <a:spcPct val="100000"/>
              </a:lnSpc>
              <a:spcBef>
                <a:spcPts val="345"/>
              </a:spcBef>
              <a:buFont typeface="Arial"/>
              <a:buChar char="•"/>
              <a:tabLst>
                <a:tab pos="342900" algn="l"/>
              </a:tabLst>
            </a:pPr>
            <a:r>
              <a:rPr dirty="0" sz="2000" spc="-10">
                <a:latin typeface="Times New Roman"/>
                <a:cs typeface="Times New Roman"/>
              </a:rPr>
              <a:t>Example</a:t>
            </a:r>
            <a:endParaRPr sz="20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215"/>
              </a:spcBef>
            </a:pPr>
            <a:r>
              <a:rPr dirty="0" sz="1800" spc="-10" b="1">
                <a:latin typeface="Times New Roman"/>
                <a:cs typeface="Times New Roman"/>
              </a:rPr>
              <a:t>Student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4481" y="2416301"/>
            <a:ext cx="11442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imes New Roman"/>
                <a:cs typeface="Times New Roman"/>
              </a:rPr>
              <a:t>Enrollment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52462" y="2763138"/>
          <a:ext cx="4860290" cy="1339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0040"/>
                <a:gridCol w="1590040"/>
                <a:gridCol w="1590040"/>
              </a:tblGrid>
              <a:tr h="3346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Programme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Rahul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Sharma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M.Tech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Priya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Gupta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M.Tech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Ankit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Verma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MBA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871589" y="2773298"/>
          <a:ext cx="4859655" cy="1340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6140"/>
                <a:gridCol w="2635250"/>
              </a:tblGrid>
              <a:tr h="33528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CourseID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DB501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AI502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DB501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887718" y="4228845"/>
            <a:ext cx="647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Times New Roman"/>
                <a:cs typeface="Times New Roman"/>
              </a:rPr>
              <a:t>Result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8812" y="4554790"/>
            <a:ext cx="4846955" cy="14776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1905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50"/>
              </a:spcBef>
            </a:pPr>
            <a:r>
              <a:rPr dirty="0" sz="1800">
                <a:latin typeface="Courier New"/>
                <a:cs typeface="Courier New"/>
              </a:rPr>
              <a:t>SELECT</a:t>
            </a:r>
            <a:r>
              <a:rPr dirty="0" sz="1800" spc="-100">
                <a:latin typeface="Courier New"/>
                <a:cs typeface="Courier New"/>
              </a:rPr>
              <a:t> </a:t>
            </a:r>
            <a:r>
              <a:rPr dirty="0" sz="1800">
                <a:latin typeface="Courier New"/>
                <a:cs typeface="Courier New"/>
              </a:rPr>
              <a:t>S.StudentID,</a:t>
            </a:r>
            <a:r>
              <a:rPr dirty="0" sz="1800" spc="-90">
                <a:latin typeface="Courier New"/>
                <a:cs typeface="Courier New"/>
              </a:rPr>
              <a:t> </a:t>
            </a:r>
            <a:r>
              <a:rPr dirty="0" sz="1800" spc="-10">
                <a:latin typeface="Courier New"/>
                <a:cs typeface="Courier New"/>
              </a:rPr>
              <a:t>S.StudentName,</a:t>
            </a:r>
            <a:endParaRPr sz="1800">
              <a:latin typeface="Courier New"/>
              <a:cs typeface="Courier New"/>
            </a:endParaRPr>
          </a:p>
          <a:p>
            <a:pPr marL="45720" marR="2880995">
              <a:lnSpc>
                <a:spcPct val="100000"/>
              </a:lnSpc>
            </a:pPr>
            <a:r>
              <a:rPr dirty="0" sz="1800" spc="-10">
                <a:latin typeface="Courier New"/>
                <a:cs typeface="Courier New"/>
              </a:rPr>
              <a:t>E.CourseID </a:t>
            </a:r>
            <a:r>
              <a:rPr dirty="0" sz="1800">
                <a:latin typeface="Courier New"/>
                <a:cs typeface="Courier New"/>
              </a:rPr>
              <a:t>FROM</a:t>
            </a:r>
            <a:r>
              <a:rPr dirty="0" sz="1800" spc="-70">
                <a:latin typeface="Courier New"/>
                <a:cs typeface="Courier New"/>
              </a:rPr>
              <a:t> </a:t>
            </a:r>
            <a:r>
              <a:rPr dirty="0" sz="1800">
                <a:latin typeface="Courier New"/>
                <a:cs typeface="Courier New"/>
              </a:rPr>
              <a:t>Student</a:t>
            </a:r>
            <a:r>
              <a:rPr dirty="0" sz="1800" spc="-45">
                <a:latin typeface="Courier New"/>
                <a:cs typeface="Courier New"/>
              </a:rPr>
              <a:t> </a:t>
            </a:r>
            <a:r>
              <a:rPr dirty="0" sz="1800" spc="-50">
                <a:latin typeface="Courier New"/>
                <a:cs typeface="Courier New"/>
              </a:rPr>
              <a:t>S</a:t>
            </a:r>
            <a:endParaRPr sz="18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800">
                <a:latin typeface="Courier New"/>
                <a:cs typeface="Courier New"/>
              </a:rPr>
              <a:t>INNER</a:t>
            </a:r>
            <a:r>
              <a:rPr dirty="0" sz="1800" spc="-70">
                <a:latin typeface="Courier New"/>
                <a:cs typeface="Courier New"/>
              </a:rPr>
              <a:t> </a:t>
            </a:r>
            <a:r>
              <a:rPr dirty="0" sz="1800">
                <a:latin typeface="Courier New"/>
                <a:cs typeface="Courier New"/>
              </a:rPr>
              <a:t>JOIN</a:t>
            </a:r>
            <a:r>
              <a:rPr dirty="0" sz="1800" spc="-70">
                <a:latin typeface="Courier New"/>
                <a:cs typeface="Courier New"/>
              </a:rPr>
              <a:t> </a:t>
            </a:r>
            <a:r>
              <a:rPr dirty="0" sz="1800">
                <a:latin typeface="Courier New"/>
                <a:cs typeface="Courier New"/>
              </a:rPr>
              <a:t>Enrollment</a:t>
            </a:r>
            <a:r>
              <a:rPr dirty="0" sz="1800" spc="-65">
                <a:latin typeface="Courier New"/>
                <a:cs typeface="Courier New"/>
              </a:rPr>
              <a:t> </a:t>
            </a:r>
            <a:r>
              <a:rPr dirty="0" sz="1800" spc="-50">
                <a:latin typeface="Courier New"/>
                <a:cs typeface="Courier New"/>
              </a:rPr>
              <a:t>E</a:t>
            </a:r>
            <a:endParaRPr sz="18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800">
                <a:latin typeface="Courier New"/>
                <a:cs typeface="Courier New"/>
              </a:rPr>
              <a:t>ON</a:t>
            </a:r>
            <a:r>
              <a:rPr dirty="0" sz="1800" spc="-50">
                <a:latin typeface="Courier New"/>
                <a:cs typeface="Courier New"/>
              </a:rPr>
              <a:t> </a:t>
            </a:r>
            <a:r>
              <a:rPr dirty="0" sz="1800">
                <a:latin typeface="Courier New"/>
                <a:cs typeface="Courier New"/>
              </a:rPr>
              <a:t>S.StudentID</a:t>
            </a:r>
            <a:r>
              <a:rPr dirty="0" sz="1800" spc="-40">
                <a:latin typeface="Courier New"/>
                <a:cs typeface="Courier New"/>
              </a:rPr>
              <a:t> </a:t>
            </a:r>
            <a:r>
              <a:rPr dirty="0" sz="1800">
                <a:latin typeface="Courier New"/>
                <a:cs typeface="Courier New"/>
              </a:rPr>
              <a:t>=</a:t>
            </a:r>
            <a:r>
              <a:rPr dirty="0" sz="1800" spc="-45">
                <a:latin typeface="Courier New"/>
                <a:cs typeface="Courier New"/>
              </a:rPr>
              <a:t> </a:t>
            </a:r>
            <a:r>
              <a:rPr dirty="0" sz="1800" spc="-10">
                <a:latin typeface="Courier New"/>
                <a:cs typeface="Courier New"/>
              </a:rPr>
              <a:t>E.StudentID;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00281" y="4887208"/>
            <a:ext cx="862965" cy="560070"/>
            <a:chOff x="5800281" y="4887208"/>
            <a:chExt cx="862965" cy="56007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0281" y="4887208"/>
              <a:ext cx="862722" cy="55968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844158" y="4917185"/>
              <a:ext cx="775335" cy="450215"/>
            </a:xfrm>
            <a:custGeom>
              <a:avLst/>
              <a:gdLst/>
              <a:ahLst/>
              <a:cxnLst/>
              <a:rect l="l" t="t" r="r" b="b"/>
              <a:pathLst>
                <a:path w="775334" h="450214">
                  <a:moveTo>
                    <a:pt x="550290" y="0"/>
                  </a:moveTo>
                  <a:lnTo>
                    <a:pt x="550290" y="112521"/>
                  </a:lnTo>
                  <a:lnTo>
                    <a:pt x="0" y="112521"/>
                  </a:lnTo>
                  <a:lnTo>
                    <a:pt x="0" y="337438"/>
                  </a:lnTo>
                  <a:lnTo>
                    <a:pt x="550290" y="337438"/>
                  </a:lnTo>
                  <a:lnTo>
                    <a:pt x="550290" y="449960"/>
                  </a:lnTo>
                  <a:lnTo>
                    <a:pt x="775335" y="224916"/>
                  </a:lnTo>
                  <a:lnTo>
                    <a:pt x="5502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844158" y="4917185"/>
              <a:ext cx="775335" cy="450215"/>
            </a:xfrm>
            <a:custGeom>
              <a:avLst/>
              <a:gdLst/>
              <a:ahLst/>
              <a:cxnLst/>
              <a:rect l="l" t="t" r="r" b="b"/>
              <a:pathLst>
                <a:path w="775334" h="450214">
                  <a:moveTo>
                    <a:pt x="0" y="112521"/>
                  </a:moveTo>
                  <a:lnTo>
                    <a:pt x="550290" y="112521"/>
                  </a:lnTo>
                  <a:lnTo>
                    <a:pt x="550290" y="0"/>
                  </a:lnTo>
                  <a:lnTo>
                    <a:pt x="775335" y="224916"/>
                  </a:lnTo>
                  <a:lnTo>
                    <a:pt x="550290" y="449960"/>
                  </a:lnTo>
                  <a:lnTo>
                    <a:pt x="550290" y="337438"/>
                  </a:lnTo>
                  <a:lnTo>
                    <a:pt x="0" y="337438"/>
                  </a:lnTo>
                  <a:lnTo>
                    <a:pt x="0" y="112521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881494" y="4548377"/>
          <a:ext cx="4859655" cy="13404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0040"/>
                <a:gridCol w="1590040"/>
                <a:gridCol w="1590040"/>
              </a:tblGrid>
              <a:tr h="33528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CourseID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Rahul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Sharma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DB501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Rahul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Sharma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AI502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Priya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Gupta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DB501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56807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Comparison</a:t>
            </a:r>
            <a:r>
              <a:rPr dirty="0" spc="-220"/>
              <a:t> </a:t>
            </a:r>
            <a:r>
              <a:rPr dirty="0" spc="-90"/>
              <a:t>of</a:t>
            </a:r>
            <a:r>
              <a:rPr dirty="0" spc="-260"/>
              <a:t> </a:t>
            </a:r>
            <a:r>
              <a:rPr dirty="0" spc="-114"/>
              <a:t>SQL</a:t>
            </a:r>
            <a:r>
              <a:rPr dirty="0" spc="-260"/>
              <a:t> </a:t>
            </a:r>
            <a:r>
              <a:rPr dirty="0" spc="-125"/>
              <a:t>Join</a:t>
            </a:r>
            <a:r>
              <a:rPr dirty="0" spc="-235"/>
              <a:t> </a:t>
            </a:r>
            <a:r>
              <a:rPr dirty="0" spc="-9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3293" y="1468881"/>
            <a:ext cx="11372850" cy="9791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choice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join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determines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whether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matching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rows,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non-matching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rows,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both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included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query result.</a:t>
            </a:r>
            <a:endParaRPr sz="2000">
              <a:latin typeface="Times New Roman"/>
              <a:cs typeface="Times New Roman"/>
            </a:endParaRPr>
          </a:p>
          <a:p>
            <a:pPr marL="499745">
              <a:lnSpc>
                <a:spcPct val="100000"/>
              </a:lnSpc>
              <a:spcBef>
                <a:spcPts val="540"/>
              </a:spcBef>
              <a:tabLst>
                <a:tab pos="6523355" algn="l"/>
              </a:tabLst>
            </a:pPr>
            <a:r>
              <a:rPr dirty="0" baseline="1543" sz="2700" spc="-15" b="1">
                <a:latin typeface="Times New Roman"/>
                <a:cs typeface="Times New Roman"/>
              </a:rPr>
              <a:t>Student</a:t>
            </a:r>
            <a:r>
              <a:rPr dirty="0" baseline="1543" sz="2700" b="1">
                <a:latin typeface="Times New Roman"/>
                <a:cs typeface="Times New Roman"/>
              </a:rPr>
              <a:t>	</a:t>
            </a:r>
            <a:r>
              <a:rPr dirty="0" sz="1800" spc="-10" b="1">
                <a:latin typeface="Times New Roman"/>
                <a:cs typeface="Times New Roman"/>
              </a:rPr>
              <a:t>Enrollment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2462" y="2494787"/>
          <a:ext cx="4860290" cy="1339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0040"/>
                <a:gridCol w="1590040"/>
                <a:gridCol w="1590040"/>
              </a:tblGrid>
              <a:tr h="3346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Programme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Rahul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Sharma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M.Tech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Priya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Gupta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M.Tech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Ankit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Verma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MBA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71589" y="2504947"/>
          <a:ext cx="4859655" cy="1339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6140"/>
                <a:gridCol w="2635250"/>
              </a:tblGrid>
              <a:tr h="33528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StudentID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CourseID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DB501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AI502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102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DB501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91972" y="4173727"/>
            <a:ext cx="13455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Join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Results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52462" y="4522215"/>
          <a:ext cx="10949305" cy="1979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87570"/>
                <a:gridCol w="6172200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Join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Returned</a:t>
                      </a:r>
                      <a:r>
                        <a:rPr dirty="0" sz="2000" spc="-4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Rows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INNER</a:t>
                      </a:r>
                      <a:r>
                        <a:rPr dirty="0" sz="2000" spc="-8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JOIN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101,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102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(matching</a:t>
                      </a:r>
                      <a:r>
                        <a:rPr dirty="0" sz="2000" spc="-3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2000" spc="-3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i="1">
                          <a:latin typeface="Times New Roman"/>
                          <a:cs typeface="Times New Roman"/>
                        </a:rPr>
                        <a:t>only)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LEFT</a:t>
                      </a:r>
                      <a:r>
                        <a:rPr dirty="0" sz="20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OUTER</a:t>
                      </a:r>
                      <a:r>
                        <a:rPr dirty="0" sz="20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JOIN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101,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102,</a:t>
                      </a:r>
                      <a:r>
                        <a:rPr dirty="0" sz="2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103</a:t>
                      </a:r>
                      <a:r>
                        <a:rPr dirty="0" sz="20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(all</a:t>
                      </a:r>
                      <a:r>
                        <a:rPr dirty="0" sz="2000" spc="-1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students</a:t>
                      </a:r>
                      <a:r>
                        <a:rPr dirty="0" sz="2000" spc="-3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+ matching</a:t>
                      </a:r>
                      <a:r>
                        <a:rPr dirty="0" sz="20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i="1">
                          <a:latin typeface="Times New Roman"/>
                          <a:cs typeface="Times New Roman"/>
                        </a:rPr>
                        <a:t>enrollments)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dirty="0" sz="20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OUTER</a:t>
                      </a:r>
                      <a:r>
                        <a:rPr dirty="0" sz="20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JOIN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101,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102,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104</a:t>
                      </a:r>
                      <a:r>
                        <a:rPr dirty="0" sz="20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(all</a:t>
                      </a:r>
                      <a:r>
                        <a:rPr dirty="0" sz="2000" spc="-2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enrollments</a:t>
                      </a:r>
                      <a:r>
                        <a:rPr dirty="0" sz="2000" spc="-4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000" spc="-1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dirty="0" sz="2000" spc="-3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i="1">
                          <a:latin typeface="Times New Roman"/>
                          <a:cs typeface="Times New Roman"/>
                        </a:rPr>
                        <a:t>students)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 b="1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dirty="0" sz="20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OUTER</a:t>
                      </a:r>
                      <a:r>
                        <a:rPr dirty="0" sz="20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20" b="1">
                          <a:latin typeface="Times New Roman"/>
                          <a:cs typeface="Times New Roman"/>
                        </a:rPr>
                        <a:t>JOIN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101,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102,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103,</a:t>
                      </a:r>
                      <a:r>
                        <a:rPr dirty="0" sz="20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b="1">
                          <a:latin typeface="Times New Roman"/>
                          <a:cs typeface="Times New Roman"/>
                        </a:rPr>
                        <a:t>104</a:t>
                      </a:r>
                      <a:r>
                        <a:rPr dirty="0" sz="2000" spc="-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(all</a:t>
                      </a:r>
                      <a:r>
                        <a:rPr dirty="0" sz="2000" spc="-1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rows</a:t>
                      </a:r>
                      <a:r>
                        <a:rPr dirty="0" sz="2000" spc="-2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2000" spc="-20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i="1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2000" spc="-15" i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 i="1">
                          <a:latin typeface="Times New Roman"/>
                          <a:cs typeface="Times New Roman"/>
                        </a:rPr>
                        <a:t>tables)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Subqueries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1573"/>
            <a:ext cx="10874375" cy="1366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97815" marR="508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160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subquery</a:t>
            </a:r>
            <a:r>
              <a:rPr dirty="0" sz="2200" spc="17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(also</a:t>
            </a:r>
            <a:r>
              <a:rPr dirty="0" sz="2200" spc="1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called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170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nested</a:t>
            </a:r>
            <a:r>
              <a:rPr dirty="0" sz="2200" spc="16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query</a:t>
            </a:r>
            <a:r>
              <a:rPr dirty="0" sz="2200">
                <a:latin typeface="Times New Roman"/>
                <a:cs typeface="Times New Roman"/>
              </a:rPr>
              <a:t>)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1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query</a:t>
            </a:r>
            <a:r>
              <a:rPr dirty="0" sz="2200" spc="1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written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inside</a:t>
            </a:r>
            <a:r>
              <a:rPr dirty="0" sz="2200" spc="1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another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SQL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query.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The </a:t>
            </a:r>
            <a:r>
              <a:rPr dirty="0" sz="2200" spc="-25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result</a:t>
            </a:r>
            <a:r>
              <a:rPr dirty="0" sz="2200" spc="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1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1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inner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query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1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used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by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1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outer</a:t>
            </a:r>
            <a:r>
              <a:rPr dirty="0" sz="2200" spc="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query</a:t>
            </a:r>
            <a:r>
              <a:rPr dirty="0" sz="2200" spc="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perform</a:t>
            </a:r>
            <a:r>
              <a:rPr dirty="0" sz="2200" spc="1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filtering,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comparison,</a:t>
            </a:r>
            <a:r>
              <a:rPr dirty="0" sz="2200" spc="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13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data </a:t>
            </a:r>
            <a:r>
              <a:rPr dirty="0" sz="2200" spc="-2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retrieval.</a:t>
            </a:r>
            <a:endParaRPr sz="2200">
              <a:latin typeface="Times New Roman"/>
              <a:cs typeface="Times New Roman"/>
            </a:endParaRPr>
          </a:p>
          <a:p>
            <a:pPr algn="just" marL="298450" indent="-2857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2200" spc="-10" b="1">
                <a:latin typeface="Times New Roman"/>
                <a:cs typeface="Times New Roman"/>
              </a:rPr>
              <a:t>Syntax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5190" y="3158362"/>
            <a:ext cx="6092825" cy="18161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085" marR="412242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column_name </a:t>
            </a: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2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table_name</a:t>
            </a:r>
            <a:endParaRPr sz="1400">
              <a:latin typeface="Courier New"/>
              <a:cs typeface="Courier New"/>
            </a:endParaRPr>
          </a:p>
          <a:p>
            <a:pPr marL="45085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7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column_name</a:t>
            </a:r>
            <a:r>
              <a:rPr dirty="0" sz="1400" spc="-7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operator</a:t>
            </a:r>
            <a:endParaRPr sz="1400">
              <a:latin typeface="Courier New"/>
              <a:cs typeface="Courier New"/>
            </a:endParaRPr>
          </a:p>
          <a:p>
            <a:pPr marL="45085">
              <a:lnSpc>
                <a:spcPct val="100000"/>
              </a:lnSpc>
            </a:pPr>
            <a:r>
              <a:rPr dirty="0" sz="1400" spc="-50">
                <a:latin typeface="Courier New"/>
                <a:cs typeface="Courier New"/>
              </a:rPr>
              <a:t>(</a:t>
            </a:r>
            <a:endParaRPr sz="1400">
              <a:latin typeface="Courier New"/>
              <a:cs typeface="Courier New"/>
            </a:endParaRPr>
          </a:p>
          <a:p>
            <a:pPr marL="472440" marR="369697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column_name </a:t>
            </a: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3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table_name </a:t>
            </a: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condition</a:t>
            </a:r>
            <a:endParaRPr sz="1400">
              <a:latin typeface="Courier New"/>
              <a:cs typeface="Courier New"/>
            </a:endParaRPr>
          </a:p>
          <a:p>
            <a:pPr marL="45085">
              <a:lnSpc>
                <a:spcPct val="100000"/>
              </a:lnSpc>
            </a:pPr>
            <a:r>
              <a:rPr dirty="0" sz="1400" spc="-25">
                <a:latin typeface="Courier New"/>
                <a:cs typeface="Courier New"/>
              </a:rPr>
              <a:t>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0816" y="5025008"/>
            <a:ext cx="9076690" cy="1701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imes New Roman"/>
                <a:cs typeface="Times New Roman"/>
              </a:rPr>
              <a:t>Common</a:t>
            </a:r>
            <a:r>
              <a:rPr dirty="0" sz="2200" spc="-2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Uses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Subqueries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Retrieve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result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another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query.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Compare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values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aggregated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results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(e.g.,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average,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maximum,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minimum).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Filter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records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IN,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EXISTS,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ANY,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ALL.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Simplify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complex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retrieval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problems.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Examples</a:t>
            </a:r>
            <a:r>
              <a:rPr dirty="0" spc="-225"/>
              <a:t> </a:t>
            </a:r>
            <a:r>
              <a:rPr dirty="0" spc="-90"/>
              <a:t>of</a:t>
            </a:r>
            <a:r>
              <a:rPr dirty="0" spc="-270"/>
              <a:t> </a:t>
            </a:r>
            <a:r>
              <a:rPr dirty="0" spc="-135"/>
              <a:t>Subqueries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432940"/>
            <a:ext cx="6642100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Example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1: </a:t>
            </a:r>
            <a:r>
              <a:rPr dirty="0" sz="2000" spc="-10" b="1">
                <a:latin typeface="Times New Roman"/>
                <a:cs typeface="Times New Roman"/>
              </a:rPr>
              <a:t>Single-</a:t>
            </a:r>
            <a:r>
              <a:rPr dirty="0" sz="2000" b="1">
                <a:latin typeface="Times New Roman"/>
                <a:cs typeface="Times New Roman"/>
              </a:rPr>
              <a:t>Row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Subquery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Retrieve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students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whose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CGPA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is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higher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than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average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CGPA of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all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students.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4150" y="2363215"/>
            <a:ext cx="6092825" cy="160083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 marR="231394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9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StudentID,</a:t>
            </a:r>
            <a:r>
              <a:rPr dirty="0" sz="1400" spc="-6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StudentName,</a:t>
            </a:r>
            <a:r>
              <a:rPr dirty="0" sz="1400" spc="-65">
                <a:latin typeface="Courier New"/>
                <a:cs typeface="Courier New"/>
              </a:rPr>
              <a:t> </a:t>
            </a:r>
            <a:r>
              <a:rPr dirty="0" sz="1400" spc="-20">
                <a:latin typeface="Courier New"/>
                <a:cs typeface="Courier New"/>
              </a:rPr>
              <a:t>CGPA </a:t>
            </a: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</a:t>
            </a:r>
            <a:endParaRPr sz="1400">
              <a:latin typeface="Courier New"/>
              <a:cs typeface="Courier New"/>
            </a:endParaRPr>
          </a:p>
          <a:p>
            <a:pPr marL="45720" marR="476123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CGPA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50">
                <a:latin typeface="Courier New"/>
                <a:cs typeface="Courier New"/>
              </a:rPr>
              <a:t>&gt; (</a:t>
            </a:r>
            <a:endParaRPr sz="1400">
              <a:latin typeface="Courier New"/>
              <a:cs typeface="Courier New"/>
            </a:endParaRPr>
          </a:p>
          <a:p>
            <a:pPr marL="47244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AVG(CGPA)</a:t>
            </a:r>
            <a:endParaRPr sz="1400">
              <a:latin typeface="Courier New"/>
              <a:cs typeface="Courier New"/>
            </a:endParaRPr>
          </a:p>
          <a:p>
            <a:pPr marL="47244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3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400" spc="-25">
                <a:latin typeface="Courier New"/>
                <a:cs typeface="Courier New"/>
              </a:rPr>
              <a:t>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4024375"/>
            <a:ext cx="5433060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Times New Roman"/>
                <a:cs typeface="Times New Roman"/>
              </a:rPr>
              <a:t>Example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2: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Multi-Row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Subquery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000" b="1">
                <a:latin typeface="Times New Roman"/>
                <a:cs typeface="Times New Roman"/>
              </a:rPr>
              <a:t>Retrieve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students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enrolled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course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DB501</a:t>
            </a:r>
            <a:r>
              <a:rPr dirty="0" sz="2000" spc="-10" b="1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7646" y="4642611"/>
            <a:ext cx="6092825" cy="18161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6034" rIns="0" bIns="0" rtlCol="0" vert="horz">
            <a:spAutoFit/>
          </a:bodyPr>
          <a:lstStyle/>
          <a:p>
            <a:pPr marL="45720" marR="3058795">
              <a:lnSpc>
                <a:spcPct val="100000"/>
              </a:lnSpc>
              <a:spcBef>
                <a:spcPts val="204"/>
              </a:spcBef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StudentID,StudentName </a:t>
            </a: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2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</a:t>
            </a:r>
            <a:endParaRPr sz="1400">
              <a:latin typeface="Courier New"/>
              <a:cs typeface="Courier New"/>
            </a:endParaRPr>
          </a:p>
          <a:p>
            <a:pPr marL="45720" marR="412242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StudentID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 spc="-25">
                <a:latin typeface="Courier New"/>
                <a:cs typeface="Courier New"/>
              </a:rPr>
              <a:t>IN </a:t>
            </a:r>
            <a:r>
              <a:rPr dirty="0" sz="1400" spc="-50">
                <a:latin typeface="Courier New"/>
                <a:cs typeface="Courier New"/>
              </a:rPr>
              <a:t>(</a:t>
            </a:r>
            <a:endParaRPr sz="1400">
              <a:latin typeface="Courier New"/>
              <a:cs typeface="Courier New"/>
            </a:endParaRPr>
          </a:p>
          <a:p>
            <a:pPr marL="472440" marR="390906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SELECT</a:t>
            </a:r>
            <a:r>
              <a:rPr dirty="0" sz="1400" spc="-5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StudentID </a:t>
            </a:r>
            <a:r>
              <a:rPr dirty="0" sz="1400">
                <a:latin typeface="Courier New"/>
                <a:cs typeface="Courier New"/>
              </a:rPr>
              <a:t>FROM</a:t>
            </a:r>
            <a:r>
              <a:rPr dirty="0" sz="1400" spc="-3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Enrollment</a:t>
            </a:r>
            <a:endParaRPr sz="1400">
              <a:latin typeface="Courier New"/>
              <a:cs typeface="Courier New"/>
            </a:endParaRPr>
          </a:p>
          <a:p>
            <a:pPr marL="47244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CourseID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'DB501'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400" spc="-25">
                <a:latin typeface="Courier New"/>
                <a:cs typeface="Courier New"/>
              </a:rPr>
              <a:t>);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732" y="1596376"/>
            <a:ext cx="4239006" cy="472490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72790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Transaction</a:t>
            </a:r>
            <a:r>
              <a:rPr dirty="0" spc="-200"/>
              <a:t> </a:t>
            </a:r>
            <a:r>
              <a:rPr dirty="0" spc="-145"/>
              <a:t>Basics</a:t>
            </a:r>
            <a:r>
              <a:rPr dirty="0" spc="-204"/>
              <a:t> </a:t>
            </a:r>
            <a:r>
              <a:rPr dirty="0" spc="-90"/>
              <a:t>in</a:t>
            </a:r>
            <a:r>
              <a:rPr dirty="0" spc="-245"/>
              <a:t> </a:t>
            </a:r>
            <a:r>
              <a:rPr dirty="0" spc="-150"/>
              <a:t>Relational</a:t>
            </a:r>
            <a:r>
              <a:rPr dirty="0" spc="-204"/>
              <a:t> </a:t>
            </a:r>
            <a:r>
              <a:rPr dirty="0" spc="-11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1573"/>
            <a:ext cx="10872470" cy="16103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2425" marR="5080" indent="-33972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transaction</a:t>
            </a:r>
            <a:r>
              <a:rPr dirty="0" sz="2000" spc="8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sequence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one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more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SQL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operations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executed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single</a:t>
            </a:r>
            <a:r>
              <a:rPr dirty="0" sz="2000" spc="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logical</a:t>
            </a:r>
            <a:r>
              <a:rPr dirty="0" sz="2000" spc="6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unit </a:t>
            </a:r>
            <a:r>
              <a:rPr dirty="0" sz="2000" spc="-20" b="1">
                <a:latin typeface="Times New Roman"/>
                <a:cs typeface="Times New Roman"/>
              </a:rPr>
              <a:t>	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4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work</a:t>
            </a:r>
            <a:r>
              <a:rPr dirty="0" sz="2000">
                <a:latin typeface="Times New Roman"/>
                <a:cs typeface="Times New Roman"/>
              </a:rPr>
              <a:t>.</a:t>
            </a:r>
            <a:r>
              <a:rPr dirty="0" sz="2000" spc="4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4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transaction</a:t>
            </a:r>
            <a:r>
              <a:rPr dirty="0" sz="2000" spc="48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is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considered</a:t>
            </a:r>
            <a:r>
              <a:rPr dirty="0" sz="2000" spc="4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successful</a:t>
            </a:r>
            <a:r>
              <a:rPr dirty="0" sz="2000" spc="4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only</a:t>
            </a:r>
            <a:r>
              <a:rPr dirty="0" sz="2000" spc="45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if</a:t>
            </a:r>
            <a:r>
              <a:rPr dirty="0" sz="2000" spc="47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all</a:t>
            </a:r>
            <a:r>
              <a:rPr dirty="0" sz="2000" spc="47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4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operations</a:t>
            </a:r>
            <a:r>
              <a:rPr dirty="0" sz="2000" spc="48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complete</a:t>
            </a:r>
            <a:r>
              <a:rPr dirty="0" sz="2000" spc="4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successfully;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otherwise,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changes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are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undone.</a:t>
            </a:r>
            <a:endParaRPr sz="2000">
              <a:latin typeface="Times New Roman"/>
              <a:cs typeface="Times New Roman"/>
            </a:endParaRPr>
          </a:p>
          <a:p>
            <a:pPr algn="just" marL="355600" indent="-342900">
              <a:lnSpc>
                <a:spcPts val="2635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200" b="1">
                <a:latin typeface="Times New Roman"/>
                <a:cs typeface="Times New Roman"/>
              </a:rPr>
              <a:t>Example: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Bank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Fund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Transfer</a:t>
            </a:r>
            <a:endParaRPr sz="2200">
              <a:latin typeface="Times New Roman"/>
              <a:cs typeface="Times New Roman"/>
            </a:endParaRPr>
          </a:p>
          <a:p>
            <a:pPr algn="just" lvl="1" marL="643890" indent="-182880">
              <a:lnSpc>
                <a:spcPct val="100000"/>
              </a:lnSpc>
              <a:buFont typeface="Arial"/>
              <a:buChar char="•"/>
              <a:tabLst>
                <a:tab pos="643890" algn="l"/>
              </a:tabLst>
            </a:pPr>
            <a:r>
              <a:rPr dirty="0" sz="2200">
                <a:latin typeface="Times New Roman"/>
                <a:cs typeface="Times New Roman"/>
              </a:rPr>
              <a:t>Transferring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₹5,000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from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Account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Account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B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involves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two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operations: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0609" y="3409822"/>
            <a:ext cx="3848735" cy="160083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200"/>
              </a:spcBef>
            </a:pPr>
            <a:r>
              <a:rPr dirty="0" sz="1400">
                <a:latin typeface="Courier New"/>
                <a:cs typeface="Courier New"/>
              </a:rPr>
              <a:t>UPDATE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Account</a:t>
            </a:r>
            <a:endParaRPr sz="1400">
              <a:latin typeface="Courier New"/>
              <a:cs typeface="Courier New"/>
            </a:endParaRPr>
          </a:p>
          <a:p>
            <a:pPr marL="45720" marR="814705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SET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Balance</a:t>
            </a:r>
            <a:r>
              <a:rPr dirty="0" sz="1400" spc="-3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Balance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-</a:t>
            </a:r>
            <a:r>
              <a:rPr dirty="0" sz="1400" spc="-20">
                <a:latin typeface="Courier New"/>
                <a:cs typeface="Courier New"/>
              </a:rPr>
              <a:t> 5000 </a:t>
            </a: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5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AccountID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 spc="-20">
                <a:latin typeface="Courier New"/>
                <a:cs typeface="Courier New"/>
              </a:rPr>
              <a:t>'A';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UPDATE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 spc="-10">
                <a:latin typeface="Courier New"/>
                <a:cs typeface="Courier New"/>
              </a:rPr>
              <a:t>Account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SET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Balance</a:t>
            </a:r>
            <a:r>
              <a:rPr dirty="0" sz="1400" spc="-3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3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Balance</a:t>
            </a:r>
            <a:r>
              <a:rPr dirty="0" sz="1400" spc="-30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+</a:t>
            </a:r>
            <a:r>
              <a:rPr dirty="0" sz="1400" spc="-20">
                <a:latin typeface="Courier New"/>
                <a:cs typeface="Courier New"/>
              </a:rPr>
              <a:t> 5000</a:t>
            </a:r>
            <a:endParaRPr sz="1400">
              <a:latin typeface="Courier New"/>
              <a:cs typeface="Courier New"/>
            </a:endParaRPr>
          </a:p>
          <a:p>
            <a:pPr marL="45720">
              <a:lnSpc>
                <a:spcPct val="100000"/>
              </a:lnSpc>
            </a:pPr>
            <a:r>
              <a:rPr dirty="0" sz="1400">
                <a:latin typeface="Courier New"/>
                <a:cs typeface="Courier New"/>
              </a:rPr>
              <a:t>WHERE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AccountID</a:t>
            </a:r>
            <a:r>
              <a:rPr dirty="0" sz="1400" spc="-45">
                <a:latin typeface="Courier New"/>
                <a:cs typeface="Courier New"/>
              </a:rPr>
              <a:t> </a:t>
            </a:r>
            <a:r>
              <a:rPr dirty="0" sz="1400">
                <a:latin typeface="Courier New"/>
                <a:cs typeface="Courier New"/>
              </a:rPr>
              <a:t>=</a:t>
            </a:r>
            <a:r>
              <a:rPr dirty="0" sz="1400" spc="-40">
                <a:latin typeface="Courier New"/>
                <a:cs typeface="Courier New"/>
              </a:rPr>
              <a:t> </a:t>
            </a:r>
            <a:r>
              <a:rPr dirty="0" sz="1400" spc="-20">
                <a:latin typeface="Courier New"/>
                <a:cs typeface="Courier New"/>
              </a:rPr>
              <a:t>'B';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0816" y="5268543"/>
            <a:ext cx="7611109" cy="1367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200" b="1">
                <a:latin typeface="Times New Roman"/>
                <a:cs typeface="Times New Roman"/>
              </a:rPr>
              <a:t>Key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Characteristics</a:t>
            </a:r>
            <a:endParaRPr sz="2200">
              <a:latin typeface="Times New Roman"/>
              <a:cs typeface="Times New Roman"/>
            </a:endParaRPr>
          </a:p>
          <a:p>
            <a:pPr lvl="1" marL="637540" indent="-17653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637540" algn="l"/>
              </a:tabLst>
            </a:pP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transaction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may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contain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one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or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more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SQL</a:t>
            </a:r>
            <a:r>
              <a:rPr dirty="0" sz="2200" spc="-5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statements</a:t>
            </a:r>
            <a:r>
              <a:rPr dirty="0" sz="2200" spc="-1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lvl="1" marL="637540" indent="-176530">
              <a:lnSpc>
                <a:spcPct val="100000"/>
              </a:lnSpc>
              <a:buFont typeface="Arial"/>
              <a:buChar char="•"/>
              <a:tabLst>
                <a:tab pos="637540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treats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entire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transaction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one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unit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work</a:t>
            </a:r>
            <a:r>
              <a:rPr dirty="0" sz="2200" spc="-1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lvl="1" marL="637540" indent="-176530">
              <a:lnSpc>
                <a:spcPct val="100000"/>
              </a:lnSpc>
              <a:buFont typeface="Arial"/>
              <a:buChar char="•"/>
              <a:tabLst>
                <a:tab pos="637540" algn="l"/>
              </a:tabLst>
            </a:pPr>
            <a:r>
              <a:rPr dirty="0" sz="2200">
                <a:latin typeface="Times New Roman"/>
                <a:cs typeface="Times New Roman"/>
              </a:rPr>
              <a:t>Either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all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operations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succeed</a:t>
            </a:r>
            <a:r>
              <a:rPr dirty="0" sz="2200">
                <a:latin typeface="Times New Roman"/>
                <a:cs typeface="Times New Roman"/>
              </a:rPr>
              <a:t>,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none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of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them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take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effect</a:t>
            </a:r>
            <a:r>
              <a:rPr dirty="0" sz="2200" spc="-1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States</a:t>
            </a:r>
            <a:r>
              <a:rPr dirty="0" spc="-260"/>
              <a:t> </a:t>
            </a:r>
            <a:r>
              <a:rPr dirty="0" spc="-90"/>
              <a:t>of</a:t>
            </a:r>
            <a:r>
              <a:rPr dirty="0" spc="-270"/>
              <a:t> </a:t>
            </a:r>
            <a:r>
              <a:rPr dirty="0"/>
              <a:t>a</a:t>
            </a:r>
            <a:r>
              <a:rPr dirty="0" spc="-280"/>
              <a:t> </a:t>
            </a:r>
            <a:r>
              <a:rPr dirty="0" spc="-140"/>
              <a:t>Transaction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0049"/>
            <a:ext cx="107981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During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execution,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transaction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passes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through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sequence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states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before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either </a:t>
            </a:r>
            <a:r>
              <a:rPr dirty="0" sz="2400">
                <a:latin typeface="Times New Roman"/>
                <a:cs typeface="Times New Roman"/>
              </a:rPr>
              <a:t>completes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successfully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terminated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due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error.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47800" y="2731515"/>
          <a:ext cx="5217795" cy="37166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2375"/>
                <a:gridCol w="3905885"/>
              </a:tblGrid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Active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663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transaction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currently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executing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SQL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statements.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23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Partially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Committed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1440" marR="31051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SQL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dirty="0" sz="16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executed,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yet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permanently recorded.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Committed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800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transaction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successfully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permanently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saved.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Failed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4413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error,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failure,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constraint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violation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prevents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successful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completion.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Aborted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1440" marR="5518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made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transaction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rolled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back,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restoring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its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previous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consistent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state.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8003" y="2857207"/>
            <a:ext cx="5469117" cy="326529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174228" y="6567322"/>
            <a:ext cx="269367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latin typeface="Times New Roman"/>
                <a:cs typeface="Times New Roman"/>
              </a:rPr>
              <a:t>Source:</a:t>
            </a:r>
            <a:r>
              <a:rPr dirty="0" sz="500" spc="195">
                <a:latin typeface="Times New Roman"/>
                <a:cs typeface="Times New Roman"/>
              </a:rPr>
              <a:t>  </a:t>
            </a:r>
            <a:r>
              <a:rPr dirty="0" sz="500" spc="-10">
                <a:latin typeface="Times New Roman"/>
                <a:cs typeface="Times New Roman"/>
                <a:hlinkClick r:id="rId3"/>
              </a:rPr>
              <a:t>https://medium.com/@matheesha27/transaction-states-acid-properties-</a:t>
            </a:r>
            <a:r>
              <a:rPr dirty="0" sz="500">
                <a:latin typeface="Times New Roman"/>
                <a:cs typeface="Times New Roman"/>
                <a:hlinkClick r:id="rId3"/>
              </a:rPr>
              <a:t>in-</a:t>
            </a:r>
            <a:r>
              <a:rPr dirty="0" sz="500" spc="-10">
                <a:latin typeface="Times New Roman"/>
                <a:cs typeface="Times New Roman"/>
                <a:hlinkClick r:id="rId3"/>
              </a:rPr>
              <a:t>a-dbms-94197273a14a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5"/>
              <a:t>ACID</a:t>
            </a:r>
            <a:r>
              <a:rPr dirty="0" spc="-270"/>
              <a:t> </a:t>
            </a:r>
            <a:r>
              <a:rPr dirty="0" spc="-160"/>
              <a:t>Properties</a:t>
            </a:r>
            <a:r>
              <a:rPr dirty="0" spc="-200"/>
              <a:t> </a:t>
            </a:r>
            <a:r>
              <a:rPr dirty="0" spc="-90"/>
              <a:t>of</a:t>
            </a:r>
            <a:r>
              <a:rPr dirty="0" spc="-245"/>
              <a:t> </a:t>
            </a:r>
            <a:r>
              <a:rPr dirty="0" spc="-125"/>
              <a:t>Transactions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0049"/>
            <a:ext cx="106413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ensure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reliable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consistent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transaction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processing,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systems </a:t>
            </a:r>
            <a:r>
              <a:rPr dirty="0" sz="2400">
                <a:latin typeface="Times New Roman"/>
                <a:cs typeface="Times New Roman"/>
              </a:rPr>
              <a:t>guarantee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ACID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properties.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7537" y="2713608"/>
          <a:ext cx="11320780" cy="29546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3825"/>
                <a:gridCol w="6094095"/>
                <a:gridCol w="3743960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Property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Example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Atomicity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transaction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executed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completely or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all.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647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fund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transfer,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debit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credit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operations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succeed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together;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otherwise,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rolled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back.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Consistency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222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transaction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moves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valid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another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while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preserving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integrity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constraints.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619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amount of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money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banking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remains</a:t>
                      </a:r>
                      <a:r>
                        <a:rPr dirty="0" sz="16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unchanged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transfer.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Isolation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Concurrent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transactions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execute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interfering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other.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073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Two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updating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same</a:t>
                      </a:r>
                      <a:r>
                        <a:rPr dirty="0" sz="16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account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produce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incorrect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balances.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600" spc="-10" b="1">
                          <a:latin typeface="Times New Roman"/>
                          <a:cs typeface="Times New Roman"/>
                        </a:rPr>
                        <a:t>Durability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1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Once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transaction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committed, its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changes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remain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permanent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even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failure.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dirty="0" sz="16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online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payment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lost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server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restart.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32759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Schema</a:t>
            </a:r>
            <a:r>
              <a:rPr dirty="0" spc="-235"/>
              <a:t> </a:t>
            </a:r>
            <a:r>
              <a:rPr dirty="0" spc="-130"/>
              <a:t>Evolution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0049"/>
            <a:ext cx="729234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Schema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evolution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refers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process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modifying</a:t>
            </a:r>
            <a:r>
              <a:rPr dirty="0" sz="2400" spc="60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structure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while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preserving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existing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data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maintaining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application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compatibility.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94726" y="1963927"/>
            <a:ext cx="2939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Examples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of</a:t>
            </a:r>
            <a:r>
              <a:rPr dirty="0" sz="1800" spc="-1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Schema</a:t>
            </a:r>
            <a:r>
              <a:rPr dirty="0" sz="1800" spc="-10" b="1">
                <a:latin typeface="Times New Roman"/>
                <a:cs typeface="Times New Roman"/>
              </a:rPr>
              <a:t> Changes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0816" y="3133470"/>
            <a:ext cx="6791325" cy="3317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Why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Schema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Evolution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Required?</a:t>
            </a:r>
            <a:endParaRPr sz="2400">
              <a:latin typeface="Times New Roman"/>
              <a:cs typeface="Times New Roman"/>
            </a:endParaRPr>
          </a:p>
          <a:p>
            <a:pPr lvl="1" marL="907415" marR="5080" indent="-358775">
              <a:lnSpc>
                <a:spcPct val="100000"/>
              </a:lnSpc>
              <a:buFont typeface="Arial"/>
              <a:buChar char="•"/>
              <a:tabLst>
                <a:tab pos="907415" algn="l"/>
              </a:tabLst>
            </a:pPr>
            <a:r>
              <a:rPr dirty="0" sz="2400">
                <a:latin typeface="Times New Roman"/>
                <a:cs typeface="Times New Roman"/>
              </a:rPr>
              <a:t>New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business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requirements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introduce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additional </a:t>
            </a:r>
            <a:r>
              <a:rPr dirty="0" sz="2400">
                <a:latin typeface="Times New Roman"/>
                <a:cs typeface="Times New Roman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attributes.</a:t>
            </a:r>
            <a:endParaRPr sz="2400">
              <a:latin typeface="Times New Roman"/>
              <a:cs typeface="Times New Roman"/>
            </a:endParaRPr>
          </a:p>
          <a:p>
            <a:pPr lvl="1" marL="907415" marR="222250" indent="-358775">
              <a:lnSpc>
                <a:spcPct val="100000"/>
              </a:lnSpc>
              <a:buFont typeface="Arial"/>
              <a:buChar char="•"/>
              <a:tabLst>
                <a:tab pos="907415" algn="l"/>
              </a:tabLst>
            </a:pPr>
            <a:r>
              <a:rPr dirty="0" sz="2400">
                <a:latin typeface="Times New Roman"/>
                <a:cs typeface="Times New Roman"/>
              </a:rPr>
              <a:t>Existing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attributes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may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modified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or </a:t>
            </a:r>
            <a:r>
              <a:rPr dirty="0" sz="2400" spc="-10">
                <a:latin typeface="Times New Roman"/>
                <a:cs typeface="Times New Roman"/>
              </a:rPr>
              <a:t>removed.</a:t>
            </a:r>
            <a:endParaRPr sz="2400">
              <a:latin typeface="Times New Roman"/>
              <a:cs typeface="Times New Roman"/>
            </a:endParaRPr>
          </a:p>
          <a:p>
            <a:pPr lvl="1" marL="907415" marR="17780" indent="-358775">
              <a:lnSpc>
                <a:spcPct val="100000"/>
              </a:lnSpc>
              <a:buFont typeface="Arial"/>
              <a:buChar char="•"/>
              <a:tabLst>
                <a:tab pos="907415" algn="l"/>
              </a:tabLst>
            </a:pPr>
            <a:r>
              <a:rPr dirty="0" sz="2400">
                <a:latin typeface="Times New Roman"/>
                <a:cs typeface="Times New Roman"/>
              </a:rPr>
              <a:t>Relationships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between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entities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may change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over </a:t>
            </a:r>
            <a:r>
              <a:rPr dirty="0" sz="2400" spc="-10">
                <a:latin typeface="Times New Roman"/>
                <a:cs typeface="Times New Roman"/>
              </a:rPr>
              <a:t>time.</a:t>
            </a:r>
            <a:endParaRPr sz="2400">
              <a:latin typeface="Times New Roman"/>
              <a:cs typeface="Times New Roman"/>
            </a:endParaRPr>
          </a:p>
          <a:p>
            <a:pPr lvl="1" marL="907415" marR="215900" indent="-35877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907415" algn="l"/>
              </a:tabLst>
            </a:pPr>
            <a:r>
              <a:rPr dirty="0" sz="2400">
                <a:latin typeface="Times New Roman"/>
                <a:cs typeface="Times New Roman"/>
              </a:rPr>
              <a:t>Performance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scalability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requirements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may </a:t>
            </a:r>
            <a:r>
              <a:rPr dirty="0" sz="2400">
                <a:latin typeface="Times New Roman"/>
                <a:cs typeface="Times New Roman"/>
              </a:rPr>
              <a:t>require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schema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redesign.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64245" y="2376550"/>
          <a:ext cx="3874135" cy="2973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5900"/>
                <a:gridCol w="2299335"/>
              </a:tblGrid>
              <a:tr h="381000"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Change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60261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14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SQL</a:t>
                      </a:r>
                      <a:r>
                        <a:rPr dirty="0" sz="14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Operation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648335">
                <a:tc>
                  <a:txBody>
                    <a:bodyPr/>
                    <a:lstStyle/>
                    <a:p>
                      <a:pPr marL="440055" marR="295910" indent="-1371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Add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new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column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5049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ALTER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...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ADD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COLUMN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36703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Modify</a:t>
                      </a:r>
                      <a:r>
                        <a:rPr dirty="0" sz="16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a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40055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column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ALTER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...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MODIFY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COLUMN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440055" marR="326390" indent="-10668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Remove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column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64071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ALTER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...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DROP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COLUMN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8335">
                <a:tc>
                  <a:txBody>
                    <a:bodyPr/>
                    <a:lstStyle/>
                    <a:p>
                      <a:pPr marL="328930" marR="108585" indent="-21336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Rename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table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column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64071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ALTER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...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RENAME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42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Schema</a:t>
            </a:r>
            <a:r>
              <a:rPr dirty="0" spc="-235"/>
              <a:t> </a:t>
            </a:r>
            <a:r>
              <a:rPr dirty="0" spc="-135"/>
              <a:t>Versioning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0049"/>
            <a:ext cx="9620250" cy="4233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3060" marR="5080" indent="-3403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Schema</a:t>
            </a:r>
            <a:r>
              <a:rPr dirty="0" sz="2400" spc="38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versioning</a:t>
            </a:r>
            <a:r>
              <a:rPr dirty="0" sz="2400" spc="37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38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3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practice</a:t>
            </a:r>
            <a:r>
              <a:rPr dirty="0" sz="2400" spc="37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3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maintaining</a:t>
            </a:r>
            <a:r>
              <a:rPr dirty="0" sz="2400" spc="3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3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tracking</a:t>
            </a:r>
            <a:r>
              <a:rPr dirty="0" sz="2400" spc="39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different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versions</a:t>
            </a:r>
            <a:r>
              <a:rPr dirty="0" sz="2400" spc="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database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schema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as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evolves.</a:t>
            </a:r>
            <a:r>
              <a:rPr dirty="0" sz="2400" spc="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It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enables</a:t>
            </a:r>
            <a:r>
              <a:rPr dirty="0" sz="2400" spc="1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databases</a:t>
            </a:r>
            <a:r>
              <a:rPr dirty="0" sz="2400" spc="15">
                <a:latin typeface="Times New Roman"/>
                <a:cs typeface="Times New Roman"/>
              </a:rPr>
              <a:t>  </a:t>
            </a:r>
            <a:r>
              <a:rPr dirty="0" sz="2400" spc="-25">
                <a:latin typeface="Times New Roman"/>
                <a:cs typeface="Times New Roman"/>
              </a:rPr>
              <a:t>and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applications</a:t>
            </a:r>
            <a:r>
              <a:rPr dirty="0" sz="2400" spc="49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49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evolve</a:t>
            </a:r>
            <a:r>
              <a:rPr dirty="0" sz="2400" spc="49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49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 spc="49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controlled</a:t>
            </a:r>
            <a:r>
              <a:rPr dirty="0" sz="2400" spc="49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manner</a:t>
            </a:r>
            <a:r>
              <a:rPr dirty="0" sz="2400" spc="50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while</a:t>
            </a:r>
            <a:r>
              <a:rPr dirty="0" sz="2400" spc="500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preserving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compatibility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supporting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reliable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deployments.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dirty="0" sz="2400" b="1">
                <a:latin typeface="Times New Roman"/>
                <a:cs typeface="Times New Roman"/>
              </a:rPr>
              <a:t>Why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is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Schema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Versioning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Important?</a:t>
            </a:r>
            <a:endParaRPr sz="2400">
              <a:latin typeface="Times New Roman"/>
              <a:cs typeface="Times New Roman"/>
            </a:endParaRPr>
          </a:p>
          <a:p>
            <a:pPr lvl="1" marL="636905" indent="-267970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636905" algn="l"/>
              </a:tabLst>
            </a:pPr>
            <a:r>
              <a:rPr dirty="0" sz="2200">
                <a:latin typeface="Times New Roman"/>
                <a:cs typeface="Times New Roman"/>
              </a:rPr>
              <a:t>Tracks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changes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made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schema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over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time.</a:t>
            </a:r>
            <a:endParaRPr sz="2200">
              <a:latin typeface="Times New Roman"/>
              <a:cs typeface="Times New Roman"/>
            </a:endParaRPr>
          </a:p>
          <a:p>
            <a:pPr lvl="1" marL="637540" marR="7620" indent="-268605">
              <a:lnSpc>
                <a:spcPct val="100000"/>
              </a:lnSpc>
              <a:buFont typeface="Arial"/>
              <a:buChar char="•"/>
              <a:tabLst>
                <a:tab pos="637540" algn="l"/>
              </a:tabLst>
            </a:pPr>
            <a:r>
              <a:rPr dirty="0" sz="2200">
                <a:latin typeface="Times New Roman"/>
                <a:cs typeface="Times New Roman"/>
              </a:rPr>
              <a:t>Ensures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all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environments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(development,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testing,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production)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correct </a:t>
            </a:r>
            <a:r>
              <a:rPr dirty="0" sz="2200">
                <a:latin typeface="Times New Roman"/>
                <a:cs typeface="Times New Roman"/>
              </a:rPr>
              <a:t>schema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version.</a:t>
            </a:r>
            <a:endParaRPr sz="2200">
              <a:latin typeface="Times New Roman"/>
              <a:cs typeface="Times New Roman"/>
            </a:endParaRPr>
          </a:p>
          <a:p>
            <a:pPr lvl="1" marL="636905" indent="-267970">
              <a:lnSpc>
                <a:spcPct val="100000"/>
              </a:lnSpc>
              <a:buFont typeface="Arial"/>
              <a:buChar char="•"/>
              <a:tabLst>
                <a:tab pos="636905" algn="l"/>
              </a:tabLst>
            </a:pPr>
            <a:r>
              <a:rPr dirty="0" sz="2200">
                <a:latin typeface="Times New Roman"/>
                <a:cs typeface="Times New Roman"/>
              </a:rPr>
              <a:t>Supports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controlled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deployment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database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updates.</a:t>
            </a:r>
            <a:endParaRPr sz="2200">
              <a:latin typeface="Times New Roman"/>
              <a:cs typeface="Times New Roman"/>
            </a:endParaRPr>
          </a:p>
          <a:p>
            <a:pPr lvl="1" marL="636905" indent="-267970">
              <a:lnSpc>
                <a:spcPct val="100000"/>
              </a:lnSpc>
              <a:buFont typeface="Arial"/>
              <a:buChar char="•"/>
              <a:tabLst>
                <a:tab pos="636905" algn="l"/>
              </a:tabLst>
            </a:pPr>
            <a:r>
              <a:rPr dirty="0" sz="2200">
                <a:latin typeface="Times New Roman"/>
                <a:cs typeface="Times New Roman"/>
              </a:rPr>
              <a:t>Enables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rollback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if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schema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change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introduces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issues.</a:t>
            </a:r>
            <a:endParaRPr sz="2200">
              <a:latin typeface="Times New Roman"/>
              <a:cs typeface="Times New Roman"/>
            </a:endParaRPr>
          </a:p>
          <a:p>
            <a:pPr lvl="1" marL="636905" indent="-267970">
              <a:lnSpc>
                <a:spcPct val="100000"/>
              </a:lnSpc>
              <a:buFont typeface="Arial"/>
              <a:buChar char="•"/>
              <a:tabLst>
                <a:tab pos="636905" algn="l"/>
              </a:tabLst>
            </a:pPr>
            <a:r>
              <a:rPr dirty="0" sz="2200">
                <a:latin typeface="Times New Roman"/>
                <a:cs typeface="Times New Roman"/>
              </a:rPr>
              <a:t>Facilitates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collaboration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among</a:t>
            </a:r>
            <a:r>
              <a:rPr dirty="0" sz="2200" spc="-9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multiple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developers.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30035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Denormalisation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2663" y="1411604"/>
            <a:ext cx="6207125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3060" marR="5080" indent="-34099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Denormalisation</a:t>
            </a:r>
            <a:r>
              <a:rPr dirty="0" sz="2400" spc="340" b="1">
                <a:latin typeface="Times New Roman"/>
                <a:cs typeface="Times New Roman"/>
              </a:rPr>
              <a:t>    </a:t>
            </a:r>
            <a:r>
              <a:rPr dirty="0" sz="2400">
                <a:latin typeface="Times New Roman"/>
                <a:cs typeface="Times New Roman"/>
              </a:rPr>
              <a:t>is</a:t>
            </a:r>
            <a:r>
              <a:rPr dirty="0" sz="2400" spc="345">
                <a:latin typeface="Times New Roman"/>
                <a:cs typeface="Times New Roman"/>
              </a:rPr>
              <a:t>   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345">
                <a:latin typeface="Times New Roman"/>
                <a:cs typeface="Times New Roman"/>
              </a:rPr>
              <a:t>    </a:t>
            </a:r>
            <a:r>
              <a:rPr dirty="0" sz="2400">
                <a:latin typeface="Times New Roman"/>
                <a:cs typeface="Times New Roman"/>
              </a:rPr>
              <a:t>process</a:t>
            </a:r>
            <a:r>
              <a:rPr dirty="0" sz="2400" spc="345">
                <a:latin typeface="Times New Roman"/>
                <a:cs typeface="Times New Roman"/>
              </a:rPr>
              <a:t>    </a:t>
            </a:r>
            <a:r>
              <a:rPr dirty="0" sz="2400" spc="-25">
                <a:latin typeface="Times New Roman"/>
                <a:cs typeface="Times New Roman"/>
              </a:rPr>
              <a:t>of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 b="1">
                <a:latin typeface="Times New Roman"/>
                <a:cs typeface="Times New Roman"/>
              </a:rPr>
              <a:t>intentionally</a:t>
            </a:r>
            <a:r>
              <a:rPr dirty="0" sz="2400" spc="3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introducing</a:t>
            </a:r>
            <a:r>
              <a:rPr dirty="0" sz="2400" spc="3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redundancy</a:t>
            </a:r>
            <a:r>
              <a:rPr dirty="0" sz="2400" spc="360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into</a:t>
            </a:r>
            <a:r>
              <a:rPr dirty="0" sz="2400" spc="35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a </a:t>
            </a:r>
            <a:r>
              <a:rPr dirty="0" sz="2400" spc="-5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database schema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improve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query </a:t>
            </a:r>
            <a:r>
              <a:rPr dirty="0" sz="2400" spc="-10">
                <a:latin typeface="Times New Roman"/>
                <a:cs typeface="Times New Roman"/>
              </a:rPr>
              <a:t>performance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reduce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need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complex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joins.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2400" b="1">
                <a:latin typeface="Times New Roman"/>
                <a:cs typeface="Times New Roman"/>
              </a:rPr>
              <a:t>Why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Denormalise?</a:t>
            </a:r>
            <a:endParaRPr sz="2400">
              <a:latin typeface="Times New Roman"/>
              <a:cs typeface="Times New Roman"/>
            </a:endParaRPr>
          </a:p>
          <a:p>
            <a:pPr lvl="1" marL="727710" indent="-266700">
              <a:lnSpc>
                <a:spcPct val="100000"/>
              </a:lnSpc>
              <a:buFont typeface="Arial"/>
              <a:buChar char="•"/>
              <a:tabLst>
                <a:tab pos="727710" algn="l"/>
              </a:tabLst>
            </a:pPr>
            <a:r>
              <a:rPr dirty="0" sz="2400">
                <a:latin typeface="Times New Roman"/>
                <a:cs typeface="Times New Roman"/>
              </a:rPr>
              <a:t>Reduce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number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table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joins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during</a:t>
            </a:r>
            <a:endParaRPr sz="2400">
              <a:latin typeface="Times New Roman"/>
              <a:cs typeface="Times New Roman"/>
            </a:endParaRPr>
          </a:p>
          <a:p>
            <a:pPr marL="72898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latin typeface="Times New Roman"/>
                <a:cs typeface="Times New Roman"/>
              </a:rPr>
              <a:t>query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execution.</a:t>
            </a:r>
            <a:endParaRPr sz="2400">
              <a:latin typeface="Times New Roman"/>
              <a:cs typeface="Times New Roman"/>
            </a:endParaRPr>
          </a:p>
          <a:p>
            <a:pPr lvl="1" marL="727075" marR="461009" indent="-266700">
              <a:lnSpc>
                <a:spcPct val="100000"/>
              </a:lnSpc>
              <a:buFont typeface="Arial"/>
              <a:buChar char="•"/>
              <a:tabLst>
                <a:tab pos="728980" algn="l"/>
              </a:tabLst>
            </a:pPr>
            <a:r>
              <a:rPr dirty="0" sz="2400">
                <a:latin typeface="Times New Roman"/>
                <a:cs typeface="Times New Roman"/>
              </a:rPr>
              <a:t>Improve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read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performance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frequently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executed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queries.</a:t>
            </a:r>
            <a:endParaRPr sz="2400">
              <a:latin typeface="Times New Roman"/>
              <a:cs typeface="Times New Roman"/>
            </a:endParaRPr>
          </a:p>
          <a:p>
            <a:pPr lvl="1" marL="727710" indent="-266700">
              <a:lnSpc>
                <a:spcPct val="100000"/>
              </a:lnSpc>
              <a:buFont typeface="Arial"/>
              <a:buChar char="•"/>
              <a:tabLst>
                <a:tab pos="727710" algn="l"/>
              </a:tabLst>
            </a:pPr>
            <a:r>
              <a:rPr dirty="0" sz="2400">
                <a:latin typeface="Times New Roman"/>
                <a:cs typeface="Times New Roman"/>
              </a:rPr>
              <a:t>Simplify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reporting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analytical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queries.</a:t>
            </a:r>
            <a:endParaRPr sz="2400">
              <a:latin typeface="Times New Roman"/>
              <a:cs typeface="Times New Roman"/>
            </a:endParaRPr>
          </a:p>
          <a:p>
            <a:pPr lvl="1" marL="727075" marR="892810" indent="-266700">
              <a:lnSpc>
                <a:spcPct val="100000"/>
              </a:lnSpc>
              <a:buFont typeface="Arial"/>
              <a:buChar char="•"/>
              <a:tabLst>
                <a:tab pos="728980" algn="l"/>
              </a:tabLst>
            </a:pPr>
            <a:r>
              <a:rPr dirty="0" sz="2400">
                <a:latin typeface="Times New Roman"/>
                <a:cs typeface="Times New Roman"/>
              </a:rPr>
              <a:t>Optimize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performance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for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large-</a:t>
            </a:r>
            <a:r>
              <a:rPr dirty="0" sz="2400" spc="-10">
                <a:latin typeface="Times New Roman"/>
                <a:cs typeface="Times New Roman"/>
              </a:rPr>
              <a:t>scale 	applications.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3445" y="1563153"/>
            <a:ext cx="5581904" cy="44698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1561" y="380237"/>
            <a:ext cx="77247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Limitations</a:t>
            </a:r>
            <a:r>
              <a:rPr dirty="0" spc="-204"/>
              <a:t> </a:t>
            </a:r>
            <a:r>
              <a:rPr dirty="0" spc="-90"/>
              <a:t>of</a:t>
            </a:r>
            <a:r>
              <a:rPr dirty="0" spc="-245"/>
              <a:t> </a:t>
            </a:r>
            <a:r>
              <a:rPr dirty="0" spc="-150"/>
              <a:t>Relational</a:t>
            </a:r>
            <a:r>
              <a:rPr dirty="0" spc="-210"/>
              <a:t> </a:t>
            </a:r>
            <a:r>
              <a:rPr dirty="0" spc="-145"/>
              <a:t>Database</a:t>
            </a:r>
            <a:r>
              <a:rPr dirty="0" spc="-225"/>
              <a:t> </a:t>
            </a:r>
            <a:r>
              <a:rPr dirty="0" spc="-105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816" y="1670049"/>
            <a:ext cx="1049464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3060" marR="5080" indent="-3403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1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databases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provide</a:t>
            </a:r>
            <a:r>
              <a:rPr dirty="0" sz="2400" spc="15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strong</a:t>
            </a:r>
            <a:r>
              <a:rPr dirty="0" sz="2400" spc="1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consistency,</a:t>
            </a:r>
            <a:r>
              <a:rPr dirty="0" sz="2400" spc="1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structured</a:t>
            </a:r>
            <a:r>
              <a:rPr dirty="0" sz="2400" spc="1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data</a:t>
            </a:r>
            <a:r>
              <a:rPr dirty="0" sz="2400" spc="14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management, </a:t>
            </a:r>
            <a:r>
              <a:rPr dirty="0" sz="2400" spc="-10" b="1">
                <a:latin typeface="Times New Roman"/>
                <a:cs typeface="Times New Roman"/>
              </a:rPr>
              <a:t>	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2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powerful</a:t>
            </a:r>
            <a:r>
              <a:rPr dirty="0" sz="2400" spc="29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SQL</a:t>
            </a:r>
            <a:r>
              <a:rPr dirty="0" sz="2400" spc="2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capabilities</a:t>
            </a:r>
            <a:r>
              <a:rPr dirty="0" sz="2400">
                <a:latin typeface="Times New Roman"/>
                <a:cs typeface="Times New Roman"/>
              </a:rPr>
              <a:t>.</a:t>
            </a:r>
            <a:r>
              <a:rPr dirty="0" sz="2400" spc="2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However,</a:t>
            </a:r>
            <a:r>
              <a:rPr dirty="0" sz="2400" spc="29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modern</a:t>
            </a:r>
            <a:r>
              <a:rPr dirty="0" sz="2400" spc="2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applications</a:t>
            </a:r>
            <a:r>
              <a:rPr dirty="0" sz="2400" spc="29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often</a:t>
            </a:r>
            <a:r>
              <a:rPr dirty="0" sz="2400" spc="28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introduce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requirements</a:t>
            </a:r>
            <a:r>
              <a:rPr dirty="0" sz="2400" spc="7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that</a:t>
            </a:r>
            <a:r>
              <a:rPr dirty="0" sz="2400" spc="9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8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difficult</a:t>
            </a:r>
            <a:r>
              <a:rPr dirty="0" sz="2400" spc="8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7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satisfy</a:t>
            </a:r>
            <a:r>
              <a:rPr dirty="0" sz="2400" spc="9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using</a:t>
            </a:r>
            <a:r>
              <a:rPr dirty="0" sz="2400" spc="80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traditional</a:t>
            </a:r>
            <a:r>
              <a:rPr dirty="0" sz="2400" spc="85">
                <a:latin typeface="Times New Roman"/>
                <a:cs typeface="Times New Roman"/>
              </a:rPr>
              <a:t>  </a:t>
            </a:r>
            <a:r>
              <a:rPr dirty="0" sz="2400">
                <a:latin typeface="Times New Roman"/>
                <a:cs typeface="Times New Roman"/>
              </a:rPr>
              <a:t>relational</a:t>
            </a:r>
            <a:r>
              <a:rPr dirty="0" sz="2400" spc="80">
                <a:latin typeface="Times New Roman"/>
                <a:cs typeface="Times New Roman"/>
              </a:rPr>
              <a:t>  </a:t>
            </a:r>
            <a:r>
              <a:rPr dirty="0" sz="2400" spc="-10">
                <a:latin typeface="Times New Roman"/>
                <a:cs typeface="Times New Roman"/>
              </a:rPr>
              <a:t>database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Times New Roman"/>
                <a:cs typeface="Times New Roman"/>
              </a:rPr>
              <a:t>systems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alone.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78840" y="3180841"/>
          <a:ext cx="10475595" cy="3465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5579"/>
                <a:gridCol w="6381114"/>
              </a:tblGrid>
              <a:tr h="4248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20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Example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Rigid</a:t>
                      </a:r>
                      <a:r>
                        <a:rPr dirty="0" sz="18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Schema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22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Frequently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changing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structures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require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schema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modifications.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8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Horizontal</a:t>
                      </a:r>
                      <a:r>
                        <a:rPr dirty="0" sz="18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Scalability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93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Scaling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millions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often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complex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sharding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strategies.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52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10"/>
                        </a:spcBef>
                      </a:pP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Semi-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Structured</a:t>
                      </a:r>
                      <a:r>
                        <a:rPr dirty="0" sz="1800" spc="-8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Data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63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477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JSON,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XML,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logs,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multimedia</a:t>
                      </a:r>
                      <a:r>
                        <a:rPr dirty="0" sz="16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do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naturally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fit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relational tables.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8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 Throughput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7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clickstreams,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social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media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generate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massive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volumes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of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writes.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10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800" b="1">
                          <a:latin typeface="Times New Roman"/>
                          <a:cs typeface="Times New Roman"/>
                        </a:rPr>
                        <a:t>Distributed</a:t>
                      </a:r>
                      <a:r>
                        <a:rPr dirty="0" sz="18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b="1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8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Management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70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0033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Maintaining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ACID</a:t>
                      </a:r>
                      <a:r>
                        <a:rPr dirty="0" sz="1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properties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geographically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distributed</a:t>
                      </a:r>
                      <a:r>
                        <a:rPr dirty="0" sz="16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increase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latency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complexity.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88373" y="5649264"/>
            <a:ext cx="2466975" cy="665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150"/>
              <a:t>Thank</a:t>
            </a:r>
            <a:r>
              <a:rPr dirty="0" sz="4200" spc="-235"/>
              <a:t> </a:t>
            </a:r>
            <a:r>
              <a:rPr dirty="0" sz="4200" spc="-70"/>
              <a:t>You</a:t>
            </a:r>
            <a:endParaRPr sz="4200"/>
          </a:p>
        </p:txBody>
      </p:sp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b="1">
                <a:latin typeface="Arial"/>
                <a:cs typeface="Arial"/>
              </a:rPr>
              <a:t>BITS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dirty="0" spc="-5"/>
              <a:t> </a:t>
            </a:r>
            <a:r>
              <a:rPr dirty="0"/>
              <a:t>Deemed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be</a:t>
            </a:r>
            <a:r>
              <a:rPr dirty="0" spc="-30"/>
              <a:t> </a:t>
            </a:r>
            <a:r>
              <a:rPr dirty="0"/>
              <a:t>University</a:t>
            </a:r>
            <a:r>
              <a:rPr dirty="0" spc="-10"/>
              <a:t> </a:t>
            </a:r>
            <a:r>
              <a:rPr dirty="0"/>
              <a:t>under</a:t>
            </a:r>
            <a:r>
              <a:rPr dirty="0" spc="-35"/>
              <a:t> </a:t>
            </a:r>
            <a:r>
              <a:rPr dirty="0"/>
              <a:t>Section</a:t>
            </a:r>
            <a:r>
              <a:rPr dirty="0" spc="-30"/>
              <a:t> </a:t>
            </a:r>
            <a:r>
              <a:rPr dirty="0"/>
              <a:t>3</a:t>
            </a:r>
            <a:r>
              <a:rPr dirty="0" spc="-3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UGC</a:t>
            </a:r>
            <a:r>
              <a:rPr dirty="0" spc="-35"/>
              <a:t> </a:t>
            </a:r>
            <a:r>
              <a:rPr dirty="0"/>
              <a:t>Act,</a:t>
            </a:r>
            <a:r>
              <a:rPr dirty="0" spc="-40"/>
              <a:t> </a:t>
            </a:r>
            <a:r>
              <a:rPr dirty="0" spc="-20"/>
              <a:t>1956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Rohit WILP</dc:creator>
  <dc:title>BITS Pilani presentation</dc:title>
  <dcterms:created xsi:type="dcterms:W3CDTF">2026-09-02T10:55:19Z</dcterms:created>
  <dcterms:modified xsi:type="dcterms:W3CDTF">2026-09-02T10:55:19Z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2026-08-15T00:00:00Z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2026-09-02T00:00:00Z</vt:filetime>
  </property>
  <property fmtid="{D5CDD505-2E9C-101B-9397-08002B2CF9AE}" pid="6" name="Producer">
    <vt:lpwstr>3-Heights(TM) PDF Security Shell 4.8.25.2 (http://www.pdf-tools.com)</vt:lpwstr>
  </property>
</Properties>
</file>