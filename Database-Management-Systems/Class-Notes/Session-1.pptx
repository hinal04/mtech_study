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x="12484100" cy="7023100"/>
  <p:notesSz cx="12484100" cy="7023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479273" cy="701954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1688"/>
            <a:ext cx="12480036" cy="265785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4382515"/>
            <a:ext cx="12479655" cy="2637790"/>
          </a:xfrm>
          <a:custGeom>
            <a:avLst/>
            <a:gdLst/>
            <a:ahLst/>
            <a:cxnLst/>
            <a:rect l="l" t="t" r="r" b="b"/>
            <a:pathLst>
              <a:path w="12479655" h="2637790">
                <a:moveTo>
                  <a:pt x="12479274" y="0"/>
                </a:moveTo>
                <a:lnTo>
                  <a:pt x="0" y="0"/>
                </a:lnTo>
                <a:lnTo>
                  <a:pt x="0" y="2637409"/>
                </a:lnTo>
                <a:lnTo>
                  <a:pt x="12479274" y="2637409"/>
                </a:lnTo>
                <a:lnTo>
                  <a:pt x="124792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4382515"/>
            <a:ext cx="12479655" cy="2637790"/>
          </a:xfrm>
          <a:custGeom>
            <a:avLst/>
            <a:gdLst/>
            <a:ahLst/>
            <a:cxnLst/>
            <a:rect l="l" t="t" r="r" b="b"/>
            <a:pathLst>
              <a:path w="12479655" h="2637790">
                <a:moveTo>
                  <a:pt x="0" y="2637409"/>
                </a:moveTo>
                <a:lnTo>
                  <a:pt x="12479274" y="2637409"/>
                </a:lnTo>
                <a:lnTo>
                  <a:pt x="12479274" y="0"/>
                </a:lnTo>
                <a:lnTo>
                  <a:pt x="0" y="0"/>
                </a:lnTo>
                <a:lnTo>
                  <a:pt x="0" y="2637409"/>
                </a:lnTo>
                <a:close/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7480" y="37"/>
            <a:ext cx="2994152" cy="708494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3934459" y="6935425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6935425"/>
            <a:ext cx="3934460" cy="78105"/>
          </a:xfrm>
          <a:custGeom>
            <a:avLst/>
            <a:gdLst/>
            <a:ahLst/>
            <a:cxnLst/>
            <a:rect l="l" t="t" r="r" b="b"/>
            <a:pathLst>
              <a:path w="3934460" h="78104">
                <a:moveTo>
                  <a:pt x="3934400" y="0"/>
                </a:moveTo>
                <a:lnTo>
                  <a:pt x="0" y="0"/>
                </a:lnTo>
                <a:lnTo>
                  <a:pt x="0" y="77999"/>
                </a:lnTo>
                <a:lnTo>
                  <a:pt x="3934400" y="77999"/>
                </a:lnTo>
                <a:lnTo>
                  <a:pt x="39344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7886192" y="6935425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40239" y="802639"/>
            <a:ext cx="1675765" cy="467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49072" y="4698567"/>
            <a:ext cx="7835265" cy="1169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24205" y="1615313"/>
            <a:ext cx="5430583" cy="4635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429311" y="1615313"/>
            <a:ext cx="5430583" cy="4635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479273" cy="701954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431958"/>
            <a:ext cx="11855450" cy="2807970"/>
          </a:xfrm>
          <a:custGeom>
            <a:avLst/>
            <a:gdLst/>
            <a:ahLst/>
            <a:cxnLst/>
            <a:rect l="l" t="t" r="r" b="b"/>
            <a:pathLst>
              <a:path w="11855450" h="2807970">
                <a:moveTo>
                  <a:pt x="11855323" y="0"/>
                </a:moveTo>
                <a:lnTo>
                  <a:pt x="0" y="0"/>
                </a:lnTo>
                <a:lnTo>
                  <a:pt x="0" y="2807969"/>
                </a:lnTo>
                <a:lnTo>
                  <a:pt x="11855323" y="2807969"/>
                </a:lnTo>
                <a:lnTo>
                  <a:pt x="11855323" y="0"/>
                </a:lnTo>
                <a:close/>
              </a:path>
            </a:pathLst>
          </a:custGeom>
          <a:solidFill>
            <a:srgbClr val="0F11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951732" y="6239932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6239932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903591" y="6239932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1" y="0"/>
                </a:moveTo>
                <a:lnTo>
                  <a:pt x="0" y="0"/>
                </a:lnTo>
                <a:lnTo>
                  <a:pt x="0" y="77999"/>
                </a:lnTo>
                <a:lnTo>
                  <a:pt x="3951731" y="77999"/>
                </a:lnTo>
                <a:lnTo>
                  <a:pt x="395173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995" y="3431920"/>
            <a:ext cx="2807843" cy="20264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223768" y="132599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10" h="47625">
                <a:moveTo>
                  <a:pt x="3178302" y="0"/>
                </a:moveTo>
                <a:lnTo>
                  <a:pt x="0" y="0"/>
                </a:lnTo>
                <a:lnTo>
                  <a:pt x="0" y="47125"/>
                </a:lnTo>
                <a:lnTo>
                  <a:pt x="3178302" y="47125"/>
                </a:lnTo>
                <a:lnTo>
                  <a:pt x="317830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" y="1325997"/>
            <a:ext cx="3223895" cy="47625"/>
          </a:xfrm>
          <a:custGeom>
            <a:avLst/>
            <a:gdLst/>
            <a:ahLst/>
            <a:cxnLst/>
            <a:rect l="l" t="t" r="r" b="b"/>
            <a:pathLst>
              <a:path w="3223895" h="47625">
                <a:moveTo>
                  <a:pt x="3223768" y="0"/>
                </a:moveTo>
                <a:lnTo>
                  <a:pt x="0" y="0"/>
                </a:lnTo>
                <a:lnTo>
                  <a:pt x="0" y="47125"/>
                </a:lnTo>
                <a:lnTo>
                  <a:pt x="3223768" y="47125"/>
                </a:lnTo>
                <a:lnTo>
                  <a:pt x="3223768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389115" y="132599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09" h="47625">
                <a:moveTo>
                  <a:pt x="3178301" y="0"/>
                </a:moveTo>
                <a:lnTo>
                  <a:pt x="0" y="0"/>
                </a:lnTo>
                <a:lnTo>
                  <a:pt x="0" y="47125"/>
                </a:lnTo>
                <a:lnTo>
                  <a:pt x="3178301" y="47125"/>
                </a:lnTo>
                <a:lnTo>
                  <a:pt x="317830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135623" y="670792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09" h="47625">
                <a:moveTo>
                  <a:pt x="3178302" y="0"/>
                </a:moveTo>
                <a:lnTo>
                  <a:pt x="0" y="0"/>
                </a:lnTo>
                <a:lnTo>
                  <a:pt x="0" y="47125"/>
                </a:lnTo>
                <a:lnTo>
                  <a:pt x="3178302" y="47125"/>
                </a:lnTo>
                <a:lnTo>
                  <a:pt x="317830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2911855" y="6707927"/>
            <a:ext cx="3223895" cy="47625"/>
          </a:xfrm>
          <a:custGeom>
            <a:avLst/>
            <a:gdLst/>
            <a:ahLst/>
            <a:cxnLst/>
            <a:rect l="l" t="t" r="r" b="b"/>
            <a:pathLst>
              <a:path w="3223895" h="47625">
                <a:moveTo>
                  <a:pt x="3223768" y="0"/>
                </a:moveTo>
                <a:lnTo>
                  <a:pt x="0" y="0"/>
                </a:lnTo>
                <a:lnTo>
                  <a:pt x="0" y="47125"/>
                </a:lnTo>
                <a:lnTo>
                  <a:pt x="3223768" y="47125"/>
                </a:lnTo>
                <a:lnTo>
                  <a:pt x="3223768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00971" y="670792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09" h="47625">
                <a:moveTo>
                  <a:pt x="3178302" y="0"/>
                </a:moveTo>
                <a:lnTo>
                  <a:pt x="0" y="0"/>
                </a:lnTo>
                <a:lnTo>
                  <a:pt x="0" y="47125"/>
                </a:lnTo>
                <a:lnTo>
                  <a:pt x="3178302" y="47125"/>
                </a:lnTo>
                <a:lnTo>
                  <a:pt x="31783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47480" y="37"/>
            <a:ext cx="2994152" cy="70849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561" y="380237"/>
            <a:ext cx="8477250" cy="701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3798" y="3230879"/>
            <a:ext cx="10612755" cy="1821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904226" y="6794877"/>
            <a:ext cx="4478020" cy="182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24205" y="6531483"/>
            <a:ext cx="2871343" cy="351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988552" y="6531483"/>
            <a:ext cx="2871343" cy="351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diti@bits.edu" TargetMode="External"/><Relationship Id="rId3" Type="http://schemas.openxmlformats.org/officeDocument/2006/relationships/hyperlink" Target="mailto:rahul@bits.edu" TargetMode="External"/><Relationship Id="rId4" Type="http://schemas.openxmlformats.org/officeDocument/2006/relationships/image" Target="../media/image14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diti@bits.edu" TargetMode="External"/><Relationship Id="rId3" Type="http://schemas.openxmlformats.org/officeDocument/2006/relationships/hyperlink" Target="mailto:rahul@bits.edu" TargetMode="External"/><Relationship Id="rId4" Type="http://schemas.openxmlformats.org/officeDocument/2006/relationships/image" Target="../media/image15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diti@bits.edu" TargetMode="External"/><Relationship Id="rId3" Type="http://schemas.openxmlformats.org/officeDocument/2006/relationships/hyperlink" Target="mailto:rahul@bits.edu" TargetMode="External"/><Relationship Id="rId4" Type="http://schemas.openxmlformats.org/officeDocument/2006/relationships/image" Target="../media/image16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08217" y="4233493"/>
            <a:ext cx="578675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4400" spc="-180" b="1">
                <a:solidFill>
                  <a:srgbClr val="FFFFFF"/>
                </a:solidFill>
                <a:latin typeface="Times New Roman"/>
                <a:cs typeface="Times New Roman"/>
              </a:rPr>
              <a:t>Modern</a:t>
            </a:r>
            <a:r>
              <a:rPr dirty="0" sz="4400" spc="-3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400" spc="-185" b="1">
                <a:solidFill>
                  <a:srgbClr val="FFFFFF"/>
                </a:solidFill>
                <a:latin typeface="Times New Roman"/>
                <a:cs typeface="Times New Roman"/>
              </a:rPr>
              <a:t>Database</a:t>
            </a:r>
            <a:r>
              <a:rPr dirty="0" sz="4400" spc="-3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400" spc="-160" b="1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88263" y="5405424"/>
            <a:ext cx="1663064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900" spc="-140" b="1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dirty="0" sz="2900" spc="-2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114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8872" y="5536488"/>
            <a:ext cx="1835150" cy="508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1895"/>
              </a:lnSpc>
              <a:spcBef>
                <a:spcPts val="105"/>
              </a:spcBef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Prof.</a:t>
            </a:r>
            <a:r>
              <a:rPr dirty="0" sz="175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Ashish</a:t>
            </a:r>
            <a:r>
              <a:rPr dirty="0" sz="175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Narang</a:t>
            </a:r>
            <a:endParaRPr sz="1750">
              <a:latin typeface="Times New Roman"/>
              <a:cs typeface="Times New Roman"/>
            </a:endParaRPr>
          </a:p>
          <a:p>
            <a:pPr algn="r" marR="5080">
              <a:lnSpc>
                <a:spcPts val="1895"/>
              </a:lnSpc>
            </a:pPr>
            <a:r>
              <a:rPr dirty="0" sz="1750" spc="-20">
                <a:solidFill>
                  <a:srgbClr val="FFFFFF"/>
                </a:solidFill>
                <a:latin typeface="Times New Roman"/>
                <a:cs typeface="Times New Roman"/>
              </a:rPr>
              <a:t>CSIS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-140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dirty="0" sz="2900" spc="-2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114" b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93345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735"/>
              </a:spcBef>
            </a:pPr>
            <a:r>
              <a:rPr dirty="0" sz="4000" spc="-204" b="1">
                <a:solidFill>
                  <a:srgbClr val="C0504D"/>
                </a:solidFill>
                <a:latin typeface="Times New Roman"/>
                <a:cs typeface="Times New Roman"/>
              </a:rPr>
              <a:t>&lt;SSZG507,</a:t>
            </a:r>
            <a:r>
              <a:rPr dirty="0" sz="4000" spc="-31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204" b="1">
                <a:solidFill>
                  <a:srgbClr val="C0504D"/>
                </a:solidFill>
                <a:latin typeface="Times New Roman"/>
                <a:cs typeface="Times New Roman"/>
              </a:rPr>
              <a:t>Modern</a:t>
            </a:r>
            <a:r>
              <a:rPr dirty="0" sz="4000" spc="-32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204" b="1">
                <a:solidFill>
                  <a:srgbClr val="C0504D"/>
                </a:solidFill>
                <a:latin typeface="Times New Roman"/>
                <a:cs typeface="Times New Roman"/>
              </a:rPr>
              <a:t>Database</a:t>
            </a:r>
            <a:r>
              <a:rPr dirty="0" sz="4000" spc="-30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140" b="1">
                <a:solidFill>
                  <a:srgbClr val="C0504D"/>
                </a:solidFill>
                <a:latin typeface="Times New Roman"/>
                <a:cs typeface="Times New Roman"/>
              </a:rPr>
              <a:t>Systems&gt; </a:t>
            </a:r>
            <a:r>
              <a:rPr dirty="0" sz="4000" spc="-200" b="1">
                <a:solidFill>
                  <a:srgbClr val="C0504D"/>
                </a:solidFill>
                <a:latin typeface="Times New Roman"/>
                <a:cs typeface="Times New Roman"/>
              </a:rPr>
              <a:t>Lecture</a:t>
            </a:r>
            <a:r>
              <a:rPr dirty="0" sz="4000" spc="-345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160" b="1">
                <a:solidFill>
                  <a:srgbClr val="C0504D"/>
                </a:solidFill>
                <a:latin typeface="Times New Roman"/>
                <a:cs typeface="Times New Roman"/>
              </a:rPr>
              <a:t>No.</a:t>
            </a:r>
            <a:r>
              <a:rPr dirty="0" sz="4000" spc="-34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50" b="1">
                <a:solidFill>
                  <a:srgbClr val="C0504D"/>
                </a:solidFill>
                <a:latin typeface="Times New Roman"/>
                <a:cs typeface="Times New Roman"/>
              </a:rPr>
              <a:t>1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395" rIns="0" bIns="0" rtlCol="0" vert="horz">
            <a:spAutoFit/>
          </a:bodyPr>
          <a:lstStyle/>
          <a:p>
            <a:pPr marL="541020">
              <a:lnSpc>
                <a:spcPct val="100000"/>
              </a:lnSpc>
              <a:spcBef>
                <a:spcPts val="100"/>
              </a:spcBef>
            </a:pPr>
            <a:r>
              <a:rPr dirty="0" spc="-185"/>
              <a:t>Course</a:t>
            </a:r>
            <a:r>
              <a:rPr dirty="0" spc="-350"/>
              <a:t> </a:t>
            </a:r>
            <a:r>
              <a:rPr dirty="0" spc="-170"/>
              <a:t>Contents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60933" y="1714880"/>
            <a:ext cx="8938895" cy="406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Module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1: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Foundations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Structured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0">
                <a:latin typeface="Times New Roman"/>
                <a:cs typeface="Times New Roman"/>
              </a:rPr>
              <a:t> Management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939"/>
              </a:spcBef>
              <a:buFont typeface="Wingdings"/>
              <a:buChar char="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Module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2: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Distributed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Architecture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 Consistency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Models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940"/>
              </a:spcBef>
              <a:buFont typeface="Wingdings"/>
              <a:buChar char="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Module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3: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NoSQL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Stores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939"/>
              </a:spcBef>
              <a:buFont typeface="Wingdings"/>
              <a:buChar char="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Module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4: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Cloud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NewSQL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945"/>
              </a:spcBef>
              <a:buFont typeface="Wingdings"/>
              <a:buChar char="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Module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5: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Warehouses,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Lakes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Lakehouse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935"/>
              </a:spcBef>
              <a:buFont typeface="Wingdings"/>
              <a:buChar char="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Module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6: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Specialized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Modern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Applications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945"/>
              </a:spcBef>
              <a:buFont typeface="Wingdings"/>
              <a:buChar char="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Module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7: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Emerging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Trends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4428" y="416178"/>
            <a:ext cx="11410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Books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897" y="1658725"/>
            <a:ext cx="10575290" cy="3317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427355" indent="-285115">
              <a:lnSpc>
                <a:spcPct val="15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 b="1">
                <a:latin typeface="Times New Roman"/>
                <a:cs typeface="Times New Roman"/>
              </a:rPr>
              <a:t>Ramez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Elmasri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&amp;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Shamkant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B.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Navathe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Fundamentals</a:t>
            </a:r>
            <a:r>
              <a:rPr dirty="0" sz="2400" spc="-4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of</a:t>
            </a:r>
            <a:r>
              <a:rPr dirty="0" sz="2400" spc="-4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Database</a:t>
            </a:r>
            <a:r>
              <a:rPr dirty="0" sz="2400" spc="-35" i="1">
                <a:latin typeface="Times New Roman"/>
                <a:cs typeface="Times New Roman"/>
              </a:rPr>
              <a:t> </a:t>
            </a:r>
            <a:r>
              <a:rPr dirty="0" sz="2400" spc="-10" i="1">
                <a:latin typeface="Times New Roman"/>
                <a:cs typeface="Times New Roman"/>
              </a:rPr>
              <a:t>Systems</a:t>
            </a:r>
            <a:r>
              <a:rPr dirty="0" sz="2400" spc="-10">
                <a:latin typeface="Times New Roman"/>
                <a:cs typeface="Times New Roman"/>
              </a:rPr>
              <a:t>,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7th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Edition,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Pearson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Education,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2017.</a:t>
            </a:r>
            <a:endParaRPr sz="2400">
              <a:latin typeface="Times New Roman"/>
              <a:cs typeface="Times New Roman"/>
            </a:endParaRPr>
          </a:p>
          <a:p>
            <a:pPr marL="297180" marR="5080" indent="-285115">
              <a:lnSpc>
                <a:spcPct val="15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2400" b="1">
                <a:latin typeface="Times New Roman"/>
                <a:cs typeface="Times New Roman"/>
              </a:rPr>
              <a:t>Martin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Kleppmann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Designing</a:t>
            </a:r>
            <a:r>
              <a:rPr dirty="0" sz="2400" spc="-30" i="1">
                <a:latin typeface="Times New Roman"/>
                <a:cs typeface="Times New Roman"/>
              </a:rPr>
              <a:t> </a:t>
            </a:r>
            <a:r>
              <a:rPr dirty="0" sz="2400" spc="-10" i="1">
                <a:latin typeface="Times New Roman"/>
                <a:cs typeface="Times New Roman"/>
              </a:rPr>
              <a:t>Data-</a:t>
            </a:r>
            <a:r>
              <a:rPr dirty="0" sz="2400" i="1">
                <a:latin typeface="Times New Roman"/>
                <a:cs typeface="Times New Roman"/>
              </a:rPr>
              <a:t>Intensive</a:t>
            </a:r>
            <a:r>
              <a:rPr dirty="0" sz="2400" spc="-6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Applications:</a:t>
            </a:r>
            <a:r>
              <a:rPr dirty="0" sz="2400" spc="-55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The</a:t>
            </a:r>
            <a:r>
              <a:rPr dirty="0" sz="2400" spc="-15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Big</a:t>
            </a:r>
            <a:r>
              <a:rPr dirty="0" sz="2400" spc="-25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Ideas</a:t>
            </a:r>
            <a:r>
              <a:rPr dirty="0" sz="2400" spc="-20" i="1">
                <a:latin typeface="Times New Roman"/>
                <a:cs typeface="Times New Roman"/>
              </a:rPr>
              <a:t> </a:t>
            </a:r>
            <a:r>
              <a:rPr dirty="0" sz="2400" spc="-10" i="1">
                <a:latin typeface="Times New Roman"/>
                <a:cs typeface="Times New Roman"/>
              </a:rPr>
              <a:t>Behind </a:t>
            </a:r>
            <a:r>
              <a:rPr dirty="0" sz="2400" spc="-10" i="1">
                <a:latin typeface="Times New Roman"/>
                <a:cs typeface="Times New Roman"/>
              </a:rPr>
              <a:t>	</a:t>
            </a:r>
            <a:r>
              <a:rPr dirty="0" sz="2400" i="1">
                <a:latin typeface="Times New Roman"/>
                <a:cs typeface="Times New Roman"/>
              </a:rPr>
              <a:t>Reliable,</a:t>
            </a:r>
            <a:r>
              <a:rPr dirty="0" sz="2400" spc="-35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Scalable,</a:t>
            </a:r>
            <a:r>
              <a:rPr dirty="0" sz="2400" spc="-4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and Maintainable</a:t>
            </a:r>
            <a:r>
              <a:rPr dirty="0" sz="2400" spc="-5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Systems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1st Edition,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O'Reilly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Media,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2017.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2400" b="1">
                <a:latin typeface="Times New Roman"/>
                <a:cs typeface="Times New Roman"/>
              </a:rPr>
              <a:t>Paulraj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Ponniah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Data</a:t>
            </a:r>
            <a:r>
              <a:rPr dirty="0" sz="2400" spc="-3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Warehousing</a:t>
            </a:r>
            <a:r>
              <a:rPr dirty="0" sz="2400" spc="-4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Fundamentals</a:t>
            </a:r>
            <a:r>
              <a:rPr dirty="0" sz="2400" spc="-3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for</a:t>
            </a:r>
            <a:r>
              <a:rPr dirty="0" sz="2400" spc="-4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IT</a:t>
            </a:r>
            <a:r>
              <a:rPr dirty="0" sz="2400" spc="-25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Professionals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2nd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445"/>
              </a:spcBef>
            </a:pPr>
            <a:r>
              <a:rPr dirty="0" sz="2400">
                <a:latin typeface="Times New Roman"/>
                <a:cs typeface="Times New Roman"/>
              </a:rPr>
              <a:t>Edition,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John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Wiley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&amp;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Sons,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2010.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Evaluation</a:t>
            </a:r>
            <a:r>
              <a:rPr dirty="0" spc="-180"/>
              <a:t> </a:t>
            </a:r>
            <a:r>
              <a:rPr dirty="0" spc="-140"/>
              <a:t>Components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27520" y="1540509"/>
          <a:ext cx="10615295" cy="4798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2195"/>
                <a:gridCol w="2322195"/>
                <a:gridCol w="1498600"/>
                <a:gridCol w="1365250"/>
                <a:gridCol w="1322704"/>
                <a:gridCol w="1699895"/>
              </a:tblGrid>
              <a:tr h="30607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55575">
                        <a:lnSpc>
                          <a:spcPct val="100000"/>
                        </a:lnSpc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dirty="0" sz="1600" spc="-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Component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20345">
                        <a:lnSpc>
                          <a:spcPct val="100000"/>
                        </a:lnSpc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Weightage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Duration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26110" marR="20955" indent="-596265">
                        <a:lnSpc>
                          <a:spcPct val="100000"/>
                        </a:lnSpc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Day,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Date,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Session,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91884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865" marR="54610" indent="-6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(Quiz,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Lab,</a:t>
                      </a:r>
                      <a:r>
                        <a:rPr dirty="0" sz="1600" spc="-5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Project,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Mid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term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exam,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6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semester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exam,</a:t>
                      </a:r>
                      <a:r>
                        <a:rPr dirty="0" sz="16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etc)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44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91135" marR="182880" indent="2095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(Open</a:t>
                      </a:r>
                      <a:r>
                        <a:rPr dirty="0" sz="16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book,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Closed</a:t>
                      </a:r>
                      <a:r>
                        <a:rPr dirty="0" sz="1600" spc="-5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book,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Online,</a:t>
                      </a:r>
                      <a:r>
                        <a:rPr dirty="0" sz="16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etc.)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44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58737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dirty="0" sz="14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Quiz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149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Online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5%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10-15</a:t>
                      </a: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minutes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announced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73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Quiz</a:t>
                      </a: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149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Online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5%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10-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15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 minutes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To be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announced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73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Assignment-</a:t>
                      </a: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Take</a:t>
                      </a:r>
                      <a:r>
                        <a:rPr dirty="0" sz="14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Home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10%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decided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announced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73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Assignment-</a:t>
                      </a: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Take</a:t>
                      </a:r>
                      <a:r>
                        <a:rPr dirty="0" sz="14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Home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10%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508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4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decided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announced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0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dirty="0" sz="14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17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Mid</a:t>
                      </a:r>
                      <a:r>
                        <a:rPr dirty="0" sz="14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Semester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Test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17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Closed</a:t>
                      </a:r>
                      <a:r>
                        <a:rPr dirty="0" sz="14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Book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17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30%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17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4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hours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17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 marR="96520" indent="914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4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announced</a:t>
                      </a:r>
                      <a:r>
                        <a:rPr dirty="0" sz="14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WILP</a:t>
                      </a:r>
                      <a:r>
                        <a:rPr dirty="0" sz="1400" spc="3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Exam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Team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dirty="0" sz="14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24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Comprehensive</a:t>
                      </a:r>
                      <a:r>
                        <a:rPr dirty="0" sz="1400" spc="254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Examination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24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dirty="0" sz="14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book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24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40%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24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2.5</a:t>
                      </a:r>
                      <a:r>
                        <a:rPr dirty="0" sz="14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hours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24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 marR="96520" indent="9144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4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announced</a:t>
                      </a:r>
                      <a:r>
                        <a:rPr dirty="0" sz="14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WILP</a:t>
                      </a:r>
                      <a:r>
                        <a:rPr dirty="0" sz="1400" spc="3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Exam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Team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7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164083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783" y="1776222"/>
            <a:ext cx="5233035" cy="331787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Introduction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 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Limitations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Traditional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Types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Their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Characteristics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Model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Modelling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ER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Diagrams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Basics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Normalization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Why</a:t>
            </a:r>
            <a:r>
              <a:rPr dirty="0" spc="-270"/>
              <a:t> </a:t>
            </a:r>
            <a:r>
              <a:rPr dirty="0" spc="-145"/>
              <a:t>Database</a:t>
            </a:r>
            <a:r>
              <a:rPr dirty="0" spc="-250"/>
              <a:t> </a:t>
            </a:r>
            <a:r>
              <a:rPr dirty="0" spc="-125"/>
              <a:t>Systems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41" y="1546008"/>
            <a:ext cx="11019917" cy="474167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Data</a:t>
            </a:r>
            <a:r>
              <a:rPr dirty="0" spc="-275"/>
              <a:t> </a:t>
            </a:r>
            <a:r>
              <a:rPr dirty="0" spc="-105"/>
              <a:t>and</a:t>
            </a:r>
            <a:r>
              <a:rPr dirty="0" spc="-270"/>
              <a:t> </a:t>
            </a:r>
            <a:r>
              <a:rPr dirty="0" spc="-125"/>
              <a:t>Database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60933" y="1533524"/>
            <a:ext cx="10487025" cy="382714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 spc="-20" b="1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728345" indent="-26352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represents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raw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facts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about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people,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objects,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events,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transactions.</a:t>
            </a:r>
            <a:endParaRPr sz="2400">
              <a:latin typeface="Times New Roman"/>
              <a:cs typeface="Times New Roman"/>
            </a:endParaRPr>
          </a:p>
          <a:p>
            <a:pPr marL="728345" indent="-26352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Examples: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Student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Name,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Course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Code,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Marks,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City.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Database</a:t>
            </a:r>
            <a:endParaRPr sz="2400">
              <a:latin typeface="Times New Roman"/>
              <a:cs typeface="Times New Roman"/>
            </a:endParaRPr>
          </a:p>
          <a:p>
            <a:pPr marL="728345" indent="-26352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 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organized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collection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 logically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related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728345" marR="5080" indent="-26352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designed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efficiently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retrieve,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update,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manage information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 spc="-5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specific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application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 </a:t>
            </a:r>
            <a:r>
              <a:rPr dirty="0" sz="2400" spc="-10">
                <a:latin typeface="Times New Roman"/>
                <a:cs typeface="Times New Roman"/>
              </a:rPr>
              <a:t>organization.</a:t>
            </a:r>
            <a:endParaRPr sz="2400">
              <a:latin typeface="Times New Roman"/>
              <a:cs typeface="Times New Roman"/>
            </a:endParaRPr>
          </a:p>
          <a:p>
            <a:pPr marL="728345" indent="-26352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Examples: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University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Banking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Hospital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71481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Database</a:t>
            </a:r>
            <a:r>
              <a:rPr dirty="0" spc="-204"/>
              <a:t> </a:t>
            </a:r>
            <a:r>
              <a:rPr dirty="0" spc="-160"/>
              <a:t>Management</a:t>
            </a:r>
            <a:r>
              <a:rPr dirty="0" spc="-170"/>
              <a:t> </a:t>
            </a:r>
            <a:r>
              <a:rPr dirty="0" spc="-150"/>
              <a:t>System</a:t>
            </a:r>
            <a:r>
              <a:rPr dirty="0" spc="-204"/>
              <a:t> </a:t>
            </a:r>
            <a:r>
              <a:rPr dirty="0" spc="-80"/>
              <a:t>(DBMS)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700910"/>
            <a:ext cx="9657080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7495" marR="5080" indent="-26543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Database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Management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System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(DBMS)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enables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to </a:t>
            </a:r>
            <a:r>
              <a:rPr dirty="0" sz="2400">
                <a:latin typeface="Times New Roman"/>
                <a:cs typeface="Times New Roman"/>
              </a:rPr>
              <a:t>create,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organize,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manage,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retrieve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efficiently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DBMS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facilitates:</a:t>
            </a:r>
            <a:endParaRPr sz="2400">
              <a:latin typeface="Times New Roman"/>
              <a:cs typeface="Times New Roman"/>
            </a:endParaRPr>
          </a:p>
          <a:p>
            <a:pPr marL="562610" indent="-285115">
              <a:lnSpc>
                <a:spcPct val="100000"/>
              </a:lnSpc>
              <a:buFont typeface="Arial"/>
              <a:buChar char="•"/>
              <a:tabLst>
                <a:tab pos="562610" algn="l"/>
              </a:tabLst>
            </a:pPr>
            <a:r>
              <a:rPr dirty="0" sz="2400" b="1">
                <a:latin typeface="Times New Roman"/>
                <a:cs typeface="Times New Roman"/>
              </a:rPr>
              <a:t>Defining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database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Specify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structure,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tables,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relationships,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 </a:t>
            </a:r>
            <a:r>
              <a:rPr dirty="0" sz="2400" spc="-10">
                <a:latin typeface="Times New Roman"/>
                <a:cs typeface="Times New Roman"/>
              </a:rPr>
              <a:t>constraints.</a:t>
            </a:r>
            <a:endParaRPr sz="2400">
              <a:latin typeface="Times New Roman"/>
              <a:cs typeface="Times New Roman"/>
            </a:endParaRPr>
          </a:p>
          <a:p>
            <a:pPr marL="552450" indent="-27495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552450" algn="l"/>
              </a:tabLst>
            </a:pPr>
            <a:r>
              <a:rPr dirty="0" sz="2400" b="1">
                <a:latin typeface="Times New Roman"/>
                <a:cs typeface="Times New Roman"/>
              </a:rPr>
              <a:t>Constructing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database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Create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objects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 populate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them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552450" indent="-274955">
              <a:lnSpc>
                <a:spcPct val="100000"/>
              </a:lnSpc>
              <a:buFont typeface="Arial"/>
              <a:buChar char="•"/>
              <a:tabLst>
                <a:tab pos="552450" algn="l"/>
              </a:tabLst>
            </a:pPr>
            <a:r>
              <a:rPr dirty="0" sz="2400" b="1">
                <a:latin typeface="Times New Roman"/>
                <a:cs typeface="Times New Roman"/>
              </a:rPr>
              <a:t>Manipulating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database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Insert,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update,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delete,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retrieve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Support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multiple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applications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simultaneously.</a:t>
            </a:r>
            <a:endParaRPr sz="2400">
              <a:latin typeface="Times New Roman"/>
              <a:cs typeface="Times New Roman"/>
            </a:endParaRPr>
          </a:p>
          <a:p>
            <a:pPr marL="552450" indent="-274955">
              <a:lnSpc>
                <a:spcPct val="100000"/>
              </a:lnSpc>
              <a:buFont typeface="Arial"/>
              <a:buChar char="•"/>
              <a:tabLst>
                <a:tab pos="552450" algn="l"/>
              </a:tabLst>
            </a:pPr>
            <a:r>
              <a:rPr dirty="0" sz="2400" b="1">
                <a:latin typeface="Times New Roman"/>
                <a:cs typeface="Times New Roman"/>
              </a:rPr>
              <a:t>Examples: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MySQL,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PostgreSQL,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MongoDB,</a:t>
            </a:r>
            <a:r>
              <a:rPr dirty="0" sz="2400" spc="-10" b="1">
                <a:latin typeface="Times New Roman"/>
                <a:cs typeface="Times New Roman"/>
              </a:rPr>
              <a:t> CockroachDB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Database</a:t>
            </a:r>
            <a:r>
              <a:rPr dirty="0" spc="-215"/>
              <a:t> </a:t>
            </a:r>
            <a:r>
              <a:rPr dirty="0" spc="-150"/>
              <a:t>System</a:t>
            </a:r>
            <a:r>
              <a:rPr dirty="0" spc="-204"/>
              <a:t> </a:t>
            </a:r>
            <a:r>
              <a:rPr dirty="0" spc="-130"/>
              <a:t>Environment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783" y="1533880"/>
            <a:ext cx="10530332" cy="48865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>
                <a:solidFill>
                  <a:srgbClr val="C00000"/>
                </a:solidFill>
              </a:rPr>
              <a:t>Traditional</a:t>
            </a:r>
            <a:r>
              <a:rPr dirty="0" spc="-180">
                <a:solidFill>
                  <a:srgbClr val="C00000"/>
                </a:solidFill>
              </a:rPr>
              <a:t> </a:t>
            </a:r>
            <a:r>
              <a:rPr dirty="0" spc="-140">
                <a:solidFill>
                  <a:srgbClr val="C00000"/>
                </a:solidFill>
              </a:rPr>
              <a:t>File</a:t>
            </a:r>
            <a:r>
              <a:rPr dirty="0" spc="-210">
                <a:solidFill>
                  <a:srgbClr val="C00000"/>
                </a:solidFill>
              </a:rPr>
              <a:t> </a:t>
            </a:r>
            <a:r>
              <a:rPr dirty="0" spc="-120">
                <a:solidFill>
                  <a:srgbClr val="C00000"/>
                </a:solidFill>
              </a:rPr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0049"/>
            <a:ext cx="9618980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1079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 b="1">
                <a:latin typeface="Times New Roman"/>
                <a:cs typeface="Times New Roman"/>
              </a:rPr>
              <a:t>Before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Database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Management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Systems,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Organizations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traditionally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stored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separate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operating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files.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2400">
                <a:latin typeface="Times New Roman"/>
                <a:cs typeface="Times New Roman"/>
              </a:rPr>
              <a:t>If</a:t>
            </a:r>
            <a:r>
              <a:rPr dirty="0" sz="2400" spc="5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we</a:t>
            </a:r>
            <a:r>
              <a:rPr dirty="0" sz="2400" spc="6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take</a:t>
            </a:r>
            <a:r>
              <a:rPr dirty="0" sz="2400" spc="5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example</a:t>
            </a:r>
            <a:r>
              <a:rPr dirty="0" sz="2400" spc="6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5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savings</a:t>
            </a:r>
            <a:r>
              <a:rPr dirty="0" sz="2400" spc="5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bank</a:t>
            </a:r>
            <a:r>
              <a:rPr dirty="0" sz="2400" spc="6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enterprise,</a:t>
            </a:r>
            <a:r>
              <a:rPr dirty="0" sz="2400" spc="5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information</a:t>
            </a:r>
            <a:r>
              <a:rPr dirty="0" sz="2400" spc="50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about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customers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savings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accounts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etc.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stored.</a:t>
            </a:r>
            <a:endParaRPr sz="2400">
              <a:latin typeface="Times New Roman"/>
              <a:cs typeface="Times New Roman"/>
            </a:endParaRPr>
          </a:p>
          <a:p>
            <a:pPr marL="297180" marR="5080" indent="-28511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One</a:t>
            </a:r>
            <a:r>
              <a:rPr dirty="0" sz="2400" spc="5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way</a:t>
            </a:r>
            <a:r>
              <a:rPr dirty="0" sz="2400" spc="5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5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keep</a:t>
            </a:r>
            <a:r>
              <a:rPr dirty="0" sz="2400" spc="5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information</a:t>
            </a:r>
            <a:r>
              <a:rPr dirty="0" sz="2400" spc="5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5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computers</a:t>
            </a:r>
            <a:r>
              <a:rPr dirty="0" sz="2400" spc="5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5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5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</a:t>
            </a:r>
            <a:r>
              <a:rPr dirty="0" sz="2400" spc="5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5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files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provided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operating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(OS).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97180" marR="4892675" indent="-285115">
              <a:lnSpc>
                <a:spcPct val="100000"/>
              </a:lnSpc>
              <a:buFont typeface="Arial"/>
              <a:buChar char="•"/>
              <a:tabLst>
                <a:tab pos="469900" algn="l"/>
              </a:tabLst>
            </a:pPr>
            <a:r>
              <a:rPr dirty="0" sz="2400" b="1">
                <a:latin typeface="Times New Roman"/>
                <a:cs typeface="Times New Roman"/>
              </a:rPr>
              <a:t>Example: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Banking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System </a:t>
            </a:r>
            <a:r>
              <a:rPr dirty="0" sz="2400" spc="-10" b="1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Customer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records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→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customers.txt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Account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details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→ </a:t>
            </a:r>
            <a:r>
              <a:rPr dirty="0" sz="2400" spc="-10">
                <a:latin typeface="Times New Roman"/>
                <a:cs typeface="Times New Roman"/>
              </a:rPr>
              <a:t>accounts.txt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Transactions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→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transactions.txt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Loans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→</a:t>
            </a:r>
            <a:r>
              <a:rPr dirty="0" sz="2400" spc="-10">
                <a:latin typeface="Times New Roman"/>
                <a:cs typeface="Times New Roman"/>
              </a:rPr>
              <a:t> loans.txt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Challenges</a:t>
            </a:r>
            <a:r>
              <a:rPr dirty="0" spc="-200"/>
              <a:t> </a:t>
            </a:r>
            <a:r>
              <a:rPr dirty="0" spc="-130"/>
              <a:t>with</a:t>
            </a:r>
            <a:r>
              <a:rPr dirty="0" spc="-245"/>
              <a:t> </a:t>
            </a:r>
            <a:r>
              <a:rPr dirty="0" spc="-140"/>
              <a:t>File</a:t>
            </a:r>
            <a:r>
              <a:rPr dirty="0" spc="-229"/>
              <a:t> </a:t>
            </a:r>
            <a:r>
              <a:rPr dirty="0" spc="-135"/>
              <a:t>Based</a:t>
            </a:r>
            <a:r>
              <a:rPr dirty="0" spc="-250"/>
              <a:t> </a:t>
            </a:r>
            <a:r>
              <a:rPr dirty="0" spc="-110"/>
              <a:t>Storage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136" y="1594484"/>
            <a:ext cx="10346690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3060" marR="5080" indent="-3409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2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Redundancy</a:t>
            </a:r>
            <a:r>
              <a:rPr dirty="0" sz="2400" spc="2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same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may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stored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multiple</a:t>
            </a:r>
            <a:r>
              <a:rPr dirty="0" sz="2400" spc="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files,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leading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to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unnecessary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duplication.</a:t>
            </a:r>
            <a:endParaRPr sz="2400">
              <a:latin typeface="Times New Roman"/>
              <a:cs typeface="Times New Roman"/>
            </a:endParaRPr>
          </a:p>
          <a:p>
            <a:pPr algn="just" marL="353060" marR="5715" indent="-34099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20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Inconsistency</a:t>
            </a:r>
            <a:r>
              <a:rPr dirty="0" sz="2400" spc="204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Updates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made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one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file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may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not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reflected</a:t>
            </a:r>
            <a:r>
              <a:rPr dirty="0" sz="2400" spc="1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others.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 b="1">
                <a:latin typeface="Times New Roman"/>
                <a:cs typeface="Times New Roman"/>
              </a:rPr>
              <a:t>Difficult</a:t>
            </a:r>
            <a:r>
              <a:rPr dirty="0" sz="2400" spc="160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165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Access</a:t>
            </a:r>
            <a:r>
              <a:rPr dirty="0" sz="2400" spc="165" b="1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16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Retrieving</a:t>
            </a:r>
            <a:r>
              <a:rPr dirty="0" sz="2400" spc="16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information</a:t>
            </a:r>
            <a:r>
              <a:rPr dirty="0" sz="2400" spc="16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often</a:t>
            </a:r>
            <a:r>
              <a:rPr dirty="0" sz="2400" spc="16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requires</a:t>
            </a:r>
            <a:r>
              <a:rPr dirty="0" sz="2400" spc="16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writing</a:t>
            </a:r>
            <a:r>
              <a:rPr dirty="0" sz="2400" spc="160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Times New Roman"/>
                <a:cs typeface="Times New Roman"/>
              </a:rPr>
              <a:t>or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modifying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application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programs.</a:t>
            </a:r>
            <a:endParaRPr sz="2400">
              <a:latin typeface="Times New Roman"/>
              <a:cs typeface="Times New Roman"/>
            </a:endParaRPr>
          </a:p>
          <a:p>
            <a:pPr algn="just" marL="353060" marR="5715" indent="-34099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Limited</a:t>
            </a:r>
            <a:r>
              <a:rPr dirty="0" sz="2400" spc="11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11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Sharing</a:t>
            </a:r>
            <a:r>
              <a:rPr dirty="0" sz="2400" spc="1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stored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separate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files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difficult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share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across 	applications.</a:t>
            </a:r>
            <a:endParaRPr sz="2400">
              <a:latin typeface="Times New Roman"/>
              <a:cs typeface="Times New Roman"/>
            </a:endParaRPr>
          </a:p>
          <a:p>
            <a:pPr algn="just" marL="353695" indent="-34099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3695" algn="l"/>
              </a:tabLst>
            </a:pPr>
            <a:r>
              <a:rPr dirty="0" sz="2400" b="1">
                <a:latin typeface="Times New Roman"/>
                <a:cs typeface="Times New Roman"/>
              </a:rPr>
              <a:t>Poor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Security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only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basic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access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control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mechanisms.</a:t>
            </a:r>
            <a:endParaRPr sz="2400">
              <a:latin typeface="Times New Roman"/>
              <a:cs typeface="Times New Roman"/>
            </a:endParaRPr>
          </a:p>
          <a:p>
            <a:pPr algn="just" marL="353060" marR="5080" indent="-34099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No</a:t>
            </a:r>
            <a:r>
              <a:rPr dirty="0" sz="2400" spc="30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Centralized</a:t>
            </a:r>
            <a:r>
              <a:rPr dirty="0" sz="2400" spc="30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Backup</a:t>
            </a:r>
            <a:r>
              <a:rPr dirty="0" sz="2400" spc="30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35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Recovery</a:t>
            </a:r>
            <a:r>
              <a:rPr dirty="0" sz="2400" spc="30" b="1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3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Recovering</a:t>
            </a:r>
            <a:r>
              <a:rPr dirty="0" sz="2400" spc="3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2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after</a:t>
            </a:r>
            <a:r>
              <a:rPr dirty="0" sz="2400" spc="3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failures</a:t>
            </a:r>
            <a:r>
              <a:rPr dirty="0" sz="2400" spc="30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Times New Roman"/>
                <a:cs typeface="Times New Roman"/>
              </a:rPr>
              <a:t>is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difficult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time-consuming.</a:t>
            </a:r>
            <a:endParaRPr sz="2400">
              <a:latin typeface="Times New Roman"/>
              <a:cs typeface="Times New Roman"/>
            </a:endParaRPr>
          </a:p>
          <a:p>
            <a:pPr algn="just" marL="353060" marR="6350" indent="-34099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Integrity</a:t>
            </a:r>
            <a:r>
              <a:rPr dirty="0" sz="2400" spc="1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Constraints</a:t>
            </a:r>
            <a:r>
              <a:rPr dirty="0" sz="2400" spc="1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are</a:t>
            </a:r>
            <a:r>
              <a:rPr dirty="0" sz="2400" spc="1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Difficult</a:t>
            </a:r>
            <a:r>
              <a:rPr dirty="0" sz="2400" spc="1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to</a:t>
            </a:r>
            <a:r>
              <a:rPr dirty="0" sz="2400" spc="1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Enforce</a:t>
            </a:r>
            <a:r>
              <a:rPr dirty="0" sz="2400" spc="14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Ensuring</a:t>
            </a:r>
            <a:r>
              <a:rPr dirty="0" sz="2400" spc="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valid</a:t>
            </a:r>
            <a:r>
              <a:rPr dirty="0" sz="2400" spc="1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consistent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across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challenging.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Advantages</a:t>
            </a:r>
            <a:r>
              <a:rPr dirty="0" spc="-204"/>
              <a:t> </a:t>
            </a:r>
            <a:r>
              <a:rPr dirty="0" spc="-90"/>
              <a:t>of</a:t>
            </a:r>
            <a:r>
              <a:rPr dirty="0" spc="-260"/>
              <a:t> </a:t>
            </a:r>
            <a:r>
              <a:rPr dirty="0" spc="-135"/>
              <a:t>DBMS</a:t>
            </a:r>
            <a:r>
              <a:rPr dirty="0" spc="-245"/>
              <a:t> </a:t>
            </a:r>
            <a:r>
              <a:rPr dirty="0" spc="-12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293" y="1685619"/>
            <a:ext cx="11449685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Controlled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Redundancy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Minimizes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duplicate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data,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reducing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storage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improving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consistency.</a:t>
            </a:r>
            <a:endParaRPr sz="2400">
              <a:latin typeface="Times New Roman"/>
              <a:cs typeface="Times New Roman"/>
            </a:endParaRPr>
          </a:p>
          <a:p>
            <a:pPr marL="355600" marR="45720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Efficient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Access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Enables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fast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retrieval,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insertion,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updating,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deletion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data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query </a:t>
            </a:r>
            <a:r>
              <a:rPr dirty="0" sz="2400" spc="-10">
                <a:latin typeface="Times New Roman"/>
                <a:cs typeface="Times New Roman"/>
              </a:rPr>
              <a:t>languages.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Integrity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Ensures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accuracy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consistency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enforcing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integrity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constraints.</a:t>
            </a:r>
            <a:endParaRPr sz="2400">
              <a:latin typeface="Times New Roman"/>
              <a:cs typeface="Times New Roman"/>
            </a:endParaRPr>
          </a:p>
          <a:p>
            <a:pPr marL="355600" marR="74295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Enhanced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Security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authentication,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authorization,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access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control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protect </a:t>
            </a:r>
            <a:r>
              <a:rPr dirty="0" sz="2400">
                <a:latin typeface="Times New Roman"/>
                <a:cs typeface="Times New Roman"/>
              </a:rPr>
              <a:t>sensitive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information.</a:t>
            </a:r>
            <a:endParaRPr sz="2400">
              <a:latin typeface="Times New Roman"/>
              <a:cs typeface="Times New Roman"/>
            </a:endParaRPr>
          </a:p>
          <a:p>
            <a:pPr marL="355600" marR="109347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Concurrency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Control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Allows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multiple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access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modify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 </a:t>
            </a:r>
            <a:r>
              <a:rPr dirty="0" sz="2400">
                <a:latin typeface="Times New Roman"/>
                <a:cs typeface="Times New Roman"/>
              </a:rPr>
              <a:t>simultaneously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while maintaining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consistency.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Backup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Recovery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Protects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hardware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failures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through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backup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recovery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mechanisms.</a:t>
            </a:r>
            <a:endParaRPr sz="2400">
              <a:latin typeface="Times New Roman"/>
              <a:cs typeface="Times New Roman"/>
            </a:endParaRPr>
          </a:p>
          <a:p>
            <a:pPr marL="355600" marR="86233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Reduced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Application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Development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Time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built-in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services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such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data </a:t>
            </a:r>
            <a:r>
              <a:rPr dirty="0" sz="2400">
                <a:latin typeface="Times New Roman"/>
                <a:cs typeface="Times New Roman"/>
              </a:rPr>
              <a:t>management,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security,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 transaction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processing,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reducing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development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effort.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Evolution</a:t>
            </a:r>
            <a:r>
              <a:rPr dirty="0" spc="-215"/>
              <a:t> </a:t>
            </a:r>
            <a:r>
              <a:rPr dirty="0" spc="-90"/>
              <a:t>of</a:t>
            </a:r>
            <a:r>
              <a:rPr dirty="0" spc="-250"/>
              <a:t> </a:t>
            </a:r>
            <a:r>
              <a:rPr dirty="0" spc="-135"/>
              <a:t>Databases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389" y="1523948"/>
            <a:ext cx="11747500" cy="46802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25133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Types</a:t>
            </a:r>
            <a:r>
              <a:rPr dirty="0" spc="-245"/>
              <a:t> </a:t>
            </a:r>
            <a:r>
              <a:rPr dirty="0" spc="-90"/>
              <a:t>of</a:t>
            </a:r>
            <a:r>
              <a:rPr dirty="0" spc="-270"/>
              <a:t> </a:t>
            </a:r>
            <a:r>
              <a:rPr dirty="0" spc="-10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386" y="1709419"/>
            <a:ext cx="6539230" cy="3069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2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2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classified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2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how</a:t>
            </a:r>
            <a:r>
              <a:rPr dirty="0" sz="2400" spc="2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2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organized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18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represented.</a:t>
            </a:r>
            <a:r>
              <a:rPr dirty="0" sz="2400" spc="18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Different</a:t>
            </a:r>
            <a:r>
              <a:rPr dirty="0" sz="2400" spc="18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types</a:t>
            </a:r>
            <a:r>
              <a:rPr dirty="0" sz="2400" spc="18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8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185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require </a:t>
            </a:r>
            <a:r>
              <a:rPr dirty="0" sz="2400">
                <a:latin typeface="Times New Roman"/>
                <a:cs typeface="Times New Roman"/>
              </a:rPr>
              <a:t>different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storage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management </a:t>
            </a:r>
            <a:r>
              <a:rPr dirty="0" sz="2400" spc="-10">
                <a:latin typeface="Times New Roman"/>
                <a:cs typeface="Times New Roman"/>
              </a:rPr>
              <a:t>techniques.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buAutoNum type="arabicPeriod"/>
              <a:tabLst>
                <a:tab pos="317500" algn="l"/>
              </a:tabLst>
            </a:pPr>
            <a:r>
              <a:rPr dirty="0" sz="2400" b="1">
                <a:latin typeface="Times New Roman"/>
                <a:cs typeface="Times New Roman"/>
              </a:rPr>
              <a:t>Structured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316230" indent="-30353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316230" algn="l"/>
              </a:tabLst>
            </a:pPr>
            <a:r>
              <a:rPr dirty="0" sz="2400" b="1">
                <a:latin typeface="Times New Roman"/>
                <a:cs typeface="Times New Roman"/>
              </a:rPr>
              <a:t>Semi-Structured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317500" algn="l"/>
              </a:tabLst>
            </a:pPr>
            <a:r>
              <a:rPr dirty="0" sz="2400" b="1">
                <a:latin typeface="Times New Roman"/>
                <a:cs typeface="Times New Roman"/>
              </a:rPr>
              <a:t>Unstructured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6800" y="1642998"/>
            <a:ext cx="4538979" cy="37339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29451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Structured </a:t>
            </a:r>
            <a:r>
              <a:rPr dirty="0" spc="-85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281" y="1856993"/>
            <a:ext cx="6896734" cy="368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Structured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organized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according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>
                <a:latin typeface="Times New Roman"/>
                <a:cs typeface="Times New Roman"/>
              </a:rPr>
              <a:t>predefined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schema, making it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easy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retrieve,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 </a:t>
            </a:r>
            <a:r>
              <a:rPr dirty="0" sz="2400" spc="-10"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Characteristics</a:t>
            </a:r>
            <a:endParaRPr sz="2400">
              <a:latin typeface="Times New Roman"/>
              <a:cs typeface="Times New Roman"/>
            </a:endParaRPr>
          </a:p>
          <a:p>
            <a:pPr marL="730250" indent="-364490">
              <a:lnSpc>
                <a:spcPct val="100000"/>
              </a:lnSpc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Organized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into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rows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columns</a:t>
            </a:r>
            <a:endParaRPr sz="2400">
              <a:latin typeface="Times New Roman"/>
              <a:cs typeface="Times New Roman"/>
            </a:endParaRPr>
          </a:p>
          <a:p>
            <a:pPr marL="730250" indent="-364490">
              <a:lnSpc>
                <a:spcPct val="100000"/>
              </a:lnSpc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Follows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fixed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schema</a:t>
            </a:r>
            <a:endParaRPr sz="2400">
              <a:latin typeface="Times New Roman"/>
              <a:cs typeface="Times New Roman"/>
            </a:endParaRPr>
          </a:p>
          <a:p>
            <a:pPr marL="730250" indent="-36449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attribute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defined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  <a:p>
            <a:pPr marL="730250" indent="-364490">
              <a:lnSpc>
                <a:spcPct val="100000"/>
              </a:lnSpc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Easily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queried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SQL</a:t>
            </a:r>
            <a:endParaRPr sz="2400">
              <a:latin typeface="Times New Roman"/>
              <a:cs typeface="Times New Roman"/>
            </a:endParaRPr>
          </a:p>
          <a:p>
            <a:pPr marL="730250" indent="-364490">
              <a:lnSpc>
                <a:spcPct val="100000"/>
              </a:lnSpc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Ensures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consistency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integrity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35036" y="1912746"/>
          <a:ext cx="4464685" cy="1706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1950"/>
                <a:gridCol w="1231264"/>
                <a:gridCol w="1511935"/>
              </a:tblGrid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Student_id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2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2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339A"/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A120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Raju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200" spc="-25">
                          <a:latin typeface="Times New Roman"/>
                          <a:cs typeface="Times New Roman"/>
                        </a:rPr>
                        <a:t>21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A134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Kiran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200" spc="-25">
                          <a:latin typeface="Times New Roman"/>
                          <a:cs typeface="Times New Roman"/>
                        </a:rPr>
                        <a:t>19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C110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John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200" spc="-25">
                          <a:latin typeface="Times New Roman"/>
                          <a:cs typeface="Times New Roman"/>
                        </a:rPr>
                        <a:t>22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39662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5"/>
              <a:t>Semi-</a:t>
            </a:r>
            <a:r>
              <a:rPr dirty="0" spc="-155"/>
              <a:t>Structured</a:t>
            </a:r>
            <a:r>
              <a:rPr dirty="0" spc="-165"/>
              <a:t> </a:t>
            </a:r>
            <a:r>
              <a:rPr dirty="0" spc="-65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281" y="1709419"/>
            <a:ext cx="7365365" cy="368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2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imes New Roman"/>
                <a:cs typeface="Times New Roman"/>
              </a:rPr>
              <a:t>Semi-</a:t>
            </a:r>
            <a:r>
              <a:rPr dirty="0" sz="2400">
                <a:latin typeface="Times New Roman"/>
                <a:cs typeface="Times New Roman"/>
              </a:rPr>
              <a:t>structured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does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follow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rigid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tabular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schema </a:t>
            </a:r>
            <a:r>
              <a:rPr dirty="0" sz="2400">
                <a:latin typeface="Times New Roman"/>
                <a:cs typeface="Times New Roman"/>
              </a:rPr>
              <a:t>but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contains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tags,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keys,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metadata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structure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organization.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Characteristics</a:t>
            </a:r>
            <a:endParaRPr sz="2400">
              <a:latin typeface="Times New Roman"/>
              <a:cs typeface="Times New Roman"/>
            </a:endParaRPr>
          </a:p>
          <a:p>
            <a:pPr marL="641985" indent="-364490">
              <a:lnSpc>
                <a:spcPct val="100000"/>
              </a:lnSpc>
              <a:buFont typeface="Arial"/>
              <a:buChar char="•"/>
              <a:tabLst>
                <a:tab pos="641985" algn="l"/>
              </a:tabLst>
            </a:pPr>
            <a:r>
              <a:rPr dirty="0" sz="2400">
                <a:latin typeface="Times New Roman"/>
                <a:cs typeface="Times New Roman"/>
              </a:rPr>
              <a:t>Does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follow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fixed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schema</a:t>
            </a:r>
            <a:endParaRPr sz="2400">
              <a:latin typeface="Times New Roman"/>
              <a:cs typeface="Times New Roman"/>
            </a:endParaRPr>
          </a:p>
          <a:p>
            <a:pPr marL="641985" indent="-364490">
              <a:lnSpc>
                <a:spcPct val="100000"/>
              </a:lnSpc>
              <a:buFont typeface="Arial"/>
              <a:buChar char="•"/>
              <a:tabLst>
                <a:tab pos="641985" algn="l"/>
              </a:tabLst>
            </a:pPr>
            <a:r>
              <a:rPr dirty="0" sz="2400" spc="-10">
                <a:latin typeface="Times New Roman"/>
                <a:cs typeface="Times New Roman"/>
              </a:rPr>
              <a:t>Self-</a:t>
            </a:r>
            <a:r>
              <a:rPr dirty="0" sz="2400">
                <a:latin typeface="Times New Roman"/>
                <a:cs typeface="Times New Roman"/>
              </a:rPr>
              <a:t>describing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 tags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key–</a:t>
            </a:r>
            <a:r>
              <a:rPr dirty="0" sz="2400">
                <a:latin typeface="Times New Roman"/>
                <a:cs typeface="Times New Roman"/>
              </a:rPr>
              <a:t>value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pairs</a:t>
            </a:r>
            <a:endParaRPr sz="2400">
              <a:latin typeface="Times New Roman"/>
              <a:cs typeface="Times New Roman"/>
            </a:endParaRPr>
          </a:p>
          <a:p>
            <a:pPr marL="641985" indent="-36449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641985" algn="l"/>
              </a:tabLst>
            </a:pPr>
            <a:r>
              <a:rPr dirty="0" sz="2400">
                <a:latin typeface="Times New Roman"/>
                <a:cs typeface="Times New Roman"/>
              </a:rPr>
              <a:t>Flexible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 easily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extensible</a:t>
            </a:r>
            <a:endParaRPr sz="2400">
              <a:latin typeface="Times New Roman"/>
              <a:cs typeface="Times New Roman"/>
            </a:endParaRPr>
          </a:p>
          <a:p>
            <a:pPr marL="641985" indent="-364490">
              <a:lnSpc>
                <a:spcPct val="100000"/>
              </a:lnSpc>
              <a:buFont typeface="Arial"/>
              <a:buChar char="•"/>
              <a:tabLst>
                <a:tab pos="641985" algn="l"/>
              </a:tabLst>
            </a:pPr>
            <a:r>
              <a:rPr dirty="0" sz="2400">
                <a:latin typeface="Times New Roman"/>
                <a:cs typeface="Times New Roman"/>
              </a:rPr>
              <a:t>Suitable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exchanging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integrating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641985" indent="-364490">
              <a:lnSpc>
                <a:spcPct val="100000"/>
              </a:lnSpc>
              <a:buFont typeface="Arial"/>
              <a:buChar char="•"/>
              <a:tabLst>
                <a:tab pos="641985" algn="l"/>
              </a:tabLst>
            </a:pPr>
            <a:r>
              <a:rPr dirty="0" sz="2400">
                <a:latin typeface="Times New Roman"/>
                <a:cs typeface="Times New Roman"/>
              </a:rPr>
              <a:t>Commonly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JSON,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XML,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YAML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formats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0766" y="1686686"/>
            <a:ext cx="3785362" cy="36031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341502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Unstructured</a:t>
            </a:r>
            <a:r>
              <a:rPr dirty="0" spc="-145"/>
              <a:t> </a:t>
            </a:r>
            <a:r>
              <a:rPr dirty="0" spc="-8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5790" y="1661921"/>
            <a:ext cx="6099810" cy="4719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Unstructured</a:t>
            </a:r>
            <a:r>
              <a:rPr dirty="0" sz="2200" spc="11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11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information</a:t>
            </a:r>
            <a:r>
              <a:rPr dirty="0" sz="2200" spc="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that</a:t>
            </a:r>
            <a:r>
              <a:rPr dirty="0" sz="2200" spc="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does</a:t>
            </a:r>
            <a:r>
              <a:rPr dirty="0" sz="2200" spc="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not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follow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2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predefined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schema</a:t>
            </a:r>
            <a:r>
              <a:rPr dirty="0" sz="2200" spc="2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organized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format,</a:t>
            </a:r>
            <a:r>
              <a:rPr dirty="0" sz="2200" spc="2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making</a:t>
            </a:r>
            <a:r>
              <a:rPr dirty="0" sz="2200" spc="28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it </a:t>
            </a:r>
            <a:r>
              <a:rPr dirty="0" sz="2200">
                <a:latin typeface="Times New Roman"/>
                <a:cs typeface="Times New Roman"/>
              </a:rPr>
              <a:t>difficult</a:t>
            </a:r>
            <a:r>
              <a:rPr dirty="0" sz="2200" spc="34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35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store</a:t>
            </a:r>
            <a:r>
              <a:rPr dirty="0" sz="2200" spc="35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35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analyze</a:t>
            </a:r>
            <a:r>
              <a:rPr dirty="0" sz="2200" spc="34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350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traditional </a:t>
            </a:r>
            <a:r>
              <a:rPr dirty="0" sz="2200">
                <a:latin typeface="Times New Roman"/>
                <a:cs typeface="Times New Roman"/>
              </a:rPr>
              <a:t>relational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databases.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spc="-10" b="1">
                <a:latin typeface="Times New Roman"/>
                <a:cs typeface="Times New Roman"/>
              </a:rPr>
              <a:t>Characteristics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No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predefined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schema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fixed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structure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Contains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text,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images,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audio,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video,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documents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Difficult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query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traditional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SQL</a:t>
            </a:r>
            <a:endParaRPr sz="2200">
              <a:latin typeface="Times New Roman"/>
              <a:cs typeface="Times New Roman"/>
            </a:endParaRPr>
          </a:p>
          <a:p>
            <a:pPr marL="297815" marR="879475" indent="-2857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200">
                <a:latin typeface="Times New Roman"/>
                <a:cs typeface="Times New Roman"/>
              </a:rPr>
              <a:t>Requires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specialized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storage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processing 	techniques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Forms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majority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generated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today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Examples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include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documents,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images,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photographs,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Audio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Files,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Video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Files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4433" y="1559661"/>
            <a:ext cx="5525770" cy="47428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Structured</a:t>
            </a:r>
            <a:r>
              <a:rPr dirty="0" spc="-190"/>
              <a:t> </a:t>
            </a:r>
            <a:r>
              <a:rPr dirty="0" spc="-85"/>
              <a:t>vs</a:t>
            </a:r>
            <a:r>
              <a:rPr dirty="0" spc="-250"/>
              <a:t> </a:t>
            </a:r>
            <a:r>
              <a:rPr dirty="0" spc="-175"/>
              <a:t>Semi-</a:t>
            </a:r>
            <a:r>
              <a:rPr dirty="0" spc="-155"/>
              <a:t>Structured</a:t>
            </a:r>
            <a:r>
              <a:rPr dirty="0" spc="-200"/>
              <a:t> </a:t>
            </a:r>
            <a:r>
              <a:rPr dirty="0" spc="-85"/>
              <a:t>vs</a:t>
            </a:r>
            <a:r>
              <a:rPr dirty="0" spc="-250"/>
              <a:t> </a:t>
            </a:r>
            <a:r>
              <a:rPr dirty="0" spc="-120"/>
              <a:t>Unstructured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87806" y="1580514"/>
          <a:ext cx="9989820" cy="4972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5230"/>
                <a:gridCol w="2475230"/>
                <a:gridCol w="2475230"/>
                <a:gridCol w="2475229"/>
              </a:tblGrid>
              <a:tr h="88328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dirty="0" sz="2600" spc="-10" b="1">
                          <a:latin typeface="Times New Roman"/>
                          <a:cs typeface="Times New Roman"/>
                        </a:rPr>
                        <a:t>Feature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24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dirty="0" sz="2600" spc="-10" b="1">
                          <a:latin typeface="Times New Roman"/>
                          <a:cs typeface="Times New Roman"/>
                        </a:rPr>
                        <a:t>Structured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24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tc>
                  <a:txBody>
                    <a:bodyPr/>
                    <a:lstStyle/>
                    <a:p>
                      <a:pPr marL="466090" marR="458470" indent="3670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600" b="1">
                          <a:latin typeface="Times New Roman"/>
                          <a:cs typeface="Times New Roman"/>
                        </a:rPr>
                        <a:t>Semi-</a:t>
                      </a:r>
                      <a:r>
                        <a:rPr dirty="0" sz="2600" spc="-10" b="1">
                          <a:latin typeface="Times New Roman"/>
                          <a:cs typeface="Times New Roman"/>
                        </a:rPr>
                        <a:t>Structured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dirty="0" sz="2600" spc="-10" b="1">
                          <a:latin typeface="Times New Roman"/>
                          <a:cs typeface="Times New Roman"/>
                        </a:rPr>
                        <a:t>Unstructured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24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</a:tr>
              <a:tr h="83883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Schema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907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Fixed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907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Flexible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907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Schema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907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53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Storage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70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Tables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70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JSON,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XML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70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Files,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Objects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70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25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Query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25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SQL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25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JSONPath,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XPath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25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AI/Search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Engines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25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Examples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24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Records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24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Responses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24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Images,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Videos,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PDFs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24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5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Databases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MySQL,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PostgreSQL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MongoDB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0020" marR="151765" indent="-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Storage,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Elasticsearch,</a:t>
                      </a:r>
                      <a:r>
                        <a:rPr dirty="0" sz="20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Vector Databases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Relational</a:t>
            </a:r>
            <a:r>
              <a:rPr dirty="0" spc="-180"/>
              <a:t> </a:t>
            </a:r>
            <a:r>
              <a:rPr dirty="0" spc="-11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6387" y="1693544"/>
            <a:ext cx="5152390" cy="3378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985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2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Relational</a:t>
            </a:r>
            <a:r>
              <a:rPr dirty="0" sz="2200" spc="2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Model</a:t>
            </a:r>
            <a:r>
              <a:rPr dirty="0" sz="2200" spc="2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organizes</a:t>
            </a:r>
            <a:r>
              <a:rPr dirty="0" sz="2200" spc="2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26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into </a:t>
            </a:r>
            <a:r>
              <a:rPr dirty="0" sz="2200" b="1">
                <a:latin typeface="Times New Roman"/>
                <a:cs typeface="Times New Roman"/>
              </a:rPr>
              <a:t>tables</a:t>
            </a:r>
            <a:r>
              <a:rPr dirty="0" sz="2200" spc="420" b="1">
                <a:latin typeface="Times New Roman"/>
                <a:cs typeface="Times New Roman"/>
              </a:rPr>
              <a:t>    </a:t>
            </a:r>
            <a:r>
              <a:rPr dirty="0" sz="2200" b="1">
                <a:latin typeface="Times New Roman"/>
                <a:cs typeface="Times New Roman"/>
              </a:rPr>
              <a:t>(relations)</a:t>
            </a:r>
            <a:r>
              <a:rPr dirty="0" sz="2200" spc="425" b="1">
                <a:latin typeface="Times New Roman"/>
                <a:cs typeface="Times New Roman"/>
              </a:rPr>
              <a:t>   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425" b="1">
                <a:latin typeface="Times New Roman"/>
                <a:cs typeface="Times New Roman"/>
              </a:rPr>
              <a:t>    </a:t>
            </a:r>
            <a:r>
              <a:rPr dirty="0" sz="2200" spc="-10" b="1">
                <a:latin typeface="Times New Roman"/>
                <a:cs typeface="Times New Roman"/>
              </a:rPr>
              <a:t>represents </a:t>
            </a:r>
            <a:r>
              <a:rPr dirty="0" sz="2200" b="1">
                <a:latin typeface="Times New Roman"/>
                <a:cs typeface="Times New Roman"/>
              </a:rPr>
              <a:t>relationships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among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using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keys.</a:t>
            </a:r>
            <a:endParaRPr sz="22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2200" b="1">
                <a:latin typeface="Times New Roman"/>
                <a:cs typeface="Times New Roman"/>
              </a:rPr>
              <a:t>Key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Characteristics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Represents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relations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(tables)</a:t>
            </a:r>
            <a:r>
              <a:rPr dirty="0" sz="2200" spc="-1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97815" marR="6350" indent="-28575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relation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consists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rows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(tuples)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 </a:t>
            </a:r>
            <a:r>
              <a:rPr dirty="0" sz="2200" spc="-25">
                <a:latin typeface="Times New Roman"/>
                <a:cs typeface="Times New Roman"/>
              </a:rPr>
              <a:t>	</a:t>
            </a:r>
            <a:r>
              <a:rPr dirty="0" sz="2200" b="1">
                <a:latin typeface="Times New Roman"/>
                <a:cs typeface="Times New Roman"/>
              </a:rPr>
              <a:t>columns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(attributes)</a:t>
            </a:r>
            <a:r>
              <a:rPr dirty="0" sz="2200" spc="-1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relation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has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unique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name</a:t>
            </a:r>
            <a:r>
              <a:rPr dirty="0" sz="2200" spc="-1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  <a:tab pos="2181225" algn="l"/>
                <a:tab pos="3474085" algn="l"/>
                <a:tab pos="4798060" algn="l"/>
              </a:tabLst>
            </a:pPr>
            <a:r>
              <a:rPr dirty="0" sz="2200" spc="-10">
                <a:latin typeface="Times New Roman"/>
                <a:cs typeface="Times New Roman"/>
              </a:rPr>
              <a:t>Relationships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between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relations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are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established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keys</a:t>
            </a:r>
            <a:r>
              <a:rPr dirty="0" sz="2200" spc="-1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6387" y="5046979"/>
            <a:ext cx="205867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  <a:tab pos="1517015" algn="l"/>
              </a:tabLst>
            </a:pPr>
            <a:r>
              <a:rPr dirty="0" sz="2200" spc="-10">
                <a:latin typeface="Times New Roman"/>
                <a:cs typeface="Times New Roman"/>
              </a:rPr>
              <a:t>Supports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0" b="1">
                <a:latin typeface="Times New Roman"/>
                <a:cs typeface="Times New Roman"/>
              </a:rPr>
              <a:t>high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3735" y="5046979"/>
            <a:ext cx="289369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63905" algn="l"/>
                <a:tab pos="2009139" algn="l"/>
              </a:tabLst>
            </a:pPr>
            <a:r>
              <a:rPr dirty="0" sz="2200" spc="-20" b="1">
                <a:latin typeface="Times New Roman"/>
                <a:cs typeface="Times New Roman"/>
              </a:rPr>
              <a:t>data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10" b="1">
                <a:latin typeface="Times New Roman"/>
                <a:cs typeface="Times New Roman"/>
              </a:rPr>
              <a:t>integrity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through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0457" y="1669287"/>
            <a:ext cx="4949698" cy="38469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56387" y="5382259"/>
            <a:ext cx="2320925" cy="1031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latin typeface="Times New Roman"/>
                <a:cs typeface="Times New Roman"/>
              </a:rPr>
              <a:t>constraints.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  <a:tab pos="1130935" algn="l"/>
                <a:tab pos="1981835" algn="l"/>
              </a:tabLst>
            </a:pPr>
            <a:r>
              <a:rPr dirty="0" sz="2200" spc="-20">
                <a:latin typeface="Times New Roman"/>
                <a:cs typeface="Times New Roman"/>
              </a:rPr>
              <a:t>Uses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 b="1">
                <a:latin typeface="Times New Roman"/>
                <a:cs typeface="Times New Roman"/>
              </a:rPr>
              <a:t>SQL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for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2200" spc="-10">
                <a:latin typeface="Times New Roman"/>
                <a:cs typeface="Times New Roman"/>
              </a:rPr>
              <a:t>manipulation.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2920" y="5717539"/>
            <a:ext cx="256540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0255" algn="l"/>
                <a:tab pos="2149475" algn="l"/>
              </a:tabLst>
            </a:pPr>
            <a:r>
              <a:rPr dirty="0" sz="2200" spc="-20">
                <a:latin typeface="Times New Roman"/>
                <a:cs typeface="Times New Roman"/>
              </a:rPr>
              <a:t>data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definition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Relational</a:t>
            </a:r>
            <a:r>
              <a:rPr dirty="0" spc="-200"/>
              <a:t> </a:t>
            </a:r>
            <a:r>
              <a:rPr dirty="0" spc="-145"/>
              <a:t>Model</a:t>
            </a:r>
            <a:r>
              <a:rPr dirty="0" spc="-210"/>
              <a:t> </a:t>
            </a:r>
            <a:r>
              <a:rPr dirty="0" spc="-130"/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7469" y="1504644"/>
            <a:ext cx="11441430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typically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consists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multiple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containing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interrelated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2400" spc="-1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297180" marR="5080" indent="-28511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ensure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accuracy,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consistency,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validity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</a:t>
            </a:r>
            <a:r>
              <a:rPr dirty="0" sz="2400" spc="-10">
                <a:latin typeface="Times New Roman"/>
                <a:cs typeface="Times New Roman"/>
              </a:rPr>
              <a:t> defines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constraints.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2400">
                <a:latin typeface="Times New Roman"/>
                <a:cs typeface="Times New Roman"/>
              </a:rPr>
              <a:t>These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constraints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help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maintain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integrity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prevent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invalid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inconsistent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from being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constraints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broadly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classified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into:</a:t>
            </a:r>
            <a:endParaRPr sz="2400">
              <a:latin typeface="Times New Roman"/>
              <a:cs typeface="Times New Roman"/>
            </a:endParaRPr>
          </a:p>
          <a:p>
            <a:pPr lvl="1" marL="637540" indent="-356870">
              <a:lnSpc>
                <a:spcPct val="100000"/>
              </a:lnSpc>
              <a:buFont typeface="Arial"/>
              <a:buChar char="•"/>
              <a:tabLst>
                <a:tab pos="637540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Schema-</a:t>
            </a:r>
            <a:r>
              <a:rPr dirty="0" sz="2400" b="1">
                <a:latin typeface="Times New Roman"/>
                <a:cs typeface="Times New Roman"/>
              </a:rPr>
              <a:t>Based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  <a:p>
            <a:pPr lvl="2" marL="1083945" indent="-266700">
              <a:lnSpc>
                <a:spcPct val="100000"/>
              </a:lnSpc>
              <a:buFont typeface="Arial"/>
              <a:buChar char="•"/>
              <a:tabLst>
                <a:tab pos="1083945" algn="l"/>
              </a:tabLst>
            </a:pPr>
            <a:r>
              <a:rPr dirty="0" sz="2400">
                <a:latin typeface="Times New Roman"/>
                <a:cs typeface="Times New Roman"/>
              </a:rPr>
              <a:t>Domain</a:t>
            </a:r>
            <a:r>
              <a:rPr dirty="0" sz="2400" spc="-10">
                <a:latin typeface="Times New Roman"/>
                <a:cs typeface="Times New Roman"/>
              </a:rPr>
              <a:t> Constraints</a:t>
            </a:r>
            <a:endParaRPr sz="2400">
              <a:latin typeface="Times New Roman"/>
              <a:cs typeface="Times New Roman"/>
            </a:endParaRPr>
          </a:p>
          <a:p>
            <a:pPr lvl="2" marL="1083945" indent="-2667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083945" algn="l"/>
              </a:tabLst>
            </a:pPr>
            <a:r>
              <a:rPr dirty="0" sz="2400">
                <a:latin typeface="Times New Roman"/>
                <a:cs typeface="Times New Roman"/>
              </a:rPr>
              <a:t>Key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  <a:p>
            <a:pPr lvl="2" marL="1083945" indent="-266700">
              <a:lnSpc>
                <a:spcPct val="100000"/>
              </a:lnSpc>
              <a:buFont typeface="Arial"/>
              <a:buChar char="•"/>
              <a:tabLst>
                <a:tab pos="1083945" algn="l"/>
              </a:tabLst>
            </a:pPr>
            <a:r>
              <a:rPr dirty="0" sz="2400">
                <a:latin typeface="Times New Roman"/>
                <a:cs typeface="Times New Roman"/>
              </a:rPr>
              <a:t>Entity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Integrity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  <a:p>
            <a:pPr lvl="2" marL="1083945" indent="-266700">
              <a:lnSpc>
                <a:spcPct val="100000"/>
              </a:lnSpc>
              <a:buFont typeface="Arial"/>
              <a:buChar char="•"/>
              <a:tabLst>
                <a:tab pos="1083945" algn="l"/>
              </a:tabLst>
            </a:pPr>
            <a:r>
              <a:rPr dirty="0" sz="2400">
                <a:latin typeface="Times New Roman"/>
                <a:cs typeface="Times New Roman"/>
              </a:rPr>
              <a:t>Referential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Integrity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  <a:p>
            <a:pPr lvl="1" marL="637540" indent="-356870">
              <a:lnSpc>
                <a:spcPct val="100000"/>
              </a:lnSpc>
              <a:buFont typeface="Arial"/>
              <a:buChar char="•"/>
              <a:tabLst>
                <a:tab pos="637540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Application-</a:t>
            </a:r>
            <a:r>
              <a:rPr dirty="0" sz="2400" b="1">
                <a:latin typeface="Times New Roman"/>
                <a:cs typeface="Times New Roman"/>
              </a:rPr>
              <a:t>Based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(Semantic)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Domain</a:t>
            </a:r>
            <a:r>
              <a:rPr dirty="0" spc="-235"/>
              <a:t> </a:t>
            </a:r>
            <a:r>
              <a:rPr dirty="0" spc="-135"/>
              <a:t>Constraint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007" y="1900173"/>
            <a:ext cx="6315710" cy="4384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10">
                <a:latin typeface="Times New Roman"/>
                <a:cs typeface="Times New Roman"/>
              </a:rPr>
              <a:t>  </a:t>
            </a:r>
            <a:r>
              <a:rPr dirty="0" sz="2200" b="1">
                <a:latin typeface="Times New Roman"/>
                <a:cs typeface="Times New Roman"/>
              </a:rPr>
              <a:t>domain</a:t>
            </a:r>
            <a:r>
              <a:rPr dirty="0" sz="2200" spc="20" b="1">
                <a:latin typeface="Times New Roman"/>
                <a:cs typeface="Times New Roman"/>
              </a:rPr>
              <a:t>  </a:t>
            </a:r>
            <a:r>
              <a:rPr dirty="0" sz="2200" b="1">
                <a:latin typeface="Times New Roman"/>
                <a:cs typeface="Times New Roman"/>
              </a:rPr>
              <a:t>constraint</a:t>
            </a:r>
            <a:r>
              <a:rPr dirty="0" sz="2200" spc="20" b="1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specifies</a:t>
            </a:r>
            <a:r>
              <a:rPr dirty="0" sz="2200" spc="1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that</a:t>
            </a:r>
            <a:r>
              <a:rPr dirty="0" sz="2200" spc="2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1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value</a:t>
            </a:r>
            <a:r>
              <a:rPr dirty="0" sz="2200" spc="15">
                <a:latin typeface="Times New Roman"/>
                <a:cs typeface="Times New Roman"/>
              </a:rPr>
              <a:t>  </a:t>
            </a:r>
            <a:r>
              <a:rPr dirty="0" sz="2200" spc="-25">
                <a:latin typeface="Times New Roman"/>
                <a:cs typeface="Times New Roman"/>
              </a:rPr>
              <a:t>of </a:t>
            </a: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2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attribute</a:t>
            </a:r>
            <a:r>
              <a:rPr dirty="0" sz="2200" spc="2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2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2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tuple</a:t>
            </a:r>
            <a:r>
              <a:rPr dirty="0" sz="2200" spc="2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must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belong</a:t>
            </a:r>
            <a:r>
              <a:rPr dirty="0" sz="2200" spc="2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2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its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defined domain.</a:t>
            </a:r>
            <a:endParaRPr sz="2200">
              <a:latin typeface="Times New Roman"/>
              <a:cs typeface="Times New Roman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domain</a:t>
            </a:r>
            <a:r>
              <a:rPr dirty="0" sz="2200" spc="229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defines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2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set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2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permissible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values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for </a:t>
            </a: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attribute,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including</a:t>
            </a:r>
            <a:r>
              <a:rPr dirty="0" sz="2200" spc="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its</a:t>
            </a:r>
            <a:r>
              <a:rPr dirty="0" sz="2200" spc="70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type</a:t>
            </a:r>
            <a:r>
              <a:rPr dirty="0" sz="2200">
                <a:latin typeface="Times New Roman"/>
                <a:cs typeface="Times New Roman"/>
              </a:rPr>
              <a:t>,</a:t>
            </a:r>
            <a:r>
              <a:rPr dirty="0" sz="2200" spc="90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range</a:t>
            </a:r>
            <a:r>
              <a:rPr dirty="0" sz="2200">
                <a:latin typeface="Times New Roman"/>
                <a:cs typeface="Times New Roman"/>
              </a:rPr>
              <a:t>,</a:t>
            </a:r>
            <a:r>
              <a:rPr dirty="0" sz="2200" spc="90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format</a:t>
            </a:r>
            <a:r>
              <a:rPr dirty="0" sz="2200" spc="-10">
                <a:latin typeface="Times New Roman"/>
                <a:cs typeface="Times New Roman"/>
              </a:rPr>
              <a:t>,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other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restrictions.</a:t>
            </a:r>
            <a:endParaRPr sz="2200">
              <a:latin typeface="Times New Roman"/>
              <a:cs typeface="Times New Roman"/>
            </a:endParaRPr>
          </a:p>
          <a:p>
            <a:pPr algn="just"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Common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domains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include:</a:t>
            </a:r>
            <a:endParaRPr sz="2200">
              <a:latin typeface="Times New Roman"/>
              <a:cs typeface="Times New Roman"/>
            </a:endParaRPr>
          </a:p>
          <a:p>
            <a:pPr lvl="1" marL="980440" indent="-342900">
              <a:lnSpc>
                <a:spcPct val="100000"/>
              </a:lnSpc>
              <a:buFont typeface="Courier New"/>
              <a:buChar char="o"/>
              <a:tabLst>
                <a:tab pos="980440" algn="l"/>
              </a:tabLst>
            </a:pPr>
            <a:r>
              <a:rPr dirty="0" sz="2200" spc="-10">
                <a:latin typeface="Times New Roman"/>
                <a:cs typeface="Times New Roman"/>
              </a:rPr>
              <a:t>Integer</a:t>
            </a:r>
            <a:endParaRPr sz="2200">
              <a:latin typeface="Times New Roman"/>
              <a:cs typeface="Times New Roman"/>
            </a:endParaRPr>
          </a:p>
          <a:p>
            <a:pPr lvl="1" marL="980440" indent="-342900">
              <a:lnSpc>
                <a:spcPct val="100000"/>
              </a:lnSpc>
              <a:buFont typeface="Courier New"/>
              <a:buChar char="o"/>
              <a:tabLst>
                <a:tab pos="980440" algn="l"/>
              </a:tabLst>
            </a:pPr>
            <a:r>
              <a:rPr dirty="0" sz="2200">
                <a:latin typeface="Times New Roman"/>
                <a:cs typeface="Times New Roman"/>
              </a:rPr>
              <a:t>Real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Number</a:t>
            </a:r>
            <a:endParaRPr sz="2200">
              <a:latin typeface="Times New Roman"/>
              <a:cs typeface="Times New Roman"/>
            </a:endParaRPr>
          </a:p>
          <a:p>
            <a:pPr lvl="1" marL="980440" indent="-342900">
              <a:lnSpc>
                <a:spcPct val="100000"/>
              </a:lnSpc>
              <a:buFont typeface="Courier New"/>
              <a:buChar char="o"/>
              <a:tabLst>
                <a:tab pos="980440" algn="l"/>
              </a:tabLst>
            </a:pPr>
            <a:r>
              <a:rPr dirty="0" sz="2200" spc="-10">
                <a:latin typeface="Times New Roman"/>
                <a:cs typeface="Times New Roman"/>
              </a:rPr>
              <a:t>Character/String</a:t>
            </a:r>
            <a:endParaRPr sz="2200">
              <a:latin typeface="Times New Roman"/>
              <a:cs typeface="Times New Roman"/>
            </a:endParaRPr>
          </a:p>
          <a:p>
            <a:pPr lvl="1" marL="980440" indent="-342900">
              <a:lnSpc>
                <a:spcPct val="100000"/>
              </a:lnSpc>
              <a:buFont typeface="Courier New"/>
              <a:buChar char="o"/>
              <a:tabLst>
                <a:tab pos="980440" algn="l"/>
              </a:tabLst>
            </a:pPr>
            <a:r>
              <a:rPr dirty="0" sz="2200" spc="-10">
                <a:latin typeface="Times New Roman"/>
                <a:cs typeface="Times New Roman"/>
              </a:rPr>
              <a:t>Boolean</a:t>
            </a:r>
            <a:endParaRPr sz="2200">
              <a:latin typeface="Times New Roman"/>
              <a:cs typeface="Times New Roman"/>
            </a:endParaRPr>
          </a:p>
          <a:p>
            <a:pPr lvl="1" marL="980440" indent="-342900">
              <a:lnSpc>
                <a:spcPct val="100000"/>
              </a:lnSpc>
              <a:buFont typeface="Courier New"/>
              <a:buChar char="o"/>
              <a:tabLst>
                <a:tab pos="980440" algn="l"/>
              </a:tabLst>
            </a:pPr>
            <a:r>
              <a:rPr dirty="0" sz="2200" spc="-20">
                <a:latin typeface="Times New Roman"/>
                <a:cs typeface="Times New Roman"/>
              </a:rPr>
              <a:t>Date</a:t>
            </a:r>
            <a:endParaRPr sz="2200">
              <a:latin typeface="Times New Roman"/>
              <a:cs typeface="Times New Roman"/>
            </a:endParaRPr>
          </a:p>
          <a:p>
            <a:pPr lvl="1" marL="980440" indent="-342900">
              <a:lnSpc>
                <a:spcPct val="100000"/>
              </a:lnSpc>
              <a:buFont typeface="Courier New"/>
              <a:buChar char="o"/>
              <a:tabLst>
                <a:tab pos="980440" algn="l"/>
              </a:tabLst>
            </a:pPr>
            <a:r>
              <a:rPr dirty="0" sz="2200" spc="-20"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759" y="1870836"/>
          <a:ext cx="4460240" cy="1674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7325"/>
                <a:gridCol w="1017905"/>
                <a:gridCol w="1896745"/>
              </a:tblGrid>
              <a:tr h="33528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Attribute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Domain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Valid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Values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Integer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18–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60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CGPA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Decimal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0.0–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10.0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Gender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CHAR(1)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M,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Join_Date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DATE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Valid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dates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only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Key</a:t>
            </a:r>
            <a:r>
              <a:rPr dirty="0" spc="-260"/>
              <a:t> </a:t>
            </a:r>
            <a:r>
              <a:rPr dirty="0" spc="-140"/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1572005"/>
            <a:ext cx="6286500" cy="414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5974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key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more attributes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uniquely </a:t>
            </a:r>
            <a:r>
              <a:rPr dirty="0" sz="2400">
                <a:latin typeface="Times New Roman"/>
                <a:cs typeface="Times New Roman"/>
              </a:rPr>
              <a:t>identify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tuple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(row)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key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constraint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ensures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two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tuples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have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same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key</a:t>
            </a:r>
            <a:r>
              <a:rPr dirty="0" sz="2400" spc="-10">
                <a:latin typeface="Times New Roman"/>
                <a:cs typeface="Times New Roman"/>
              </a:rPr>
              <a:t> value.</a:t>
            </a:r>
            <a:endParaRPr sz="2400">
              <a:latin typeface="Times New Roman"/>
              <a:cs typeface="Times New Roman"/>
            </a:endParaRPr>
          </a:p>
          <a:p>
            <a:pPr marL="355600" marR="14604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Every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must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contain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least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one</a:t>
            </a:r>
            <a:r>
              <a:rPr dirty="0" sz="2400" spc="-10">
                <a:latin typeface="Times New Roman"/>
                <a:cs typeface="Times New Roman"/>
              </a:rPr>
              <a:t> attribute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combination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attributes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uniquely </a:t>
            </a:r>
            <a:r>
              <a:rPr dirty="0" sz="2400">
                <a:latin typeface="Times New Roman"/>
                <a:cs typeface="Times New Roman"/>
              </a:rPr>
              <a:t>identifies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tuple.</a:t>
            </a:r>
            <a:endParaRPr sz="2400">
              <a:latin typeface="Times New Roman"/>
              <a:cs typeface="Times New Roman"/>
            </a:endParaRPr>
          </a:p>
          <a:p>
            <a:pPr marL="355600" marR="37465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Key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constraints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introduce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following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types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of </a:t>
            </a:r>
            <a:r>
              <a:rPr dirty="0" sz="2400" spc="-10">
                <a:latin typeface="Times New Roman"/>
                <a:cs typeface="Times New Roman"/>
              </a:rPr>
              <a:t>keys:</a:t>
            </a:r>
            <a:endParaRPr sz="2400">
              <a:latin typeface="Times New Roman"/>
              <a:cs typeface="Times New Roman"/>
            </a:endParaRPr>
          </a:p>
          <a:p>
            <a:pPr lvl="1" marL="636905" indent="-17653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636905" algn="l"/>
              </a:tabLst>
            </a:pPr>
            <a:r>
              <a:rPr dirty="0" sz="1800" b="1">
                <a:latin typeface="Times New Roman"/>
                <a:cs typeface="Times New Roman"/>
              </a:rPr>
              <a:t>Super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Key</a:t>
            </a:r>
            <a:endParaRPr sz="1800">
              <a:latin typeface="Times New Roman"/>
              <a:cs typeface="Times New Roman"/>
            </a:endParaRPr>
          </a:p>
          <a:p>
            <a:pPr lvl="1" marL="636905" indent="-176530">
              <a:lnSpc>
                <a:spcPct val="100000"/>
              </a:lnSpc>
              <a:buFont typeface="Arial"/>
              <a:buChar char="•"/>
              <a:tabLst>
                <a:tab pos="636905" algn="l"/>
              </a:tabLst>
            </a:pPr>
            <a:r>
              <a:rPr dirty="0" sz="1800" b="1">
                <a:latin typeface="Times New Roman"/>
                <a:cs typeface="Times New Roman"/>
              </a:rPr>
              <a:t>Candidate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Key</a:t>
            </a:r>
            <a:endParaRPr sz="1800">
              <a:latin typeface="Times New Roman"/>
              <a:cs typeface="Times New Roman"/>
            </a:endParaRPr>
          </a:p>
          <a:p>
            <a:pPr lvl="1" marL="636905" indent="-17653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636905" algn="l"/>
              </a:tabLst>
            </a:pPr>
            <a:r>
              <a:rPr dirty="0" sz="1800" b="1">
                <a:latin typeface="Times New Roman"/>
                <a:cs typeface="Times New Roman"/>
              </a:rPr>
              <a:t>Primary</a:t>
            </a:r>
            <a:r>
              <a:rPr dirty="0" sz="1800" spc="-70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Key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8278" y="1600707"/>
            <a:ext cx="4159885" cy="4144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19411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Super</a:t>
            </a:r>
            <a:r>
              <a:rPr dirty="0" spc="-254"/>
              <a:t> </a:t>
            </a:r>
            <a:r>
              <a:rPr dirty="0" spc="-80"/>
              <a:t>Key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281" y="1711913"/>
            <a:ext cx="5970270" cy="4416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Super Key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 a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set of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one or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more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attributes </a:t>
            </a:r>
            <a:r>
              <a:rPr dirty="0" sz="2400" b="1">
                <a:latin typeface="Times New Roman"/>
                <a:cs typeface="Times New Roman"/>
              </a:rPr>
              <a:t>that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uniquely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identifies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each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tuple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(row)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50" b="1">
                <a:latin typeface="Times New Roman"/>
                <a:cs typeface="Times New Roman"/>
              </a:rPr>
              <a:t>a </a:t>
            </a:r>
            <a:r>
              <a:rPr dirty="0" sz="2400" spc="-10" b="1"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spc="-10" b="1">
                <a:latin typeface="Times New Roman"/>
                <a:cs typeface="Times New Roman"/>
              </a:rPr>
              <a:t>Characteristics</a:t>
            </a:r>
            <a:endParaRPr sz="2400">
              <a:latin typeface="Times New Roman"/>
              <a:cs typeface="Times New Roman"/>
            </a:endParaRPr>
          </a:p>
          <a:p>
            <a:pPr marL="547370" indent="-266700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547370" algn="l"/>
              </a:tabLst>
            </a:pPr>
            <a:r>
              <a:rPr dirty="0" sz="2400">
                <a:latin typeface="Times New Roman"/>
                <a:cs typeface="Times New Roman"/>
              </a:rPr>
              <a:t>Uniquely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identifies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every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tuple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10"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  <a:p>
            <a:pPr marL="546735" marR="833755" indent="-266700">
              <a:lnSpc>
                <a:spcPts val="4320"/>
              </a:lnSpc>
              <a:spcBef>
                <a:spcPts val="384"/>
              </a:spcBef>
              <a:buFont typeface="Arial"/>
              <a:buChar char="•"/>
              <a:tabLst>
                <a:tab pos="548640" algn="l"/>
              </a:tabLst>
            </a:pPr>
            <a:r>
              <a:rPr dirty="0" sz="2400">
                <a:latin typeface="Times New Roman"/>
                <a:cs typeface="Times New Roman"/>
              </a:rPr>
              <a:t>May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contain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additional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(redundant) 	attributes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547370" indent="-266700">
              <a:lnSpc>
                <a:spcPct val="100000"/>
              </a:lnSpc>
              <a:spcBef>
                <a:spcPts val="1055"/>
              </a:spcBef>
              <a:buFont typeface="Arial"/>
              <a:buChar char="•"/>
              <a:tabLst>
                <a:tab pos="547370" algn="l"/>
              </a:tabLst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have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multiple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super</a:t>
            </a:r>
            <a:r>
              <a:rPr dirty="0" sz="2400" spc="-10" b="1">
                <a:latin typeface="Times New Roman"/>
                <a:cs typeface="Times New Roman"/>
              </a:rPr>
              <a:t> keys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61556" y="1803526"/>
          <a:ext cx="5029200" cy="1004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5075"/>
                <a:gridCol w="1487805"/>
                <a:gridCol w="982344"/>
                <a:gridCol w="1235075"/>
              </a:tblGrid>
              <a:tr h="3346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Student_ID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Email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Programme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u="heavy" sz="16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aditi@bits.edu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Aditi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M.Tech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u="heavy" sz="16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  <a:hlinkClick r:id="rId3"/>
                        </a:rPr>
                        <a:t>rahul@bits.edu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Rahul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M.Tech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1556" y="3161664"/>
            <a:ext cx="3093847" cy="15824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47407" y="3195573"/>
            <a:ext cx="2788285" cy="1488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Some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Possible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Super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Keys:</a:t>
            </a:r>
            <a:endParaRPr sz="1600">
              <a:latin typeface="Times New Roman"/>
              <a:cs typeface="Times New Roman"/>
            </a:endParaRPr>
          </a:p>
          <a:p>
            <a:pPr marL="83820" indent="-79375">
              <a:lnSpc>
                <a:spcPct val="100000"/>
              </a:lnSpc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 spc="-10">
                <a:latin typeface="Times New Roman"/>
                <a:cs typeface="Times New Roman"/>
              </a:rPr>
              <a:t>{Student_ID}</a:t>
            </a:r>
            <a:endParaRPr sz="1600">
              <a:latin typeface="Times New Roman"/>
              <a:cs typeface="Times New Roman"/>
            </a:endParaRPr>
          </a:p>
          <a:p>
            <a:pPr marL="83185" indent="-79375">
              <a:lnSpc>
                <a:spcPct val="100000"/>
              </a:lnSpc>
              <a:buSzPct val="93750"/>
              <a:buFont typeface="Arial"/>
              <a:buChar char="•"/>
              <a:tabLst>
                <a:tab pos="83185" algn="l"/>
              </a:tabLst>
            </a:pPr>
            <a:r>
              <a:rPr dirty="0" sz="1600" spc="-10">
                <a:latin typeface="Times New Roman"/>
                <a:cs typeface="Times New Roman"/>
              </a:rPr>
              <a:t>{Email}</a:t>
            </a:r>
            <a:endParaRPr sz="1600">
              <a:latin typeface="Times New Roman"/>
              <a:cs typeface="Times New Roman"/>
            </a:endParaRPr>
          </a:p>
          <a:p>
            <a:pPr marL="83820" indent="-79375">
              <a:lnSpc>
                <a:spcPct val="100000"/>
              </a:lnSpc>
              <a:spcBef>
                <a:spcPts val="5"/>
              </a:spcBef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>
                <a:latin typeface="Times New Roman"/>
                <a:cs typeface="Times New Roman"/>
              </a:rPr>
              <a:t>{Student_ID,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Name}</a:t>
            </a:r>
            <a:endParaRPr sz="1600">
              <a:latin typeface="Times New Roman"/>
              <a:cs typeface="Times New Roman"/>
            </a:endParaRPr>
          </a:p>
          <a:p>
            <a:pPr marL="83820" indent="-79375">
              <a:lnSpc>
                <a:spcPct val="100000"/>
              </a:lnSpc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>
                <a:latin typeface="Times New Roman"/>
                <a:cs typeface="Times New Roman"/>
              </a:rPr>
              <a:t>{Student_ID,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Programme}</a:t>
            </a:r>
            <a:endParaRPr sz="1600">
              <a:latin typeface="Times New Roman"/>
              <a:cs typeface="Times New Roman"/>
            </a:endParaRPr>
          </a:p>
          <a:p>
            <a:pPr marL="83820" indent="-79375">
              <a:lnSpc>
                <a:spcPct val="100000"/>
              </a:lnSpc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>
                <a:latin typeface="Times New Roman"/>
                <a:cs typeface="Times New Roman"/>
              </a:rPr>
              <a:t>{Email,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Name}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27273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Candidate</a:t>
            </a:r>
            <a:r>
              <a:rPr dirty="0" spc="-215"/>
              <a:t> </a:t>
            </a:r>
            <a:r>
              <a:rPr dirty="0" spc="-65"/>
              <a:t>Key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281" y="1625345"/>
            <a:ext cx="600138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Candidate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Key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minimal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Super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Key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that </a:t>
            </a:r>
            <a:r>
              <a:rPr dirty="0" sz="2400" b="1">
                <a:latin typeface="Times New Roman"/>
                <a:cs typeface="Times New Roman"/>
              </a:rPr>
              <a:t>uniquely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identifies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each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tuple in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spc="-10" b="1">
                <a:latin typeface="Times New Roman"/>
                <a:cs typeface="Times New Roman"/>
              </a:rPr>
              <a:t>Characteristics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61556" y="1803526"/>
          <a:ext cx="5029200" cy="1004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5075"/>
                <a:gridCol w="1487805"/>
                <a:gridCol w="982344"/>
                <a:gridCol w="1235075"/>
              </a:tblGrid>
              <a:tr h="3346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Student_ID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Email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Programme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u="heavy" sz="16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aditi@bits.edu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Aditi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M.Tech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u="heavy" sz="16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  <a:hlinkClick r:id="rId3"/>
                        </a:rPr>
                        <a:t>rahul@bits.edu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Rahul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M.Tech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97281" y="3271519"/>
            <a:ext cx="6226175" cy="276923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Uniquely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identifies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tuple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10"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Contains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redundant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attributes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Every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at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least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one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Candidate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Key</a:t>
            </a:r>
            <a:r>
              <a:rPr dirty="0" sz="2400" spc="-2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One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Candidate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Keys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selected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25">
                <a:latin typeface="Times New Roman"/>
                <a:cs typeface="Times New Roman"/>
              </a:rPr>
              <a:t> the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latin typeface="Times New Roman"/>
                <a:cs typeface="Times New Roman"/>
              </a:rPr>
              <a:t>Primary</a:t>
            </a:r>
            <a:r>
              <a:rPr dirty="0" sz="2400" spc="-20" b="1">
                <a:latin typeface="Times New Roman"/>
                <a:cs typeface="Times New Roman"/>
              </a:rPr>
              <a:t> Key</a:t>
            </a:r>
            <a:r>
              <a:rPr dirty="0" sz="2400" spc="-2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1556" y="3161664"/>
            <a:ext cx="3093847" cy="8437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47407" y="3195573"/>
            <a:ext cx="147574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Candidate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 spc="-20" b="1">
                <a:latin typeface="Times New Roman"/>
                <a:cs typeface="Times New Roman"/>
              </a:rPr>
              <a:t>Keys:</a:t>
            </a:r>
            <a:endParaRPr sz="1600">
              <a:latin typeface="Times New Roman"/>
              <a:cs typeface="Times New Roman"/>
            </a:endParaRPr>
          </a:p>
          <a:p>
            <a:pPr marL="83820" indent="-79375">
              <a:lnSpc>
                <a:spcPct val="100000"/>
              </a:lnSpc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 spc="-10">
                <a:latin typeface="Times New Roman"/>
                <a:cs typeface="Times New Roman"/>
              </a:rPr>
              <a:t>{Student_ID}</a:t>
            </a:r>
            <a:endParaRPr sz="1600">
              <a:latin typeface="Times New Roman"/>
              <a:cs typeface="Times New Roman"/>
            </a:endParaRPr>
          </a:p>
          <a:p>
            <a:pPr marL="83185" indent="-79375">
              <a:lnSpc>
                <a:spcPct val="100000"/>
              </a:lnSpc>
              <a:buSzPct val="93750"/>
              <a:buFont typeface="Arial"/>
              <a:buChar char="•"/>
              <a:tabLst>
                <a:tab pos="83185" algn="l"/>
              </a:tabLst>
            </a:pPr>
            <a:r>
              <a:rPr dirty="0" sz="1600" spc="-10">
                <a:latin typeface="Times New Roman"/>
                <a:cs typeface="Times New Roman"/>
              </a:rPr>
              <a:t>{Email}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23850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Primary</a:t>
            </a:r>
            <a:r>
              <a:rPr dirty="0" spc="-210"/>
              <a:t> </a:t>
            </a:r>
            <a:r>
              <a:rPr dirty="0" spc="-65"/>
              <a:t>Key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995" y="1751202"/>
            <a:ext cx="587565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Primary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Candidate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selected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to </a:t>
            </a:r>
            <a:r>
              <a:rPr dirty="0" sz="2400">
                <a:latin typeface="Times New Roman"/>
                <a:cs typeface="Times New Roman"/>
              </a:rPr>
              <a:t>uniquely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identify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tuple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(row)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relation. </a:t>
            </a:r>
            <a:r>
              <a:rPr dirty="0" sz="2400" spc="-10" b="1">
                <a:latin typeface="Times New Roman"/>
                <a:cs typeface="Times New Roman"/>
              </a:rPr>
              <a:t>Characteristics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61556" y="1803526"/>
          <a:ext cx="5029200" cy="1004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5075"/>
                <a:gridCol w="1487805"/>
                <a:gridCol w="982344"/>
                <a:gridCol w="1235075"/>
              </a:tblGrid>
              <a:tr h="3346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Student_ID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Email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Programme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u="heavy" sz="16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aditi@bits.edu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Aditi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M.Tech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u="heavy" sz="16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  <a:hlinkClick r:id="rId3"/>
                        </a:rPr>
                        <a:t>rahul@bits.edu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Rahul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M.Tech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02995" y="3397376"/>
            <a:ext cx="5781675" cy="276923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Chosen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Candidate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Keys.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Must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contain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unique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values.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Cannot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contain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NULL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values.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Only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one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Primary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Key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defined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 spc="-10"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1556" y="3161664"/>
            <a:ext cx="1994662" cy="18286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47407" y="3195573"/>
            <a:ext cx="147447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Candidate</a:t>
            </a:r>
            <a:r>
              <a:rPr dirty="0" sz="1600" spc="-5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Keys:</a:t>
            </a:r>
            <a:endParaRPr sz="1600">
              <a:latin typeface="Times New Roman"/>
              <a:cs typeface="Times New Roman"/>
            </a:endParaRPr>
          </a:p>
          <a:p>
            <a:pPr marL="83820" indent="-79375">
              <a:lnSpc>
                <a:spcPct val="100000"/>
              </a:lnSpc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 spc="-10">
                <a:latin typeface="Times New Roman"/>
                <a:cs typeface="Times New Roman"/>
              </a:rPr>
              <a:t>{Student_ID}</a:t>
            </a:r>
            <a:endParaRPr sz="1600">
              <a:latin typeface="Times New Roman"/>
              <a:cs typeface="Times New Roman"/>
            </a:endParaRPr>
          </a:p>
          <a:p>
            <a:pPr marL="83185" indent="-79375">
              <a:lnSpc>
                <a:spcPct val="100000"/>
              </a:lnSpc>
              <a:buSzPct val="93750"/>
              <a:buFont typeface="Arial"/>
              <a:buChar char="•"/>
              <a:tabLst>
                <a:tab pos="83185" algn="l"/>
              </a:tabLst>
            </a:pPr>
            <a:r>
              <a:rPr dirty="0" sz="1600" spc="-10">
                <a:latin typeface="Times New Roman"/>
                <a:cs typeface="Times New Roman"/>
              </a:rPr>
              <a:t>{Email}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47407" y="4171314"/>
            <a:ext cx="122936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Primary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 spc="-20" b="1">
                <a:latin typeface="Times New Roman"/>
                <a:cs typeface="Times New Roman"/>
              </a:rPr>
              <a:t>Key:</a:t>
            </a:r>
            <a:endParaRPr sz="1600">
              <a:latin typeface="Times New Roman"/>
              <a:cs typeface="Times New Roman"/>
            </a:endParaRPr>
          </a:p>
          <a:p>
            <a:pPr marL="83820" indent="-79375">
              <a:lnSpc>
                <a:spcPct val="100000"/>
              </a:lnSpc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 spc="-10">
                <a:latin typeface="Times New Roman"/>
                <a:cs typeface="Times New Roman"/>
              </a:rPr>
              <a:t>{Student_ID}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Entity</a:t>
            </a:r>
            <a:r>
              <a:rPr dirty="0" spc="-225"/>
              <a:t> </a:t>
            </a:r>
            <a:r>
              <a:rPr dirty="0" spc="-155"/>
              <a:t>Integrity</a:t>
            </a:r>
            <a:r>
              <a:rPr dirty="0" spc="-175"/>
              <a:t> </a:t>
            </a:r>
            <a:r>
              <a:rPr dirty="0" spc="-130"/>
              <a:t>Constraint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266" y="1564893"/>
            <a:ext cx="6198235" cy="496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Entity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Integrity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Constraint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states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that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Primary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Key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relation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cannot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contain </a:t>
            </a:r>
            <a:r>
              <a:rPr dirty="0" sz="2400" b="1">
                <a:latin typeface="Times New Roman"/>
                <a:cs typeface="Times New Roman"/>
              </a:rPr>
              <a:t>NULL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values.</a:t>
            </a:r>
            <a:endParaRPr sz="2400">
              <a:latin typeface="Times New Roman"/>
              <a:cs typeface="Times New Roman"/>
            </a:endParaRPr>
          </a:p>
          <a:p>
            <a:pPr algn="just" marL="353060" marR="461009" indent="-34036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Since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Primary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Key uniquely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identifies </a:t>
            </a:r>
            <a:r>
              <a:rPr dirty="0" sz="2400" spc="-10" b="1">
                <a:latin typeface="Times New Roman"/>
                <a:cs typeface="Times New Roman"/>
              </a:rPr>
              <a:t>	</a:t>
            </a:r>
            <a:r>
              <a:rPr dirty="0" sz="2400" b="1">
                <a:latin typeface="Times New Roman"/>
                <a:cs typeface="Times New Roman"/>
              </a:rPr>
              <a:t>each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tuple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(row)</a:t>
            </a:r>
            <a:r>
              <a:rPr dirty="0" sz="2400" spc="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relation,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every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record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must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have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valid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Primary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value.</a:t>
            </a:r>
            <a:endParaRPr sz="2400">
              <a:latin typeface="Times New Roman"/>
              <a:cs typeface="Times New Roman"/>
            </a:endParaRPr>
          </a:p>
          <a:p>
            <a:pPr marL="355600" marR="10795" indent="-342900">
              <a:lnSpc>
                <a:spcPct val="15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Allowing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NULL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Primary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Key </a:t>
            </a:r>
            <a:r>
              <a:rPr dirty="0" sz="2400">
                <a:latin typeface="Times New Roman"/>
                <a:cs typeface="Times New Roman"/>
              </a:rPr>
              <a:t>would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make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impossible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uniquely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identify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 spc="-10">
                <a:latin typeface="Times New Roman"/>
                <a:cs typeface="Times New Roman"/>
              </a:rPr>
              <a:t>tuple.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4048" y="1755406"/>
            <a:ext cx="3975608" cy="40391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Referential</a:t>
            </a:r>
            <a:r>
              <a:rPr dirty="0" spc="-185"/>
              <a:t> </a:t>
            </a:r>
            <a:r>
              <a:rPr dirty="0" spc="-155"/>
              <a:t>Integrity</a:t>
            </a:r>
            <a:r>
              <a:rPr dirty="0" spc="-160"/>
              <a:t> </a:t>
            </a:r>
            <a:r>
              <a:rPr dirty="0" spc="-120"/>
              <a:t>Constraint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4078" y="1545717"/>
            <a:ext cx="5901690" cy="496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9905" indent="-285115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Ensures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every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foreign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key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value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 spc="-5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either:</a:t>
            </a:r>
            <a:endParaRPr sz="2400">
              <a:latin typeface="Times New Roman"/>
              <a:cs typeface="Times New Roman"/>
            </a:endParaRPr>
          </a:p>
          <a:p>
            <a:pPr marL="297180" marR="5080" indent="-285115">
              <a:lnSpc>
                <a:spcPts val="4320"/>
              </a:lnSpc>
              <a:spcBef>
                <a:spcPts val="38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matches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 existing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primary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key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the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referenced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NULL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(if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permitted).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2400">
                <a:latin typeface="Times New Roman"/>
                <a:cs typeface="Times New Roman"/>
              </a:rPr>
              <a:t>Prevents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creation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orphan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records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445"/>
              </a:spcBef>
            </a:pPr>
            <a:r>
              <a:rPr dirty="0" sz="2400">
                <a:latin typeface="Times New Roman"/>
                <a:cs typeface="Times New Roman"/>
              </a:rPr>
              <a:t>maintains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consistency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between related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tables.</a:t>
            </a:r>
            <a:endParaRPr sz="2400">
              <a:latin typeface="Times New Roman"/>
              <a:cs typeface="Times New Roman"/>
            </a:endParaRPr>
          </a:p>
          <a:p>
            <a:pPr marL="297180" marR="586740" indent="-285115">
              <a:lnSpc>
                <a:spcPct val="15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Ensures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relationships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between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tables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remain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valid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consistent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2094" y="1721383"/>
            <a:ext cx="5374639" cy="44209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Other</a:t>
            </a:r>
            <a:r>
              <a:rPr dirty="0" spc="-240"/>
              <a:t> </a:t>
            </a:r>
            <a:r>
              <a:rPr dirty="0" spc="-140"/>
              <a:t>Types</a:t>
            </a:r>
            <a:r>
              <a:rPr dirty="0" spc="-250"/>
              <a:t> </a:t>
            </a:r>
            <a:r>
              <a:rPr dirty="0" spc="-90"/>
              <a:t>of</a:t>
            </a:r>
            <a:r>
              <a:rPr dirty="0" spc="-250"/>
              <a:t> </a:t>
            </a:r>
            <a:r>
              <a:rPr dirty="0" spc="-135"/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5622" y="1533143"/>
            <a:ext cx="10647680" cy="276987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Salary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should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exceed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salary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Employees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supervisor.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5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Maximum</a:t>
            </a:r>
            <a:r>
              <a:rPr dirty="0" sz="2400" spc="3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number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3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hours</a:t>
            </a:r>
            <a:r>
              <a:rPr dirty="0" sz="2400" spc="3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3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3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3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work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4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project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</a:t>
            </a:r>
            <a:r>
              <a:rPr dirty="0" sz="2400" spc="3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week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40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56 </a:t>
            </a:r>
            <a:r>
              <a:rPr dirty="0" sz="2400" spc="-10">
                <a:latin typeface="Times New Roman"/>
                <a:cs typeface="Times New Roman"/>
              </a:rPr>
              <a:t>hours.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Salary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should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increase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only.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These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constraints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enforced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through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application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programs.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Data</a:t>
            </a:r>
            <a:r>
              <a:rPr dirty="0" spc="-254"/>
              <a:t> </a:t>
            </a:r>
            <a:r>
              <a:rPr dirty="0" spc="-135"/>
              <a:t>Modelling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4959" y="1264411"/>
            <a:ext cx="10803890" cy="496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Before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creating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database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tables,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we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first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need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to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understand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real-world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objects, </a:t>
            </a:r>
            <a:r>
              <a:rPr dirty="0" sz="2400" b="1">
                <a:latin typeface="Times New Roman"/>
                <a:cs typeface="Times New Roman"/>
              </a:rPr>
              <a:t>their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properties,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relationships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among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them.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This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process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called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Data </a:t>
            </a:r>
            <a:r>
              <a:rPr dirty="0" sz="2400" spc="-10" b="1">
                <a:latin typeface="Times New Roman"/>
                <a:cs typeface="Times New Roman"/>
              </a:rPr>
              <a:t>Modelling.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Why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Modelling?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Represents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real-world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requirements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structured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manner.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Simplifies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design.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Reduces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redundancy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improves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consistency.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5"/>
              </a:spcBef>
              <a:buSzPct val="95833"/>
              <a:buFont typeface="Arial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Serves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foundation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implementation.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Entity-</a:t>
            </a:r>
            <a:r>
              <a:rPr dirty="0" spc="-155"/>
              <a:t>Relationship</a:t>
            </a:r>
            <a:r>
              <a:rPr dirty="0" spc="-160"/>
              <a:t> </a:t>
            </a:r>
            <a:r>
              <a:rPr dirty="0" spc="-130"/>
              <a:t>(ER)</a:t>
            </a:r>
            <a:r>
              <a:rPr dirty="0" spc="-210"/>
              <a:t> </a:t>
            </a:r>
            <a:r>
              <a:rPr dirty="0" spc="-120"/>
              <a:t>Modelling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281" y="1475358"/>
            <a:ext cx="11029950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Times New Roman"/>
                <a:cs typeface="Times New Roman"/>
              </a:rPr>
              <a:t>Entity-</a:t>
            </a:r>
            <a:r>
              <a:rPr dirty="0" sz="2400" b="1">
                <a:latin typeface="Times New Roman"/>
                <a:cs typeface="Times New Roman"/>
              </a:rPr>
              <a:t>Relationship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(ER)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Modelling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conceptual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modelling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technique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used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to </a:t>
            </a:r>
            <a:r>
              <a:rPr dirty="0" sz="2400" b="1">
                <a:latin typeface="Times New Roman"/>
                <a:cs typeface="Times New Roman"/>
              </a:rPr>
              <a:t>represent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structure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database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before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implementation.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ER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Model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Represents</a:t>
            </a:r>
            <a:endParaRPr sz="2400">
              <a:latin typeface="Times New Roman"/>
              <a:cs typeface="Times New Roman"/>
            </a:endParaRPr>
          </a:p>
          <a:p>
            <a:pPr marL="728345" indent="-447675">
              <a:lnSpc>
                <a:spcPct val="100000"/>
              </a:lnSpc>
              <a:buFont typeface="Arial"/>
              <a:buChar char="•"/>
              <a:tabLst>
                <a:tab pos="728345" algn="l"/>
              </a:tabLst>
            </a:pPr>
            <a:r>
              <a:rPr dirty="0" sz="2400" b="1">
                <a:latin typeface="Times New Roman"/>
                <a:cs typeface="Times New Roman"/>
              </a:rPr>
              <a:t>Entities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Real-</a:t>
            </a:r>
            <a:r>
              <a:rPr dirty="0" sz="2400">
                <a:latin typeface="Times New Roman"/>
                <a:cs typeface="Times New Roman"/>
              </a:rPr>
              <a:t>world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objects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about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which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stored.</a:t>
            </a:r>
            <a:endParaRPr sz="2400">
              <a:latin typeface="Times New Roman"/>
              <a:cs typeface="Times New Roman"/>
            </a:endParaRPr>
          </a:p>
          <a:p>
            <a:pPr marL="728345" indent="-447675">
              <a:lnSpc>
                <a:spcPct val="100000"/>
              </a:lnSpc>
              <a:buFont typeface="Arial"/>
              <a:buChar char="•"/>
              <a:tabLst>
                <a:tab pos="728345" algn="l"/>
              </a:tabLst>
            </a:pPr>
            <a:r>
              <a:rPr dirty="0" sz="2400" b="1">
                <a:latin typeface="Times New Roman"/>
                <a:cs typeface="Times New Roman"/>
              </a:rPr>
              <a:t>Attributes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Properties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describe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entity.</a:t>
            </a:r>
            <a:endParaRPr sz="2400">
              <a:latin typeface="Times New Roman"/>
              <a:cs typeface="Times New Roman"/>
            </a:endParaRPr>
          </a:p>
          <a:p>
            <a:pPr marL="728345" indent="-447675">
              <a:lnSpc>
                <a:spcPct val="100000"/>
              </a:lnSpc>
              <a:buFont typeface="Arial"/>
              <a:buChar char="•"/>
              <a:tabLst>
                <a:tab pos="728345" algn="l"/>
              </a:tabLst>
            </a:pPr>
            <a:r>
              <a:rPr dirty="0" sz="2400" b="1">
                <a:latin typeface="Times New Roman"/>
                <a:cs typeface="Times New Roman"/>
              </a:rPr>
              <a:t>Relationships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Associations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between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entities.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Why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ER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Modelling?</a:t>
            </a:r>
            <a:endParaRPr sz="2400">
              <a:latin typeface="Times New Roman"/>
              <a:cs typeface="Times New Roman"/>
            </a:endParaRPr>
          </a:p>
          <a:p>
            <a:pPr marL="728345" indent="-44767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visual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representation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database.</a:t>
            </a:r>
            <a:endParaRPr sz="2400">
              <a:latin typeface="Times New Roman"/>
              <a:cs typeface="Times New Roman"/>
            </a:endParaRPr>
          </a:p>
          <a:p>
            <a:pPr marL="728345" indent="-447675">
              <a:lnSpc>
                <a:spcPct val="100000"/>
              </a:lnSpc>
              <a:buFont typeface="Arial"/>
              <a:buChar char="•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Simplifies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design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communication.</a:t>
            </a:r>
            <a:endParaRPr sz="2400">
              <a:latin typeface="Times New Roman"/>
              <a:cs typeface="Times New Roman"/>
            </a:endParaRPr>
          </a:p>
          <a:p>
            <a:pPr marL="728345" indent="-447675">
              <a:lnSpc>
                <a:spcPct val="100000"/>
              </a:lnSpc>
              <a:buFont typeface="Arial"/>
              <a:buChar char="•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Helps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identify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entities,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attributes,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relationships.</a:t>
            </a:r>
            <a:endParaRPr sz="2400">
              <a:latin typeface="Times New Roman"/>
              <a:cs typeface="Times New Roman"/>
            </a:endParaRPr>
          </a:p>
          <a:p>
            <a:pPr marL="728345" indent="-447675">
              <a:lnSpc>
                <a:spcPct val="100000"/>
              </a:lnSpc>
              <a:buFont typeface="Arial"/>
              <a:buChar char="•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Serves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blueprint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designing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Entity-</a:t>
            </a:r>
            <a:r>
              <a:rPr dirty="0" spc="-155"/>
              <a:t>Relationship</a:t>
            </a:r>
            <a:r>
              <a:rPr dirty="0" spc="-170"/>
              <a:t> </a:t>
            </a:r>
            <a:r>
              <a:rPr dirty="0" spc="-130"/>
              <a:t>(ER)</a:t>
            </a:r>
            <a:r>
              <a:rPr dirty="0" spc="-210"/>
              <a:t> </a:t>
            </a:r>
            <a:r>
              <a:rPr dirty="0" spc="-85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834" y="1625854"/>
            <a:ext cx="11184890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484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Entity-</a:t>
            </a:r>
            <a:r>
              <a:rPr dirty="0" sz="2400">
                <a:latin typeface="Times New Roman"/>
                <a:cs typeface="Times New Roman"/>
              </a:rPr>
              <a:t>Relationship</a:t>
            </a:r>
            <a:r>
              <a:rPr dirty="0" sz="2400" spc="4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(ER)</a:t>
            </a:r>
            <a:r>
              <a:rPr dirty="0" sz="2400" spc="4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</a:t>
            </a:r>
            <a:r>
              <a:rPr dirty="0" sz="2400" spc="4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4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4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conceptual</a:t>
            </a:r>
            <a:r>
              <a:rPr dirty="0" sz="2400" spc="4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4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modelling</a:t>
            </a:r>
            <a:r>
              <a:rPr dirty="0" sz="2400" spc="48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technique</a:t>
            </a:r>
            <a:r>
              <a:rPr dirty="0" sz="2400" spc="4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used</a:t>
            </a:r>
            <a:r>
              <a:rPr dirty="0" sz="2400" spc="49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to </a:t>
            </a:r>
            <a:r>
              <a:rPr dirty="0" sz="2400">
                <a:latin typeface="Times New Roman"/>
                <a:cs typeface="Times New Roman"/>
              </a:rPr>
              <a:t>represent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requirements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organization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before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implementation.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715">
              <a:lnSpc>
                <a:spcPct val="150000"/>
              </a:lnSpc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ER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represented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Entity-</a:t>
            </a:r>
            <a:r>
              <a:rPr dirty="0" sz="2400">
                <a:latin typeface="Times New Roman"/>
                <a:cs typeface="Times New Roman"/>
              </a:rPr>
              <a:t>Relationship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Diagram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(ER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Diagram),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which </a:t>
            </a:r>
            <a:r>
              <a:rPr dirty="0" sz="2400">
                <a:latin typeface="Times New Roman"/>
                <a:cs typeface="Times New Roman"/>
              </a:rPr>
              <a:t>graphically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depicts:</a:t>
            </a:r>
            <a:endParaRPr sz="2400">
              <a:latin typeface="Times New Roman"/>
              <a:cs typeface="Times New Roman"/>
            </a:endParaRPr>
          </a:p>
          <a:p>
            <a:pPr marL="636270" indent="-26670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636270" algn="l"/>
              </a:tabLst>
            </a:pPr>
            <a:r>
              <a:rPr dirty="0" sz="2400" b="1">
                <a:latin typeface="Times New Roman"/>
                <a:cs typeface="Times New Roman"/>
              </a:rPr>
              <a:t>Entities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Real-world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objects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about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which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0">
                <a:latin typeface="Times New Roman"/>
                <a:cs typeface="Times New Roman"/>
              </a:rPr>
              <a:t> stored.</a:t>
            </a:r>
            <a:endParaRPr sz="2400">
              <a:latin typeface="Times New Roman"/>
              <a:cs typeface="Times New Roman"/>
            </a:endParaRPr>
          </a:p>
          <a:p>
            <a:pPr marL="636270" indent="-266700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636270" algn="l"/>
              </a:tabLst>
            </a:pPr>
            <a:r>
              <a:rPr dirty="0" sz="2400" b="1">
                <a:latin typeface="Times New Roman"/>
                <a:cs typeface="Times New Roman"/>
              </a:rPr>
              <a:t>Attributes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Properties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describe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entity.</a:t>
            </a:r>
            <a:endParaRPr sz="2400">
              <a:latin typeface="Times New Roman"/>
              <a:cs typeface="Times New Roman"/>
            </a:endParaRPr>
          </a:p>
          <a:p>
            <a:pPr marL="636270" indent="-26670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636270" algn="l"/>
              </a:tabLst>
            </a:pPr>
            <a:r>
              <a:rPr dirty="0" sz="2400" b="1">
                <a:latin typeface="Times New Roman"/>
                <a:cs typeface="Times New Roman"/>
              </a:rPr>
              <a:t>Relationships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Associations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among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entities.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Entity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951" y="1661540"/>
            <a:ext cx="6572884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3060" marR="5080" indent="-3403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An</a:t>
            </a:r>
            <a:r>
              <a:rPr dirty="0" sz="2400" spc="2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entity</a:t>
            </a:r>
            <a:r>
              <a:rPr dirty="0" sz="2400" spc="2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229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229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real-</a:t>
            </a:r>
            <a:r>
              <a:rPr dirty="0" sz="2400" b="1">
                <a:latin typeface="Times New Roman"/>
                <a:cs typeface="Times New Roman"/>
              </a:rPr>
              <a:t>world</a:t>
            </a:r>
            <a:r>
              <a:rPr dirty="0" sz="2400" spc="2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object,</a:t>
            </a:r>
            <a:r>
              <a:rPr dirty="0" sz="2400" spc="2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person,</a:t>
            </a:r>
            <a:r>
              <a:rPr dirty="0" sz="2400" spc="229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place, </a:t>
            </a:r>
            <a:r>
              <a:rPr dirty="0" sz="2400" spc="-10" b="1">
                <a:latin typeface="Times New Roman"/>
                <a:cs typeface="Times New Roman"/>
              </a:rPr>
              <a:t>	</a:t>
            </a:r>
            <a:r>
              <a:rPr dirty="0" sz="2400" b="1">
                <a:latin typeface="Times New Roman"/>
                <a:cs typeface="Times New Roman"/>
              </a:rPr>
              <a:t>event,</a:t>
            </a:r>
            <a:r>
              <a:rPr dirty="0" sz="2400" spc="525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525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concept</a:t>
            </a:r>
            <a:r>
              <a:rPr dirty="0" sz="2400" spc="525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that</a:t>
            </a:r>
            <a:r>
              <a:rPr dirty="0" sz="2400" spc="525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can</a:t>
            </a:r>
            <a:r>
              <a:rPr dirty="0" sz="2400" spc="525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be</a:t>
            </a:r>
            <a:r>
              <a:rPr dirty="0" sz="2400" spc="530" b="1">
                <a:latin typeface="Times New Roman"/>
                <a:cs typeface="Times New Roman"/>
              </a:rPr>
              <a:t>  </a:t>
            </a:r>
            <a:r>
              <a:rPr dirty="0" sz="2400" spc="-10" b="1">
                <a:latin typeface="Times New Roman"/>
                <a:cs typeface="Times New Roman"/>
              </a:rPr>
              <a:t>uniquely </a:t>
            </a:r>
            <a:r>
              <a:rPr dirty="0" sz="2400" spc="-10" b="1">
                <a:latin typeface="Times New Roman"/>
                <a:cs typeface="Times New Roman"/>
              </a:rPr>
              <a:t>	</a:t>
            </a:r>
            <a:r>
              <a:rPr dirty="0" sz="2400" b="1">
                <a:latin typeface="Times New Roman"/>
                <a:cs typeface="Times New Roman"/>
              </a:rPr>
              <a:t>identified</a:t>
            </a:r>
            <a:r>
              <a:rPr dirty="0" sz="2400" spc="1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11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about</a:t>
            </a:r>
            <a:r>
              <a:rPr dirty="0" sz="2400" spc="1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which</a:t>
            </a:r>
            <a:r>
              <a:rPr dirty="0" sz="2400" spc="1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1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1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stored.</a:t>
            </a:r>
            <a:r>
              <a:rPr dirty="0" sz="2400" spc="120" b="1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Each </a:t>
            </a:r>
            <a:r>
              <a:rPr dirty="0" sz="2400" spc="-2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entity</a:t>
            </a:r>
            <a:r>
              <a:rPr dirty="0" sz="2400" spc="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represents</a:t>
            </a:r>
            <a:r>
              <a:rPr dirty="0" sz="2400" spc="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distinguishable</a:t>
            </a:r>
            <a:r>
              <a:rPr dirty="0" sz="2400" spc="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object</a:t>
            </a:r>
            <a:r>
              <a:rPr dirty="0" sz="2400" spc="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in  </a:t>
            </a:r>
            <a:r>
              <a:rPr dirty="0" sz="2400" spc="-25">
                <a:latin typeface="Times New Roman"/>
                <a:cs typeface="Times New Roman"/>
              </a:rPr>
              <a:t>the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real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world.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Examples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entities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include:</a:t>
            </a:r>
            <a:endParaRPr sz="2400">
              <a:latin typeface="Times New Roman"/>
              <a:cs typeface="Times New Roman"/>
            </a:endParaRPr>
          </a:p>
          <a:p>
            <a:pPr lvl="1" marL="711200" indent="-342265">
              <a:lnSpc>
                <a:spcPct val="100000"/>
              </a:lnSpc>
              <a:buFont typeface="Wingdings"/>
              <a:buChar char=""/>
              <a:tabLst>
                <a:tab pos="711200" algn="l"/>
              </a:tabLst>
            </a:pPr>
            <a:r>
              <a:rPr dirty="0" sz="2400" spc="-10">
                <a:latin typeface="Times New Roman"/>
                <a:cs typeface="Times New Roman"/>
              </a:rPr>
              <a:t>Student</a:t>
            </a:r>
            <a:endParaRPr sz="2400">
              <a:latin typeface="Times New Roman"/>
              <a:cs typeface="Times New Roman"/>
            </a:endParaRPr>
          </a:p>
          <a:p>
            <a:pPr lvl="1" marL="711200" indent="-34226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711200" algn="l"/>
              </a:tabLst>
            </a:pPr>
            <a:r>
              <a:rPr dirty="0" sz="2400" spc="-10">
                <a:latin typeface="Times New Roman"/>
                <a:cs typeface="Times New Roman"/>
              </a:rPr>
              <a:t>Course</a:t>
            </a:r>
            <a:endParaRPr sz="2400">
              <a:latin typeface="Times New Roman"/>
              <a:cs typeface="Times New Roman"/>
            </a:endParaRPr>
          </a:p>
          <a:p>
            <a:pPr lvl="1" marL="711200" indent="-342265">
              <a:lnSpc>
                <a:spcPct val="100000"/>
              </a:lnSpc>
              <a:buFont typeface="Wingdings"/>
              <a:buChar char=""/>
              <a:tabLst>
                <a:tab pos="711200" algn="l"/>
              </a:tabLst>
            </a:pPr>
            <a:r>
              <a:rPr dirty="0" sz="2400" spc="-10">
                <a:latin typeface="Times New Roman"/>
                <a:cs typeface="Times New Roman"/>
              </a:rPr>
              <a:t>Faculty</a:t>
            </a:r>
            <a:endParaRPr sz="2400">
              <a:latin typeface="Times New Roman"/>
              <a:cs typeface="Times New Roman"/>
            </a:endParaRPr>
          </a:p>
          <a:p>
            <a:pPr lvl="1" marL="711200" indent="-342265">
              <a:lnSpc>
                <a:spcPct val="100000"/>
              </a:lnSpc>
              <a:buFont typeface="Wingdings"/>
              <a:buChar char=""/>
              <a:tabLst>
                <a:tab pos="711200" algn="l"/>
              </a:tabLst>
            </a:pPr>
            <a:r>
              <a:rPr dirty="0" sz="2400" spc="-10">
                <a:latin typeface="Times New Roman"/>
                <a:cs typeface="Times New Roman"/>
              </a:rPr>
              <a:t>Department</a:t>
            </a:r>
            <a:endParaRPr sz="2400">
              <a:latin typeface="Times New Roman"/>
              <a:cs typeface="Times New Roman"/>
            </a:endParaRPr>
          </a:p>
          <a:p>
            <a:pPr lvl="1" marL="711200" indent="-342265">
              <a:lnSpc>
                <a:spcPct val="100000"/>
              </a:lnSpc>
              <a:buFont typeface="Wingdings"/>
              <a:buChar char=""/>
              <a:tabLst>
                <a:tab pos="711200" algn="l"/>
              </a:tabLst>
            </a:pPr>
            <a:r>
              <a:rPr dirty="0" sz="2400" spc="-10">
                <a:latin typeface="Times New Roman"/>
                <a:cs typeface="Times New Roman"/>
              </a:rPr>
              <a:t>Employee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2648" y="1517179"/>
            <a:ext cx="4005453" cy="45243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951" y="1706117"/>
            <a:ext cx="6480175" cy="4691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200" b="1">
                <a:latin typeface="Times New Roman"/>
                <a:cs typeface="Times New Roman"/>
              </a:rPr>
              <a:t>Attributes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are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properties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or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characteristics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that </a:t>
            </a:r>
            <a:r>
              <a:rPr dirty="0" sz="2200" b="1">
                <a:latin typeface="Times New Roman"/>
                <a:cs typeface="Times New Roman"/>
              </a:rPr>
              <a:t>describe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entity.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entity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described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by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more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attributes.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Every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entity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instance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has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value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its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 spc="-10">
                <a:latin typeface="Times New Roman"/>
                <a:cs typeface="Times New Roman"/>
              </a:rPr>
              <a:t>attributes.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Example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Entity: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Student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spc="-10" b="1">
                <a:latin typeface="Times New Roman"/>
                <a:cs typeface="Times New Roman"/>
              </a:rPr>
              <a:t>Attributes: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800" spc="-10">
                <a:latin typeface="Times New Roman"/>
                <a:cs typeface="Times New Roman"/>
              </a:rPr>
              <a:t>Student_ID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z="1800" spc="-20">
                <a:latin typeface="Times New Roman"/>
                <a:cs typeface="Times New Roman"/>
              </a:rPr>
              <a:t>Name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z="1800" spc="-10">
                <a:latin typeface="Times New Roman"/>
                <a:cs typeface="Times New Roman"/>
              </a:rPr>
              <a:t>Programme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z="1800" spc="-10">
                <a:latin typeface="Times New Roman"/>
                <a:cs typeface="Times New Roman"/>
              </a:rPr>
              <a:t>Semester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z="1800" spc="-20">
                <a:latin typeface="Times New Roman"/>
                <a:cs typeface="Times New Roman"/>
              </a:rPr>
              <a:t>CGPA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800" spc="-10">
                <a:latin typeface="Times New Roman"/>
                <a:cs typeface="Times New Roman"/>
              </a:rPr>
              <a:t>Email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4890" y="1681708"/>
            <a:ext cx="4323461" cy="433146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28670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Attribute</a:t>
            </a:r>
            <a:r>
              <a:rPr dirty="0" spc="-180"/>
              <a:t> </a:t>
            </a:r>
            <a:r>
              <a:rPr dirty="0" spc="-10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281" y="1616201"/>
            <a:ext cx="10635615" cy="3867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Based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on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their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characteristics,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attributes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ER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model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can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be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classified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into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the </a:t>
            </a:r>
            <a:r>
              <a:rPr dirty="0" sz="2400" b="1">
                <a:latin typeface="Times New Roman"/>
                <a:cs typeface="Times New Roman"/>
              </a:rPr>
              <a:t>following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types: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Simple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Attribute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Cannot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divided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smaller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components.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Composite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Attribute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divided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into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smaller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meaningful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components.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Single-</a:t>
            </a:r>
            <a:r>
              <a:rPr dirty="0" sz="2400" b="1">
                <a:latin typeface="Times New Roman"/>
                <a:cs typeface="Times New Roman"/>
              </a:rPr>
              <a:t>Valued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Attribute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Holds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only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entity.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Multi-Valued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Attribute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hold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multiple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entity.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Derived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Attribute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computed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other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attributes.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23069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Weak</a:t>
            </a:r>
            <a:r>
              <a:rPr dirty="0" spc="-260"/>
              <a:t> </a:t>
            </a:r>
            <a:r>
              <a:rPr dirty="0" spc="-125"/>
              <a:t>Entity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4713" y="1305813"/>
            <a:ext cx="7393305" cy="527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88645" indent="-34290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Weak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Entity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entity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cannot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uniquely </a:t>
            </a:r>
            <a:r>
              <a:rPr dirty="0" sz="2400" b="1">
                <a:latin typeface="Times New Roman"/>
                <a:cs typeface="Times New Roman"/>
              </a:rPr>
              <a:t>identified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by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its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own</a:t>
            </a:r>
            <a:r>
              <a:rPr dirty="0" sz="2400" spc="-10" b="1">
                <a:latin typeface="Times New Roman"/>
                <a:cs typeface="Times New Roman"/>
              </a:rPr>
              <a:t> attributes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4320"/>
              </a:lnSpc>
              <a:spcBef>
                <a:spcPts val="38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Its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existence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depends on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another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entity,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called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Owner </a:t>
            </a:r>
            <a:r>
              <a:rPr dirty="0" sz="2400" b="1">
                <a:latin typeface="Times New Roman"/>
                <a:cs typeface="Times New Roman"/>
              </a:rPr>
              <a:t>(or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Identifying)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Entity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A Weak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Entity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identified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using:</a:t>
            </a:r>
            <a:endParaRPr sz="2400">
              <a:latin typeface="Times New Roman"/>
              <a:cs typeface="Times New Roman"/>
            </a:endParaRPr>
          </a:p>
          <a:p>
            <a:pPr lvl="1" marL="996950" indent="-267970">
              <a:lnSpc>
                <a:spcPct val="100000"/>
              </a:lnSpc>
              <a:spcBef>
                <a:spcPts val="535"/>
              </a:spcBef>
              <a:buFont typeface="Courier New"/>
              <a:buChar char="o"/>
              <a:tabLst>
                <a:tab pos="99695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Primary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Key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Owner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Entity,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lvl="1" marL="996950" indent="-267970">
              <a:lnSpc>
                <a:spcPct val="100000"/>
              </a:lnSpc>
              <a:buFont typeface="Courier New"/>
              <a:buChar char="o"/>
              <a:tabLst>
                <a:tab pos="996950" algn="l"/>
              </a:tabLst>
            </a:pP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own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Partial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Key</a:t>
            </a:r>
            <a:r>
              <a:rPr dirty="0" sz="2000" spc="-2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65"/>
              </a:spcBef>
              <a:buFont typeface="Courier New"/>
              <a:buChar char="o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Example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Employee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→ </a:t>
            </a:r>
            <a:r>
              <a:rPr dirty="0" sz="2400" spc="-10" b="1">
                <a:latin typeface="Times New Roman"/>
                <a:cs typeface="Times New Roman"/>
              </a:rPr>
              <a:t>Dependent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exist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independently.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dependent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cannot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exist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without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employee.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1558" y="1559038"/>
            <a:ext cx="4134739" cy="47622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Relationship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995" y="1585721"/>
            <a:ext cx="6530340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1033144" indent="-285115">
              <a:lnSpc>
                <a:spcPct val="1501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relationship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represents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association </a:t>
            </a:r>
            <a:r>
              <a:rPr dirty="0" sz="2400" spc="-10" b="1">
                <a:latin typeface="Times New Roman"/>
                <a:cs typeface="Times New Roman"/>
              </a:rPr>
              <a:t>	</a:t>
            </a:r>
            <a:r>
              <a:rPr dirty="0" sz="2400" b="1">
                <a:latin typeface="Times New Roman"/>
                <a:cs typeface="Times New Roman"/>
              </a:rPr>
              <a:t>between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two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more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entities.</a:t>
            </a:r>
            <a:endParaRPr sz="2400">
              <a:latin typeface="Times New Roman"/>
              <a:cs typeface="Times New Roman"/>
            </a:endParaRPr>
          </a:p>
          <a:p>
            <a:pPr marL="297180" marR="5080" indent="-285115">
              <a:lnSpc>
                <a:spcPct val="15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describes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how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entities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connected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interact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other.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spc="-10" b="1">
                <a:latin typeface="Times New Roman"/>
                <a:cs typeface="Times New Roman"/>
              </a:rPr>
              <a:t>Examples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Student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enrolls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Course.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Faculty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teaches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Course.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Department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offers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Programme.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5260" y="1729993"/>
            <a:ext cx="5049139" cy="359740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>
                <a:solidFill>
                  <a:srgbClr val="C00000"/>
                </a:solidFill>
              </a:rPr>
              <a:t>Notations</a:t>
            </a:r>
            <a:r>
              <a:rPr dirty="0" spc="-225">
                <a:solidFill>
                  <a:srgbClr val="C00000"/>
                </a:solidFill>
              </a:rPr>
              <a:t> </a:t>
            </a:r>
            <a:r>
              <a:rPr dirty="0" spc="-130">
                <a:solidFill>
                  <a:srgbClr val="C00000"/>
                </a:solidFill>
              </a:rPr>
              <a:t>Used</a:t>
            </a:r>
            <a:r>
              <a:rPr dirty="0" spc="-260">
                <a:solidFill>
                  <a:srgbClr val="C00000"/>
                </a:solidFill>
              </a:rPr>
              <a:t> </a:t>
            </a:r>
            <a:r>
              <a:rPr dirty="0" spc="-90">
                <a:solidFill>
                  <a:srgbClr val="C00000"/>
                </a:solidFill>
              </a:rPr>
              <a:t>in</a:t>
            </a:r>
            <a:r>
              <a:rPr dirty="0" spc="-254">
                <a:solidFill>
                  <a:srgbClr val="C00000"/>
                </a:solidFill>
              </a:rPr>
              <a:t> </a:t>
            </a:r>
            <a:r>
              <a:rPr dirty="0" spc="-100">
                <a:solidFill>
                  <a:srgbClr val="C00000"/>
                </a:solidFill>
              </a:rPr>
              <a:t>ER</a:t>
            </a:r>
            <a:r>
              <a:rPr dirty="0" spc="-265">
                <a:solidFill>
                  <a:srgbClr val="C00000"/>
                </a:solidFill>
              </a:rPr>
              <a:t> </a:t>
            </a:r>
            <a:r>
              <a:rPr dirty="0" spc="-120">
                <a:solidFill>
                  <a:srgbClr val="C00000"/>
                </a:solidFill>
              </a:rPr>
              <a:t>diagrams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389" y="1540573"/>
            <a:ext cx="11539601" cy="48403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Relationship</a:t>
            </a:r>
            <a:r>
              <a:rPr dirty="0" spc="-185"/>
              <a:t> </a:t>
            </a:r>
            <a:r>
              <a:rPr dirty="0" spc="-135"/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016" y="1550288"/>
            <a:ext cx="146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819" y="1550288"/>
            <a:ext cx="221996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1951355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Relationship 	participate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25" b="1"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2703" y="1550288"/>
            <a:ext cx="29044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64590" algn="l"/>
                <a:tab pos="1960245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specify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25" b="1">
                <a:latin typeface="Times New Roman"/>
                <a:cs typeface="Times New Roman"/>
              </a:rPr>
              <a:t>how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entities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8807" y="1916048"/>
            <a:ext cx="43580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240" algn="l"/>
                <a:tab pos="2187575" algn="l"/>
                <a:tab pos="2911475" algn="l"/>
                <a:tab pos="3938270" algn="l"/>
              </a:tabLst>
            </a:pPr>
            <a:r>
              <a:rPr dirty="0" sz="2400" spc="-50" b="1">
                <a:latin typeface="Times New Roman"/>
                <a:cs typeface="Times New Roman"/>
              </a:rPr>
              <a:t>a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relationship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25" b="1">
                <a:latin typeface="Times New Roman"/>
                <a:cs typeface="Times New Roman"/>
              </a:rPr>
              <a:t>and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define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25" b="1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819" y="2281808"/>
            <a:ext cx="6760209" cy="4050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nature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associations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between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entities.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2400" b="1">
                <a:latin typeface="Times New Roman"/>
                <a:cs typeface="Times New Roman"/>
              </a:rPr>
              <a:t>Two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types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relationship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constraints:</a:t>
            </a:r>
            <a:endParaRPr sz="2400">
              <a:latin typeface="Times New Roman"/>
              <a:cs typeface="Times New Roman"/>
            </a:endParaRPr>
          </a:p>
          <a:p>
            <a:pPr lvl="1" marL="547370" indent="-178435">
              <a:lnSpc>
                <a:spcPct val="100000"/>
              </a:lnSpc>
              <a:buFont typeface="Arial"/>
              <a:buChar char="•"/>
              <a:tabLst>
                <a:tab pos="547370" algn="l"/>
              </a:tabLst>
            </a:pPr>
            <a:r>
              <a:rPr dirty="0" sz="2400" b="1">
                <a:latin typeface="Times New Roman"/>
                <a:cs typeface="Times New Roman"/>
              </a:rPr>
              <a:t>Cardinality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  <a:p>
            <a:pPr lvl="2" marL="923925" marR="207010" indent="-287020">
              <a:lnSpc>
                <a:spcPct val="100000"/>
              </a:lnSpc>
              <a:buFont typeface="Wingdings"/>
              <a:buChar char=""/>
              <a:tabLst>
                <a:tab pos="923925" algn="l"/>
              </a:tabLst>
            </a:pPr>
            <a:r>
              <a:rPr dirty="0" sz="2400">
                <a:latin typeface="Times New Roman"/>
                <a:cs typeface="Times New Roman"/>
              </a:rPr>
              <a:t>Specify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maximum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number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entity </a:t>
            </a:r>
            <a:r>
              <a:rPr dirty="0" sz="2400">
                <a:latin typeface="Times New Roman"/>
                <a:cs typeface="Times New Roman"/>
              </a:rPr>
              <a:t>instances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participate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10">
                <a:latin typeface="Times New Roman"/>
                <a:cs typeface="Times New Roman"/>
              </a:rPr>
              <a:t>relationship.</a:t>
            </a:r>
            <a:endParaRPr sz="2400">
              <a:latin typeface="Times New Roman"/>
              <a:cs typeface="Times New Roman"/>
            </a:endParaRPr>
          </a:p>
          <a:p>
            <a:pPr lvl="2" marL="923925" indent="-286385">
              <a:lnSpc>
                <a:spcPct val="100000"/>
              </a:lnSpc>
              <a:buFont typeface="Wingdings"/>
              <a:buChar char=""/>
              <a:tabLst>
                <a:tab pos="923925" algn="l"/>
              </a:tabLst>
            </a:pPr>
            <a:r>
              <a:rPr dirty="0" sz="2400">
                <a:latin typeface="Times New Roman"/>
                <a:cs typeface="Times New Roman"/>
              </a:rPr>
              <a:t>Examples: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1:1,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1:N,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M:N</a:t>
            </a:r>
            <a:endParaRPr sz="2400">
              <a:latin typeface="Times New Roman"/>
              <a:cs typeface="Times New Roman"/>
            </a:endParaRPr>
          </a:p>
          <a:p>
            <a:pPr lvl="1" marL="635635" indent="-266700">
              <a:lnSpc>
                <a:spcPct val="100000"/>
              </a:lnSpc>
              <a:buFont typeface="Arial"/>
              <a:buChar char="•"/>
              <a:tabLst>
                <a:tab pos="635635" algn="l"/>
              </a:tabLst>
            </a:pPr>
            <a:r>
              <a:rPr dirty="0" sz="2400" b="1">
                <a:latin typeface="Times New Roman"/>
                <a:cs typeface="Times New Roman"/>
              </a:rPr>
              <a:t>Participation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  <a:p>
            <a:pPr lvl="2" marL="923925" marR="5080" indent="-28702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923925" algn="l"/>
              </a:tabLst>
            </a:pPr>
            <a:r>
              <a:rPr dirty="0" sz="2400">
                <a:latin typeface="Times New Roman"/>
                <a:cs typeface="Times New Roman"/>
              </a:rPr>
              <a:t>Specify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whether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participation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entity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in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relationship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mandatory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optional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lvl="2" marL="923925" marR="954405" indent="-287020">
              <a:lnSpc>
                <a:spcPct val="100000"/>
              </a:lnSpc>
              <a:buFont typeface="Wingdings"/>
              <a:buChar char=""/>
              <a:tabLst>
                <a:tab pos="923925" algn="l"/>
              </a:tabLst>
            </a:pPr>
            <a:r>
              <a:rPr dirty="0" sz="2400">
                <a:latin typeface="Times New Roman"/>
                <a:cs typeface="Times New Roman"/>
              </a:rPr>
              <a:t>Types: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Total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Participation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Partial Participation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4143" y="1527555"/>
            <a:ext cx="4731004" cy="413778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704" y="1432640"/>
            <a:ext cx="10689590" cy="4416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3060" marR="5715" indent="-340360">
              <a:lnSpc>
                <a:spcPct val="15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COMPANY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keeps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track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company’s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employees,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departments,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projects.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Suppose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5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after</a:t>
            </a:r>
            <a:r>
              <a:rPr dirty="0" sz="2400" spc="5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requirements</a:t>
            </a:r>
            <a:r>
              <a:rPr dirty="0" sz="2400" spc="5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collection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analysis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phase,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the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1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designers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</a:t>
            </a:r>
            <a:r>
              <a:rPr dirty="0" sz="2400" spc="1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following</a:t>
            </a:r>
            <a:r>
              <a:rPr dirty="0" sz="2400" spc="1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description</a:t>
            </a:r>
            <a:r>
              <a:rPr dirty="0" sz="2400" spc="1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miniworld—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part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of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company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will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represented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database.</a:t>
            </a:r>
            <a:endParaRPr sz="2400">
              <a:latin typeface="Times New Roman"/>
              <a:cs typeface="Times New Roman"/>
            </a:endParaRPr>
          </a:p>
          <a:p>
            <a:pPr algn="just" marL="353060" marR="5080" indent="-34036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company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organized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into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departments.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department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has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unique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name,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 spc="-5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unique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number,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particular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who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manages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department.</a:t>
            </a:r>
            <a:r>
              <a:rPr dirty="0" sz="2400" spc="1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keep </a:t>
            </a:r>
            <a:r>
              <a:rPr dirty="0" sz="2400" spc="-2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track</a:t>
            </a:r>
            <a:r>
              <a:rPr dirty="0" sz="2400" spc="5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5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start</a:t>
            </a:r>
            <a:r>
              <a:rPr dirty="0" sz="2400" spc="5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date</a:t>
            </a:r>
            <a:r>
              <a:rPr dirty="0" sz="2400" spc="5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when</a:t>
            </a:r>
            <a:r>
              <a:rPr dirty="0" sz="2400" spc="5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5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began</a:t>
            </a:r>
            <a:r>
              <a:rPr dirty="0" sz="2400" spc="5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managing</a:t>
            </a:r>
            <a:r>
              <a:rPr dirty="0" sz="2400" spc="5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department.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 spc="-5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department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may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have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several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locations.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13563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281" y="1348002"/>
            <a:ext cx="11562715" cy="455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6350" indent="-342900">
              <a:lnSpc>
                <a:spcPct val="1501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1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department</a:t>
            </a:r>
            <a:r>
              <a:rPr dirty="0" sz="2200" spc="1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controls</a:t>
            </a:r>
            <a:r>
              <a:rPr dirty="0" sz="2200" spc="1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number</a:t>
            </a:r>
            <a:r>
              <a:rPr dirty="0" sz="2200" spc="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1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projects,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which</a:t>
            </a:r>
            <a:r>
              <a:rPr dirty="0" sz="2200" spc="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has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1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unique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name,</a:t>
            </a:r>
            <a:r>
              <a:rPr dirty="0" sz="2200" spc="1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unique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number,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single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location.</a:t>
            </a:r>
            <a:endParaRPr sz="2200">
              <a:latin typeface="Times New Roman"/>
              <a:cs typeface="Times New Roman"/>
            </a:endParaRPr>
          </a:p>
          <a:p>
            <a:pPr algn="just" marL="355600" marR="5080" indent="-34290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We</a:t>
            </a:r>
            <a:r>
              <a:rPr dirty="0" sz="2200" spc="1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store</a:t>
            </a:r>
            <a:r>
              <a:rPr dirty="0" sz="2200" spc="1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1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employee’s</a:t>
            </a:r>
            <a:r>
              <a:rPr dirty="0" sz="2200" spc="1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name,</a:t>
            </a:r>
            <a:r>
              <a:rPr dirty="0" sz="2200" spc="1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Social</a:t>
            </a:r>
            <a:r>
              <a:rPr dirty="0" sz="2200" spc="1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Security</a:t>
            </a:r>
            <a:r>
              <a:rPr dirty="0" sz="2200" spc="1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number,</a:t>
            </a:r>
            <a:r>
              <a:rPr dirty="0" sz="2200" spc="1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address,</a:t>
            </a:r>
            <a:r>
              <a:rPr dirty="0" sz="2200" spc="1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salary,</a:t>
            </a:r>
            <a:r>
              <a:rPr dirty="0" sz="2200" spc="1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gender,</a:t>
            </a:r>
            <a:r>
              <a:rPr dirty="0" sz="2200" spc="1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1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birth</a:t>
            </a:r>
            <a:r>
              <a:rPr dirty="0" sz="2200" spc="1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date. </a:t>
            </a: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3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employee</a:t>
            </a:r>
            <a:r>
              <a:rPr dirty="0" sz="2200" spc="3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3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assigned</a:t>
            </a:r>
            <a:r>
              <a:rPr dirty="0" sz="2200" spc="3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3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one</a:t>
            </a:r>
            <a:r>
              <a:rPr dirty="0" sz="2200" spc="3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department,</a:t>
            </a:r>
            <a:r>
              <a:rPr dirty="0" sz="2200" spc="3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but</a:t>
            </a:r>
            <a:r>
              <a:rPr dirty="0" sz="2200" spc="3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may</a:t>
            </a:r>
            <a:r>
              <a:rPr dirty="0" sz="2200" spc="3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work</a:t>
            </a:r>
            <a:r>
              <a:rPr dirty="0" sz="2200" spc="3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</a:t>
            </a:r>
            <a:r>
              <a:rPr dirty="0" sz="2200" spc="3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several</a:t>
            </a:r>
            <a:r>
              <a:rPr dirty="0" sz="2200" spc="3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projects,</a:t>
            </a:r>
            <a:r>
              <a:rPr dirty="0" sz="2200" spc="3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which</a:t>
            </a:r>
            <a:r>
              <a:rPr dirty="0" sz="2200" spc="3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38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not</a:t>
            </a:r>
            <a:endParaRPr sz="2200">
              <a:latin typeface="Times New Roman"/>
              <a:cs typeface="Times New Roman"/>
            </a:endParaRPr>
          </a:p>
          <a:p>
            <a:pPr algn="just" marL="355600" marR="6985">
              <a:lnSpc>
                <a:spcPct val="150000"/>
              </a:lnSpc>
            </a:pPr>
            <a:r>
              <a:rPr dirty="0" sz="2200">
                <a:latin typeface="Times New Roman"/>
                <a:cs typeface="Times New Roman"/>
              </a:rPr>
              <a:t>necessarily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controlled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by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same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department.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keep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track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number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hours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per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week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that </a:t>
            </a: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employee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works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project.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also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keep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track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direct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supervisor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employee </a:t>
            </a:r>
            <a:r>
              <a:rPr dirty="0" sz="2200">
                <a:latin typeface="Times New Roman"/>
                <a:cs typeface="Times New Roman"/>
              </a:rPr>
              <a:t>(who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another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employee).</a:t>
            </a:r>
            <a:endParaRPr sz="2200">
              <a:latin typeface="Times New Roman"/>
              <a:cs typeface="Times New Roman"/>
            </a:endParaRPr>
          </a:p>
          <a:p>
            <a:pPr algn="just" marL="355600" marR="5080" indent="-342900">
              <a:lnSpc>
                <a:spcPct val="15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We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want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keep</a:t>
            </a:r>
            <a:r>
              <a:rPr dirty="0" sz="2200" spc="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track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dependents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employee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insurance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purposes.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keep</a:t>
            </a:r>
            <a:r>
              <a:rPr dirty="0" sz="2200" spc="11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each </a:t>
            </a:r>
            <a:r>
              <a:rPr dirty="0" sz="2200">
                <a:latin typeface="Times New Roman"/>
                <a:cs typeface="Times New Roman"/>
              </a:rPr>
              <a:t>dependent’s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first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name,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gender,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birth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date,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relationship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employee.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Identify</a:t>
            </a:r>
            <a:r>
              <a:rPr dirty="0" spc="-235"/>
              <a:t> </a:t>
            </a:r>
            <a:r>
              <a:rPr dirty="0" spc="-120"/>
              <a:t>the</a:t>
            </a:r>
            <a:r>
              <a:rPr dirty="0" spc="-254"/>
              <a:t> </a:t>
            </a:r>
            <a:r>
              <a:rPr dirty="0" spc="-125"/>
              <a:t>Entities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324" y="1635632"/>
            <a:ext cx="1920875" cy="222059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40"/>
              </a:spcBef>
              <a:buAutoNum type="arabicPeriod"/>
              <a:tabLst>
                <a:tab pos="469265" algn="l"/>
              </a:tabLst>
            </a:pPr>
            <a:r>
              <a:rPr dirty="0" sz="2400" spc="-10">
                <a:latin typeface="Times New Roman"/>
                <a:cs typeface="Times New Roman"/>
              </a:rPr>
              <a:t>Employee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 sz="2400" spc="-10">
                <a:latin typeface="Times New Roman"/>
                <a:cs typeface="Times New Roman"/>
              </a:rPr>
              <a:t>Department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 sz="2400" spc="-10">
                <a:latin typeface="Times New Roman"/>
                <a:cs typeface="Times New Roman"/>
              </a:rPr>
              <a:t>Project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 sz="2400" spc="-10">
                <a:latin typeface="Times New Roman"/>
                <a:cs typeface="Times New Roman"/>
              </a:rPr>
              <a:t>Dependent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13563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Contd..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924" y="1759190"/>
            <a:ext cx="10446004" cy="46018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Relationships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242" y="1592072"/>
            <a:ext cx="4483100" cy="331787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40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manages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Department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works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Department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Department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controls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project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supervises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Employee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works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projects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Dependents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13563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Contd..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2265" y="1699539"/>
            <a:ext cx="9690608" cy="444284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13436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Contd..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639925"/>
            <a:ext cx="10714355" cy="48304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Complete</a:t>
            </a:r>
            <a:r>
              <a:rPr dirty="0" spc="-225"/>
              <a:t> </a:t>
            </a:r>
            <a:r>
              <a:rPr dirty="0" spc="-100"/>
              <a:t>ER</a:t>
            </a:r>
            <a:r>
              <a:rPr dirty="0" spc="-275"/>
              <a:t> </a:t>
            </a:r>
            <a:r>
              <a:rPr dirty="0" spc="-11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447" y="1477735"/>
            <a:ext cx="11451502" cy="49793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Normalization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6387" y="1722500"/>
            <a:ext cx="10189845" cy="404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4121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After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converted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tables,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resulting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tables</a:t>
            </a:r>
            <a:r>
              <a:rPr dirty="0" sz="2400" spc="-25">
                <a:latin typeface="Times New Roman"/>
                <a:cs typeface="Times New Roman"/>
              </a:rPr>
              <a:t> may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contain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redundant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2400">
                <a:latin typeface="Times New Roman"/>
                <a:cs typeface="Times New Roman"/>
              </a:rPr>
              <a:t>Redundancy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lead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several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problems during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insertion,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updation,</a:t>
            </a:r>
            <a:r>
              <a:rPr dirty="0" sz="2400" spc="-25">
                <a:latin typeface="Times New Roman"/>
                <a:cs typeface="Times New Roman"/>
              </a:rPr>
              <a:t> and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2400" spc="-10">
                <a:latin typeface="Times New Roman"/>
                <a:cs typeface="Times New Roman"/>
              </a:rPr>
              <a:t>deletion.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2400" b="1">
                <a:latin typeface="Times New Roman"/>
                <a:cs typeface="Times New Roman"/>
              </a:rPr>
              <a:t>Normalization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process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organizing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into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well-structured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to:</a:t>
            </a:r>
            <a:endParaRPr sz="2400">
              <a:latin typeface="Times New Roman"/>
              <a:cs typeface="Times New Roman"/>
            </a:endParaRPr>
          </a:p>
          <a:p>
            <a:pPr lvl="1" marL="728345" indent="-267970">
              <a:lnSpc>
                <a:spcPct val="100000"/>
              </a:lnSpc>
              <a:buFont typeface="Wingdings"/>
              <a:buChar char="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Reduce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redundancy</a:t>
            </a:r>
            <a:endParaRPr sz="2400">
              <a:latin typeface="Times New Roman"/>
              <a:cs typeface="Times New Roman"/>
            </a:endParaRPr>
          </a:p>
          <a:p>
            <a:pPr lvl="1" marL="728345" indent="-26797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Improve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consistency</a:t>
            </a:r>
            <a:endParaRPr sz="2400">
              <a:latin typeface="Times New Roman"/>
              <a:cs typeface="Times New Roman"/>
            </a:endParaRPr>
          </a:p>
          <a:p>
            <a:pPr lvl="1" marL="728345" indent="-267970">
              <a:lnSpc>
                <a:spcPct val="100000"/>
              </a:lnSpc>
              <a:buFont typeface="Wingdings"/>
              <a:buChar char="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Eliminate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modification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anomalies</a:t>
            </a:r>
            <a:endParaRPr sz="2400">
              <a:latin typeface="Times New Roman"/>
              <a:cs typeface="Times New Roman"/>
            </a:endParaRPr>
          </a:p>
          <a:p>
            <a:pPr lvl="1" marL="728345" indent="-267970">
              <a:lnSpc>
                <a:spcPct val="100000"/>
              </a:lnSpc>
              <a:buFont typeface="Wingdings"/>
              <a:buChar char=""/>
              <a:tabLst>
                <a:tab pos="728345" algn="l"/>
              </a:tabLst>
            </a:pPr>
            <a:r>
              <a:rPr dirty="0" sz="2400">
                <a:latin typeface="Times New Roman"/>
                <a:cs typeface="Times New Roman"/>
              </a:rPr>
              <a:t>Improve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integrity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Why</a:t>
            </a:r>
            <a:r>
              <a:rPr dirty="0" spc="-265"/>
              <a:t> </a:t>
            </a:r>
            <a:r>
              <a:rPr dirty="0" spc="-90"/>
              <a:t>is</a:t>
            </a:r>
            <a:r>
              <a:rPr dirty="0" spc="-270"/>
              <a:t> </a:t>
            </a:r>
            <a:r>
              <a:rPr dirty="0" spc="-155"/>
              <a:t>Normalization</a:t>
            </a:r>
            <a:r>
              <a:rPr dirty="0" spc="-220"/>
              <a:t> </a:t>
            </a:r>
            <a:r>
              <a:rPr dirty="0" spc="-130"/>
              <a:t>Required?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3631" y="1579625"/>
            <a:ext cx="84124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Suppose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COMPANY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stored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single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relation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shown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843" y="1957973"/>
            <a:ext cx="75247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95"/>
              </a:lnSpc>
            </a:pPr>
            <a:r>
              <a:rPr dirty="0" sz="2200" spc="-10">
                <a:latin typeface="Times New Roman"/>
                <a:cs typeface="Times New Roman"/>
              </a:rPr>
              <a:t>below.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88784" y="2060066"/>
          <a:ext cx="10386060" cy="1978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6405"/>
                <a:gridCol w="2098674"/>
                <a:gridCol w="1334135"/>
                <a:gridCol w="1798955"/>
                <a:gridCol w="1709420"/>
                <a:gridCol w="1639570"/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EmpSSN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EmpName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DeptNo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DeptName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DeptLocation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MgrSSN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123456789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John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Smith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Research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Houston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333445555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453453453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Joyce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English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Research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Houston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333445555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666884444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Ramesh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Narayan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Administration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Stafford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987654321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987987987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Ahmad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Jabbar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Administration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Stafford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987654321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64007" y="4087240"/>
            <a:ext cx="11848465" cy="201485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department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information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repeated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 every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employee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belonging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same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department.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redundancy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increases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storage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requirements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may lead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to:</a:t>
            </a:r>
            <a:endParaRPr sz="2400">
              <a:latin typeface="Times New Roman"/>
              <a:cs typeface="Times New Roman"/>
            </a:endParaRPr>
          </a:p>
          <a:p>
            <a:pPr lvl="1" marL="744855" indent="-284480">
              <a:lnSpc>
                <a:spcPct val="100000"/>
              </a:lnSpc>
              <a:spcBef>
                <a:spcPts val="535"/>
              </a:spcBef>
              <a:buFont typeface="Wingdings"/>
              <a:buChar char=""/>
              <a:tabLst>
                <a:tab pos="744855" algn="l"/>
              </a:tabLst>
            </a:pPr>
            <a:r>
              <a:rPr dirty="0" sz="1800" b="1">
                <a:latin typeface="Times New Roman"/>
                <a:cs typeface="Times New Roman"/>
              </a:rPr>
              <a:t>Update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Anomalies</a:t>
            </a:r>
            <a:endParaRPr sz="1800">
              <a:latin typeface="Times New Roman"/>
              <a:cs typeface="Times New Roman"/>
            </a:endParaRPr>
          </a:p>
          <a:p>
            <a:pPr lvl="1" marL="744855" indent="-28448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744855" algn="l"/>
              </a:tabLst>
            </a:pPr>
            <a:r>
              <a:rPr dirty="0" sz="1800" b="1">
                <a:latin typeface="Times New Roman"/>
                <a:cs typeface="Times New Roman"/>
              </a:rPr>
              <a:t>Insertion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Anomalies</a:t>
            </a:r>
            <a:endParaRPr sz="1800">
              <a:latin typeface="Times New Roman"/>
              <a:cs typeface="Times New Roman"/>
            </a:endParaRPr>
          </a:p>
          <a:p>
            <a:pPr lvl="1" marL="744855" indent="-284480">
              <a:lnSpc>
                <a:spcPct val="100000"/>
              </a:lnSpc>
              <a:buFont typeface="Wingdings"/>
              <a:buChar char=""/>
              <a:tabLst>
                <a:tab pos="744855" algn="l"/>
              </a:tabLst>
            </a:pPr>
            <a:r>
              <a:rPr dirty="0" sz="1800" b="1">
                <a:latin typeface="Times New Roman"/>
                <a:cs typeface="Times New Roman"/>
              </a:rPr>
              <a:t>Deletion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Anomalies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26955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Normal</a:t>
            </a:r>
            <a:r>
              <a:rPr dirty="0" spc="-270"/>
              <a:t> </a:t>
            </a:r>
            <a:r>
              <a:rPr dirty="0" spc="-105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7080" y="1549094"/>
            <a:ext cx="974026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2400">
                <a:latin typeface="Times New Roman"/>
                <a:cs typeface="Times New Roman"/>
              </a:rPr>
              <a:t>Normalization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achieved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transforming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well-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structured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known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 </a:t>
            </a:r>
            <a:r>
              <a:rPr dirty="0" sz="2400" b="1">
                <a:latin typeface="Times New Roman"/>
                <a:cs typeface="Times New Roman"/>
              </a:rPr>
              <a:t>Normal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Forms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normal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form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addresses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specific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type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redundancy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dependency.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61898" y="3230879"/>
          <a:ext cx="10612755" cy="1821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7940"/>
                <a:gridCol w="6685915"/>
              </a:tblGrid>
              <a:tr h="455295">
                <a:tc>
                  <a:txBody>
                    <a:bodyPr/>
                    <a:lstStyle/>
                    <a:p>
                      <a:pPr marL="11677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Normal</a:t>
                      </a:r>
                      <a:r>
                        <a:rPr dirty="0" sz="20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20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Normal</a:t>
                      </a:r>
                      <a:r>
                        <a:rPr dirty="0" sz="20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dirty="0" sz="20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(1NF)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Eliminate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repeating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groups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ensure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atomic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attribute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values.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dirty="0" sz="20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Normal</a:t>
                      </a:r>
                      <a:r>
                        <a:rPr dirty="0" sz="20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dirty="0" sz="20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(2NF)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Eliminate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partial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functional</a:t>
                      </a:r>
                      <a:r>
                        <a:rPr dirty="0" sz="20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dependencies.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Third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Normal</a:t>
                      </a:r>
                      <a:r>
                        <a:rPr dirty="0" sz="20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dirty="0" sz="20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(3NF)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Eliminate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transitive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dependencies.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34778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First</a:t>
            </a:r>
            <a:r>
              <a:rPr dirty="0" spc="-229"/>
              <a:t> </a:t>
            </a:r>
            <a:r>
              <a:rPr dirty="0" spc="-145"/>
              <a:t>Normal</a:t>
            </a:r>
            <a:r>
              <a:rPr dirty="0" spc="-229"/>
              <a:t> </a:t>
            </a:r>
            <a:r>
              <a:rPr dirty="0" spc="-85"/>
              <a:t>Form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4007" y="1650237"/>
            <a:ext cx="7458075" cy="3317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First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Normal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Form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(1NF)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if:</a:t>
            </a:r>
            <a:endParaRPr sz="2400">
              <a:latin typeface="Times New Roman"/>
              <a:cs typeface="Times New Roman"/>
            </a:endParaRPr>
          </a:p>
          <a:p>
            <a:pPr marL="547370" indent="-266700">
              <a:lnSpc>
                <a:spcPct val="100000"/>
              </a:lnSpc>
              <a:buFont typeface="Arial"/>
              <a:buChar char="•"/>
              <a:tabLst>
                <a:tab pos="547370" algn="l"/>
              </a:tabLst>
            </a:pPr>
            <a:r>
              <a:rPr dirty="0" sz="2400">
                <a:latin typeface="Times New Roman"/>
                <a:cs typeface="Times New Roman"/>
              </a:rPr>
              <a:t>Every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attribute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contains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atomic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(indivisible)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values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547370" indent="-266700">
              <a:lnSpc>
                <a:spcPct val="100000"/>
              </a:lnSpc>
              <a:buFont typeface="Arial"/>
              <a:buChar char="•"/>
              <a:tabLst>
                <a:tab pos="547370" algn="l"/>
              </a:tabLst>
            </a:pPr>
            <a:r>
              <a:rPr dirty="0" sz="2400">
                <a:latin typeface="Times New Roman"/>
                <a:cs typeface="Times New Roman"/>
              </a:rPr>
              <a:t>There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repeating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groups or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multivalued</a:t>
            </a:r>
            <a:endParaRPr sz="2400">
              <a:latin typeface="Times New Roman"/>
              <a:cs typeface="Times New Roman"/>
            </a:endParaRPr>
          </a:p>
          <a:p>
            <a:pPr marL="54864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attributes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547370" indent="-266700">
              <a:lnSpc>
                <a:spcPct val="100000"/>
              </a:lnSpc>
              <a:buFont typeface="Arial"/>
              <a:buChar char="•"/>
              <a:tabLst>
                <a:tab pos="547370" algn="l"/>
              </a:tabLst>
            </a:pP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row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uniquely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identifiable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primary</a:t>
            </a:r>
            <a:r>
              <a:rPr dirty="0" sz="2400" spc="-20">
                <a:latin typeface="Times New Roman"/>
                <a:cs typeface="Times New Roman"/>
              </a:rPr>
              <a:t> key.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Converting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1NF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involves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ensuring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cell </a:t>
            </a:r>
            <a:r>
              <a:rPr dirty="0" sz="2400">
                <a:latin typeface="Times New Roman"/>
                <a:cs typeface="Times New Roman"/>
              </a:rPr>
              <a:t>contains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only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single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value.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8601" y="1431238"/>
            <a:ext cx="3159379" cy="510870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39154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Second</a:t>
            </a:r>
            <a:r>
              <a:rPr dirty="0" spc="-235"/>
              <a:t> </a:t>
            </a:r>
            <a:r>
              <a:rPr dirty="0" spc="-145"/>
              <a:t>Normal</a:t>
            </a:r>
            <a:r>
              <a:rPr dirty="0" spc="-225"/>
              <a:t> </a:t>
            </a:r>
            <a:r>
              <a:rPr dirty="0" spc="-90"/>
              <a:t>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8533" y="1711913"/>
            <a:ext cx="6352540" cy="4416425"/>
          </a:xfrm>
          <a:prstGeom prst="rect">
            <a:avLst/>
          </a:prstGeom>
        </p:spPr>
        <p:txBody>
          <a:bodyPr wrap="square" lIns="0" tIns="196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Second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Normal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Form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(2NF)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if:</a:t>
            </a:r>
            <a:endParaRPr sz="2400">
              <a:latin typeface="Times New Roman"/>
              <a:cs typeface="Times New Roman"/>
            </a:endParaRPr>
          </a:p>
          <a:p>
            <a:pPr marL="547370" indent="-266700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547370" algn="l"/>
              </a:tabLst>
            </a:pP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already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First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Normal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Form</a:t>
            </a:r>
            <a:r>
              <a:rPr dirty="0" sz="2400" spc="-10" b="1">
                <a:latin typeface="Times New Roman"/>
                <a:cs typeface="Times New Roman"/>
              </a:rPr>
              <a:t> (1NF)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546735" marR="1138555" indent="-266700">
              <a:lnSpc>
                <a:spcPct val="150000"/>
              </a:lnSpc>
              <a:buFont typeface="Arial"/>
              <a:buChar char="•"/>
              <a:tabLst>
                <a:tab pos="548640" algn="l"/>
              </a:tabLst>
            </a:pPr>
            <a:r>
              <a:rPr dirty="0" sz="2400">
                <a:latin typeface="Times New Roman"/>
                <a:cs typeface="Times New Roman"/>
              </a:rPr>
              <a:t>Every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non-</a:t>
            </a:r>
            <a:r>
              <a:rPr dirty="0" sz="2400" b="1">
                <a:latin typeface="Times New Roman"/>
                <a:cs typeface="Times New Roman"/>
              </a:rPr>
              <a:t>prime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attribute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fully </a:t>
            </a:r>
            <a:r>
              <a:rPr dirty="0" sz="2400" spc="-10" b="1">
                <a:latin typeface="Times New Roman"/>
                <a:cs typeface="Times New Roman"/>
              </a:rPr>
              <a:t>	</a:t>
            </a:r>
            <a:r>
              <a:rPr dirty="0" sz="2400" b="1">
                <a:latin typeface="Times New Roman"/>
                <a:cs typeface="Times New Roman"/>
              </a:rPr>
              <a:t>functionally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dependent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entire </a:t>
            </a:r>
            <a:r>
              <a:rPr dirty="0" sz="2400" spc="-10" b="1">
                <a:latin typeface="Times New Roman"/>
                <a:cs typeface="Times New Roman"/>
              </a:rPr>
              <a:t>	</a:t>
            </a:r>
            <a:r>
              <a:rPr dirty="0" sz="2400" b="1">
                <a:latin typeface="Times New Roman"/>
                <a:cs typeface="Times New Roman"/>
              </a:rPr>
              <a:t>candidate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key</a:t>
            </a:r>
            <a:r>
              <a:rPr dirty="0" sz="2400" spc="-2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 marR="5080" indent="534670">
              <a:lnSpc>
                <a:spcPct val="150000"/>
              </a:lnSpc>
              <a:buFont typeface="Arial"/>
              <a:buChar char="•"/>
              <a:tabLst>
                <a:tab pos="547370" algn="l"/>
              </a:tabLst>
            </a:pPr>
            <a:r>
              <a:rPr dirty="0" sz="2400">
                <a:latin typeface="Times New Roman"/>
                <a:cs typeface="Times New Roman"/>
              </a:rPr>
              <a:t>There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partial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functional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dependencies</a:t>
            </a:r>
            <a:r>
              <a:rPr dirty="0" sz="2400" spc="-10">
                <a:latin typeface="Times New Roman"/>
                <a:cs typeface="Times New Roman"/>
              </a:rPr>
              <a:t>. </a:t>
            </a:r>
            <a:r>
              <a:rPr dirty="0" sz="2400" b="1">
                <a:latin typeface="Times New Roman"/>
                <a:cs typeface="Times New Roman"/>
              </a:rPr>
              <a:t>2NF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relevant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only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when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candidate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key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is </a:t>
            </a:r>
            <a:r>
              <a:rPr dirty="0" sz="2400" b="1">
                <a:latin typeface="Times New Roman"/>
                <a:cs typeface="Times New Roman"/>
              </a:rPr>
              <a:t>composite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(consists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more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than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one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attribute).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3709" y="1929167"/>
            <a:ext cx="5486654" cy="38355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36798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Third</a:t>
            </a:r>
            <a:r>
              <a:rPr dirty="0" spc="-235"/>
              <a:t> </a:t>
            </a:r>
            <a:r>
              <a:rPr dirty="0" spc="-145"/>
              <a:t>Normal</a:t>
            </a:r>
            <a:r>
              <a:rPr dirty="0" spc="-229"/>
              <a:t> </a:t>
            </a:r>
            <a:r>
              <a:rPr dirty="0" spc="-95"/>
              <a:t>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559" y="1616308"/>
            <a:ext cx="6735445" cy="4963795"/>
          </a:xfrm>
          <a:prstGeom prst="rect">
            <a:avLst/>
          </a:prstGeom>
        </p:spPr>
        <p:txBody>
          <a:bodyPr wrap="square" lIns="0" tIns="1949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535"/>
              </a:spcBef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Third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Normal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Form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(3NF)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if:</a:t>
            </a:r>
            <a:endParaRPr sz="2400">
              <a:latin typeface="Times New Roman"/>
              <a:cs typeface="Times New Roman"/>
            </a:endParaRPr>
          </a:p>
          <a:p>
            <a:pPr algn="just" marL="353060" indent="-34036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3060" algn="l"/>
              </a:tabLst>
            </a:pP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already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Second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Normal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Form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(2NF)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algn="just" marL="353060" indent="-340360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353060" algn="l"/>
              </a:tabLst>
            </a:pPr>
            <a:r>
              <a:rPr dirty="0" sz="2400">
                <a:latin typeface="Times New Roman"/>
                <a:cs typeface="Times New Roman"/>
              </a:rPr>
              <a:t>There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transitive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functional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dependencies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algn="just" marL="353060" marR="6350" indent="-34036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Every</a:t>
            </a:r>
            <a:r>
              <a:rPr dirty="0" sz="2400" spc="100">
                <a:latin typeface="Times New Roman"/>
                <a:cs typeface="Times New Roman"/>
              </a:rPr>
              <a:t>  </a:t>
            </a:r>
            <a:r>
              <a:rPr dirty="0" sz="2400" spc="-25" b="1">
                <a:latin typeface="Times New Roman"/>
                <a:cs typeface="Times New Roman"/>
              </a:rPr>
              <a:t>non-</a:t>
            </a:r>
            <a:r>
              <a:rPr dirty="0" sz="2400" b="1">
                <a:latin typeface="Times New Roman"/>
                <a:cs typeface="Times New Roman"/>
              </a:rPr>
              <a:t>prime</a:t>
            </a:r>
            <a:r>
              <a:rPr dirty="0" sz="2400" spc="100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attribute</a:t>
            </a:r>
            <a:r>
              <a:rPr dirty="0" sz="2400" spc="100" b="1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depends</a:t>
            </a:r>
            <a:r>
              <a:rPr dirty="0" sz="2400" spc="105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only</a:t>
            </a:r>
            <a:r>
              <a:rPr dirty="0" sz="2400" spc="100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on</a:t>
            </a:r>
            <a:r>
              <a:rPr dirty="0" sz="2400" spc="100" b="1">
                <a:latin typeface="Times New Roman"/>
                <a:cs typeface="Times New Roman"/>
              </a:rPr>
              <a:t>  </a:t>
            </a:r>
            <a:r>
              <a:rPr dirty="0" sz="2400" spc="-50" b="1">
                <a:latin typeface="Times New Roman"/>
                <a:cs typeface="Times New Roman"/>
              </a:rPr>
              <a:t>a </a:t>
            </a:r>
            <a:r>
              <a:rPr dirty="0" sz="2400" spc="-50" b="1">
                <a:latin typeface="Times New Roman"/>
                <a:cs typeface="Times New Roman"/>
              </a:rPr>
              <a:t>	</a:t>
            </a:r>
            <a:r>
              <a:rPr dirty="0" sz="2400" b="1">
                <a:latin typeface="Times New Roman"/>
                <a:cs typeface="Times New Roman"/>
              </a:rPr>
              <a:t>candidate</a:t>
            </a:r>
            <a:r>
              <a:rPr dirty="0" sz="2400" spc="210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key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2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2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not</a:t>
            </a:r>
            <a:r>
              <a:rPr dirty="0" sz="2400" spc="2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2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another</a:t>
            </a:r>
            <a:r>
              <a:rPr dirty="0" sz="2400" spc="215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non-prime 	attribute.</a:t>
            </a:r>
            <a:endParaRPr sz="2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50000"/>
              </a:lnSpc>
            </a:pP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19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transitive</a:t>
            </a:r>
            <a:r>
              <a:rPr dirty="0" sz="2400" spc="20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dependency</a:t>
            </a:r>
            <a:r>
              <a:rPr dirty="0" sz="2400" spc="20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occurs</a:t>
            </a:r>
            <a:r>
              <a:rPr dirty="0" sz="2400" spc="20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when</a:t>
            </a:r>
            <a:r>
              <a:rPr dirty="0" sz="2400" spc="2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21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non-</a:t>
            </a:r>
            <a:r>
              <a:rPr dirty="0" sz="2400" spc="-10" b="1">
                <a:latin typeface="Times New Roman"/>
                <a:cs typeface="Times New Roman"/>
              </a:rPr>
              <a:t>prime </a:t>
            </a:r>
            <a:r>
              <a:rPr dirty="0" sz="2400" b="1">
                <a:latin typeface="Times New Roman"/>
                <a:cs typeface="Times New Roman"/>
              </a:rPr>
              <a:t>attribute</a:t>
            </a:r>
            <a:r>
              <a:rPr dirty="0" sz="2400" spc="3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depends</a:t>
            </a:r>
            <a:r>
              <a:rPr dirty="0" sz="2400" spc="3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on</a:t>
            </a:r>
            <a:r>
              <a:rPr dirty="0" sz="2400" spc="37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another</a:t>
            </a:r>
            <a:r>
              <a:rPr dirty="0" sz="2400" spc="36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non-</a:t>
            </a:r>
            <a:r>
              <a:rPr dirty="0" sz="2400" b="1">
                <a:latin typeface="Times New Roman"/>
                <a:cs typeface="Times New Roman"/>
              </a:rPr>
              <a:t>prime</a:t>
            </a:r>
            <a:r>
              <a:rPr dirty="0" sz="2400" spc="36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attribute </a:t>
            </a:r>
            <a:r>
              <a:rPr dirty="0" sz="2400" b="1">
                <a:latin typeface="Times New Roman"/>
                <a:cs typeface="Times New Roman"/>
              </a:rPr>
              <a:t>instead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depending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directly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on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candidate</a:t>
            </a:r>
            <a:r>
              <a:rPr dirty="0" sz="2400" spc="-20" b="1">
                <a:latin typeface="Times New Roman"/>
                <a:cs typeface="Times New Roman"/>
              </a:rPr>
              <a:t> key.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1092" y="1620265"/>
            <a:ext cx="4734801" cy="38362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88373" y="5649264"/>
            <a:ext cx="246697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150"/>
              <a:t>Thank</a:t>
            </a:r>
            <a:r>
              <a:rPr dirty="0" sz="4200" spc="-235"/>
              <a:t> </a:t>
            </a:r>
            <a:r>
              <a:rPr dirty="0" sz="4200" spc="-70"/>
              <a:t>You</a:t>
            </a:r>
            <a:endParaRPr sz="42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Rohit WILP</dc:creator>
  <dc:title>BITS Pilani presentation</dc:title>
  <dcterms:created xsi:type="dcterms:W3CDTF">2026-09-02T10:54:37Z</dcterms:created>
  <dcterms:modified xsi:type="dcterms:W3CDTF">2026-09-02T10:54:37Z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2026-07-26T00:00:00Z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2026-09-02T00:00:00Z</vt:filetime>
  </property>
  <property fmtid="{D5CDD505-2E9C-101B-9397-08002B2CF9AE}" pid="6" name="Producer">
    <vt:lpwstr>3-Heights(TM) PDF Security Shell 4.8.25.2 (http://www.pdf-tools.com)</vt:lpwstr>
  </property>
</Properties>
</file>